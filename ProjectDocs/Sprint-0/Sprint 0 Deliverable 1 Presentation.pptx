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</p:sldMasterIdLst>
  <p:notesMasterIdLst>
    <p:notesMasterId r:id="rId21"/>
  </p:notesMasterIdLst>
  <p:handoutMasterIdLst>
    <p:handoutMasterId r:id="rId22"/>
  </p:handoutMasterIdLst>
  <p:sldIdLst>
    <p:sldId id="290" r:id="rId5"/>
    <p:sldId id="289" r:id="rId6"/>
    <p:sldId id="276" r:id="rId7"/>
    <p:sldId id="283" r:id="rId8"/>
    <p:sldId id="288" r:id="rId9"/>
    <p:sldId id="293" r:id="rId10"/>
    <p:sldId id="294" r:id="rId11"/>
    <p:sldId id="295" r:id="rId12"/>
    <p:sldId id="257" r:id="rId13"/>
    <p:sldId id="264" r:id="rId14"/>
    <p:sldId id="292" r:id="rId15"/>
    <p:sldId id="263" r:id="rId16"/>
    <p:sldId id="268" r:id="rId17"/>
    <p:sldId id="266" r:id="rId18"/>
    <p:sldId id="267" r:id="rId19"/>
    <p:sldId id="262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B9C803-6964-9EFB-64CE-2B592F40A002}" v="478" dt="2026-02-18T04:26:31.774"/>
  </p1510:revLst>
</p1510:revInfo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8" autoAdjust="0"/>
    <p:restoredTop sz="94729" autoAdjust="0"/>
  </p:normalViewPr>
  <p:slideViewPr>
    <p:cSldViewPr snapToGrid="0">
      <p:cViewPr varScale="1">
        <p:scale>
          <a:sx n="115" d="100"/>
          <a:sy n="115" d="100"/>
        </p:scale>
        <p:origin x="808" y="20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16356-3B28-4AAF-8099-7941810E2475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DA344-5FA2-43F7-9D95-CA56C82B0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62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44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0452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852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347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047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7996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83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298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733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80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5DA344-5FA2-43F7-9D95-CA56C82B080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81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96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767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2097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53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767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02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131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14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44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593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AAEB19-4B49-2801-9B15-7682CDF04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23C3EC-28B3-4644-8BE5-3288734B4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57468" y="486137"/>
            <a:ext cx="5427584" cy="3599727"/>
          </a:xfrm>
        </p:spPr>
        <p:txBody>
          <a:bodyPr anchor="b" anchorCtr="0">
            <a:noAutofit/>
          </a:bodyPr>
          <a:lstStyle>
            <a:lvl1pPr algn="l">
              <a:defRPr sz="4400"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64FCBF4-90E6-FFAA-143D-3A01CE5256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24774" y="-6713"/>
            <a:ext cx="6578801" cy="6894576"/>
          </a:xfrm>
          <a:custGeom>
            <a:avLst/>
            <a:gdLst>
              <a:gd name="connsiteX0" fmla="*/ 0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0 w 6613525"/>
              <a:gd name="connsiteY4" fmla="*/ 0 h 6858000"/>
              <a:gd name="connsiteX0" fmla="*/ 1875099 w 6613525"/>
              <a:gd name="connsiteY0" fmla="*/ 0 h 6858000"/>
              <a:gd name="connsiteX1" fmla="*/ 6613525 w 6613525"/>
              <a:gd name="connsiteY1" fmla="*/ 0 h 6858000"/>
              <a:gd name="connsiteX2" fmla="*/ 6613525 w 6613525"/>
              <a:gd name="connsiteY2" fmla="*/ 6858000 h 6858000"/>
              <a:gd name="connsiteX3" fmla="*/ 0 w 6613525"/>
              <a:gd name="connsiteY3" fmla="*/ 6858000 h 6858000"/>
              <a:gd name="connsiteX4" fmla="*/ 1875099 w 6613525"/>
              <a:gd name="connsiteY4" fmla="*/ 0 h 6858000"/>
              <a:gd name="connsiteX0" fmla="*/ 1840375 w 6578801"/>
              <a:gd name="connsiteY0" fmla="*/ 0 h 6869575"/>
              <a:gd name="connsiteX1" fmla="*/ 6578801 w 6578801"/>
              <a:gd name="connsiteY1" fmla="*/ 0 h 6869575"/>
              <a:gd name="connsiteX2" fmla="*/ 6578801 w 6578801"/>
              <a:gd name="connsiteY2" fmla="*/ 6858000 h 6869575"/>
              <a:gd name="connsiteX3" fmla="*/ 0 w 6578801"/>
              <a:gd name="connsiteY3" fmla="*/ 6869575 h 6869575"/>
              <a:gd name="connsiteX4" fmla="*/ 1840375 w 6578801"/>
              <a:gd name="connsiteY4" fmla="*/ 0 h 6869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8801" h="6869575">
                <a:moveTo>
                  <a:pt x="1840375" y="0"/>
                </a:moveTo>
                <a:lnTo>
                  <a:pt x="6578801" y="0"/>
                </a:lnTo>
                <a:lnTo>
                  <a:pt x="6578801" y="6858000"/>
                </a:lnTo>
                <a:lnTo>
                  <a:pt x="0" y="6869575"/>
                </a:lnTo>
                <a:lnTo>
                  <a:pt x="1840375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5467025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E1BBEEFE-AE8A-8083-54B6-DBE9BC0E9F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42863" y="0"/>
            <a:ext cx="4658392" cy="6858000"/>
          </a:xfrm>
          <a:custGeom>
            <a:avLst/>
            <a:gdLst>
              <a:gd name="connsiteX0" fmla="*/ 0 w 4658392"/>
              <a:gd name="connsiteY0" fmla="*/ 0 h 6858000"/>
              <a:gd name="connsiteX1" fmla="*/ 4658392 w 4658392"/>
              <a:gd name="connsiteY1" fmla="*/ 0 h 6858000"/>
              <a:gd name="connsiteX2" fmla="*/ 2820797 w 4658392"/>
              <a:gd name="connsiteY2" fmla="*/ 6858000 h 6858000"/>
              <a:gd name="connsiteX3" fmla="*/ 0 w 4658392"/>
              <a:gd name="connsiteY3" fmla="*/ 6858000 h 6858000"/>
              <a:gd name="connsiteX4" fmla="*/ 0 w 465839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658392" h="6858000">
                <a:moveTo>
                  <a:pt x="0" y="0"/>
                </a:moveTo>
                <a:lnTo>
                  <a:pt x="4658392" y="0"/>
                </a:lnTo>
                <a:lnTo>
                  <a:pt x="282079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4FF31D-04D7-B1F4-53B1-AA4170602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9F040EF-92FF-AEA1-BBA6-A4B739E11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A59A84-C321-FDF9-555F-1FB322EBB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09286"/>
            <a:ext cx="3200400" cy="5617193"/>
          </a:xfrm>
        </p:spPr>
        <p:txBody>
          <a:bodyPr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23412" y="509286"/>
            <a:ext cx="4328932" cy="5617194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60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40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20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60CD5A6-A0E4-A658-65B1-0D6C0533166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548813" y="-22860"/>
            <a:ext cx="265176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171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6EC6AF9-CC07-5258-9160-8C6391530C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BC6DCCE-3025-75FB-9405-8D51DCD63D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516CCC3-736F-49AC-F079-9A090DAA8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BF578A-ADDB-6713-E5AD-0FF27EDC2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743671"/>
            <a:ext cx="9144000" cy="3361254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7620" y="4766434"/>
            <a:ext cx="12207240" cy="2121408"/>
          </a:xfrm>
        </p:spPr>
        <p:txBody>
          <a:bodyPr>
            <a:no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460601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3CF0EA4-D201-44E7-3558-D05CB4233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A643EA3-ACAA-539C-A041-266A895A2B1C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81E18B-2347-8DB6-2A7F-3EAC100A41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3354992"/>
          </a:xfrm>
        </p:spPr>
        <p:txBody>
          <a:bodyPr anchor="b">
            <a:noAutofit/>
          </a:bodyPr>
          <a:lstStyle>
            <a:lvl1pPr algn="l">
              <a:defRPr sz="440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5072" y="4027992"/>
            <a:ext cx="5028565" cy="1894972"/>
          </a:xfrm>
        </p:spPr>
        <p:txBody>
          <a:bodyPr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57326" y="-11576"/>
            <a:ext cx="4946249" cy="6903720"/>
          </a:xfrm>
          <a:custGeom>
            <a:avLst/>
            <a:gdLst>
              <a:gd name="connsiteX0" fmla="*/ 0 w 4977139"/>
              <a:gd name="connsiteY0" fmla="*/ 0 h 6858000"/>
              <a:gd name="connsiteX1" fmla="*/ 4977139 w 4977139"/>
              <a:gd name="connsiteY1" fmla="*/ 0 h 6858000"/>
              <a:gd name="connsiteX2" fmla="*/ 4977139 w 4977139"/>
              <a:gd name="connsiteY2" fmla="*/ 6858000 h 6858000"/>
              <a:gd name="connsiteX3" fmla="*/ 0 w 4977139"/>
              <a:gd name="connsiteY3" fmla="*/ 6858000 h 6858000"/>
              <a:gd name="connsiteX4" fmla="*/ 0 w 4977139"/>
              <a:gd name="connsiteY4" fmla="*/ 0 h 6858000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58000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  <a:gd name="connsiteX0" fmla="*/ 0 w 4977139"/>
              <a:gd name="connsiteY0" fmla="*/ 0 h 6892724"/>
              <a:gd name="connsiteX1" fmla="*/ 4977139 w 4977139"/>
              <a:gd name="connsiteY1" fmla="*/ 0 h 6892724"/>
              <a:gd name="connsiteX2" fmla="*/ 4977139 w 4977139"/>
              <a:gd name="connsiteY2" fmla="*/ 6892724 h 6892724"/>
              <a:gd name="connsiteX3" fmla="*/ 1863524 w 4977139"/>
              <a:gd name="connsiteY3" fmla="*/ 6892724 h 6892724"/>
              <a:gd name="connsiteX4" fmla="*/ 0 w 4977139"/>
              <a:gd name="connsiteY4" fmla="*/ 0 h 68927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139" h="6892724">
                <a:moveTo>
                  <a:pt x="0" y="0"/>
                </a:moveTo>
                <a:lnTo>
                  <a:pt x="4977139" y="0"/>
                </a:lnTo>
                <a:lnTo>
                  <a:pt x="4977139" y="6892724"/>
                </a:lnTo>
                <a:lnTo>
                  <a:pt x="1863524" y="6892724"/>
                </a:lnTo>
                <a:lnTo>
                  <a:pt x="0" y="0"/>
                </a:lnTo>
                <a:close/>
              </a:path>
            </a:pathLst>
          </a:custGeom>
        </p:spPr>
        <p:txBody>
          <a:bodyPr tIns="274320" rIns="274320"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18350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6CBD635-4863-B127-5668-D2C7DA8CDE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629720-DD91-8012-686D-AABA43987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0911820" y="0"/>
            <a:ext cx="913577" cy="68580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70117" y="185195"/>
            <a:ext cx="6930838" cy="150549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FB27827-7491-B1C2-D9C5-975A9FF66E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8788" y="-22860"/>
            <a:ext cx="3291840" cy="6903720"/>
          </a:xfrm>
        </p:spPr>
        <p:txBody>
          <a:bodyPr lIns="182880" tIns="274320" rIns="18288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7D4D4555-A25D-09B6-36AF-5977189F2DD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970116" y="2022395"/>
            <a:ext cx="6941703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500"/>
              </a:spcAft>
              <a:buFont typeface="Arial" panose="020B0604020202020204" pitchFamily="34" charset="0"/>
              <a:buChar char="•"/>
              <a:defRPr sz="1800"/>
            </a:lvl1pPr>
            <a:lvl2pPr>
              <a:spcBef>
                <a:spcPts val="1000"/>
              </a:spcBef>
              <a:spcAft>
                <a:spcPts val="1500"/>
              </a:spcAft>
              <a:defRPr sz="1800"/>
            </a:lvl2pPr>
            <a:lvl3pPr>
              <a:spcBef>
                <a:spcPts val="1000"/>
              </a:spcBef>
              <a:spcAft>
                <a:spcPts val="1500"/>
              </a:spcAft>
              <a:defRPr sz="1800"/>
            </a:lvl3pPr>
            <a:lvl4pPr>
              <a:spcBef>
                <a:spcPts val="1000"/>
              </a:spcBef>
              <a:spcAft>
                <a:spcPts val="1500"/>
              </a:spcAft>
              <a:defRPr sz="1800"/>
            </a:lvl4pPr>
            <a:lvl5pPr>
              <a:spcBef>
                <a:spcPts val="1000"/>
              </a:spcBef>
              <a:spcAft>
                <a:spcPts val="1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91133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>
            <a:extLst>
              <a:ext uri="{FF2B5EF4-FFF2-40B4-BE49-F238E27FC236}">
                <a16:creationId xmlns:a16="http://schemas.microsoft.com/office/drawing/2014/main" id="{C4293765-78A6-5206-26C2-E8817B283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470792" cy="6858000"/>
          </a:xfrm>
          <a:custGeom>
            <a:avLst/>
            <a:gdLst>
              <a:gd name="connsiteX0" fmla="*/ 0 w 7470792"/>
              <a:gd name="connsiteY0" fmla="*/ 0 h 6858000"/>
              <a:gd name="connsiteX1" fmla="*/ 7470792 w 7470792"/>
              <a:gd name="connsiteY1" fmla="*/ 0 h 6858000"/>
              <a:gd name="connsiteX2" fmla="*/ 5633197 w 7470792"/>
              <a:gd name="connsiteY2" fmla="*/ 6858000 h 6858000"/>
              <a:gd name="connsiteX3" fmla="*/ 0 w 747079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470792" h="6858000">
                <a:moveTo>
                  <a:pt x="0" y="0"/>
                </a:moveTo>
                <a:lnTo>
                  <a:pt x="7470792" y="0"/>
                </a:lnTo>
                <a:lnTo>
                  <a:pt x="563319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ln>
                <a:noFill/>
              </a:ln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B4E351F-7451-86A3-5271-0D00B9EFA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860223-A40E-30ED-6832-0825A930B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B6907E-F17B-783E-D454-DFC62D097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6B12211-7E94-9534-6F2D-2AFD2EBE36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6580245-E985-EC3F-9385-D0F517F0C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75A82A3-E3DF-978F-4BD7-10E0F1075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DC40AE-D1CB-7535-22E2-E6D910FB8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685800"/>
            <a:ext cx="9144000" cy="3136738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978800"/>
            <a:ext cx="9144000" cy="1965960"/>
          </a:xfrm>
        </p:spPr>
        <p:txBody>
          <a:bodyPr>
            <a:noAutofit/>
          </a:bodyPr>
          <a:lstStyle>
            <a:lvl1pPr marL="0" indent="0" algn="ctr">
              <a:buNone/>
              <a:defRPr sz="1800" b="1" cap="all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711713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E49FCE-658C-FF5A-6405-3D10F1AC1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03C516-D418-5E3E-1E4E-1DF846433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BF5B15-0E8A-A82C-6E9C-FCF3FBAA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4B33CA-9490-C8E1-FE4F-06367AF292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586824F-3198-FE44-5A4A-70312048D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058CD71-6E97-B6A9-11B6-867ED408D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E9FDAA6-BDE8-D6C3-17CD-F87BFB54F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2A0738D-E9A9-14B7-4739-62E402B0C2D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4961" y="2032663"/>
            <a:ext cx="4463005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A766D4CB-8BCE-C6EE-EF57-A8A819EBD36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141720" y="2032663"/>
            <a:ext cx="5212080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 marL="0">
              <a:spcBef>
                <a:spcPts val="1000"/>
              </a:spcBef>
              <a:spcAft>
                <a:spcPts val="500"/>
              </a:spcAft>
              <a:defRPr sz="1800"/>
            </a:lvl2pPr>
            <a:lvl3pPr marL="457200">
              <a:spcBef>
                <a:spcPts val="1000"/>
              </a:spcBef>
              <a:spcAft>
                <a:spcPts val="500"/>
              </a:spcAft>
              <a:defRPr sz="1800"/>
            </a:lvl3pPr>
            <a:lvl4pPr marL="685800">
              <a:spcBef>
                <a:spcPts val="1000"/>
              </a:spcBef>
              <a:spcAft>
                <a:spcPts val="500"/>
              </a:spcAft>
              <a:defRPr sz="1800"/>
            </a:lvl4pPr>
            <a:lvl5pPr marL="914400"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5481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00B3A65-BB60-F2B4-4CF4-19A7C53F18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F1DB8D5-B954-BFC9-C8D8-F0491CCBE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507D69F-27D7-2C68-A17D-3F1399C8B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2055813"/>
            <a:ext cx="5781261" cy="406749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66991" y="-22860"/>
            <a:ext cx="4625008" cy="6903720"/>
          </a:xfrm>
        </p:spPr>
        <p:txBody>
          <a:bodyPr tIns="27432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3283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C45A11E-9896-BD8B-8CC6-A79C124D8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86022B-53D6-6CE0-2093-873FC64A5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BD4BD8F-684C-A145-3376-9E69B0E5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7C1DA9-2A25-EE21-085B-8857DC1AD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F236BB3-E567-A8A9-5EC2-BCEF79CFC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4A87C9F-C765-C63C-951E-70721DDAC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4425665-0C9C-3899-9DB9-ED05D91E2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330405" cy="1325563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137059"/>
            <a:ext cx="2816352" cy="398624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09014" y="2137059"/>
            <a:ext cx="7059592" cy="398624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dirty="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173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9C8ABD-000F-7A94-A7B0-9589F4FEFD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C3A554-E5A9-B3CB-913D-45DBFBA79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3A8DF3-F55A-2494-C55D-8FB94BBC6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9DC86E-6F8A-B036-5CB2-AA8A79837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B9E0C03-C633-9356-4E28-678BAB7A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C8A4F7-6C4C-719B-298F-3B81223D1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E7E5D8B-D6BC-19AE-C0C9-249A55617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A6C5266-7ECA-B150-2C0F-8670F43AC82D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38200" y="1987669"/>
            <a:ext cx="6974711" cy="429767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800"/>
            </a:lvl2pPr>
            <a:lvl3pPr>
              <a:spcBef>
                <a:spcPts val="1000"/>
              </a:spcBef>
              <a:spcAft>
                <a:spcPts val="500"/>
              </a:spcAft>
              <a:defRPr sz="1800"/>
            </a:lvl3pPr>
            <a:lvl4pPr>
              <a:spcBef>
                <a:spcPts val="1000"/>
              </a:spcBef>
              <a:spcAft>
                <a:spcPts val="500"/>
              </a:spcAft>
              <a:defRPr sz="1800"/>
            </a:lvl4pPr>
            <a:lvl5pPr>
              <a:spcBef>
                <a:spcPts val="1000"/>
              </a:spcBef>
              <a:spcAft>
                <a:spcPts val="500"/>
              </a:spcAft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17085" y="1987670"/>
            <a:ext cx="343671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500"/>
              </a:spcAft>
              <a:buNone/>
              <a:defRPr sz="1800"/>
            </a:lvl1pPr>
            <a:lvl2pPr>
              <a:spcBef>
                <a:spcPts val="1000"/>
              </a:spcBef>
              <a:spcAft>
                <a:spcPts val="500"/>
              </a:spcAft>
              <a:defRPr sz="1600"/>
            </a:lvl2pPr>
            <a:lvl3pPr>
              <a:spcBef>
                <a:spcPts val="1000"/>
              </a:spcBef>
              <a:spcAft>
                <a:spcPts val="500"/>
              </a:spcAft>
              <a:defRPr sz="1400"/>
            </a:lvl3pPr>
            <a:lvl4pPr>
              <a:spcBef>
                <a:spcPts val="1000"/>
              </a:spcBef>
              <a:spcAft>
                <a:spcPts val="500"/>
              </a:spcAft>
              <a:defRPr sz="1200"/>
            </a:lvl4pPr>
            <a:lvl5pPr>
              <a:spcBef>
                <a:spcPts val="1000"/>
              </a:spcBef>
              <a:spcAft>
                <a:spcPts val="500"/>
              </a:spcAft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737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7588714-FE55-FCEF-78C2-2A4D11ECD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3119718" cy="68580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AF6BF02-4CD8-261B-BE58-05677EB947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11575"/>
            <a:ext cx="903768" cy="65436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AF1F17-7A1F-BCA2-15C0-417928B4E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42863" y="5802775"/>
            <a:ext cx="6286501" cy="1066801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0ADE0B-D150-E72B-EE9A-E5EFDBC6F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59925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BBCDD5A-A3C4-DF4F-74AD-CAF0F465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59400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9430AE4-C878-DFAB-EDA5-36B97176D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11575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1487B2-0348-2FFC-03FB-6508B6FD3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6812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2125262"/>
            <a:ext cx="10515600" cy="3675944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785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3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43C0D-8C0B-0B3C-7014-7B7217C00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7B715CF-E60F-DDAE-369E-BCC2CE4FF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D8F5F-4228-6BB9-5EA6-553590898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721F95-97C0-7151-B9F6-C088CEA1A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3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978AD50A-9C6A-454B-0CAD-EAB51844014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810" y="0"/>
            <a:ext cx="7816995" cy="6858000"/>
          </a:xfrm>
          <a:custGeom>
            <a:avLst/>
            <a:gdLst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0 w 7813675"/>
              <a:gd name="connsiteY3" fmla="*/ 6903720 h 6903720"/>
              <a:gd name="connsiteX4" fmla="*/ 0 w 7813675"/>
              <a:gd name="connsiteY4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98854 w 7813675"/>
              <a:gd name="connsiteY3" fmla="*/ 686716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803"/>
              <a:gd name="connsiteX1" fmla="*/ 7813675 w 7813675"/>
              <a:gd name="connsiteY1" fmla="*/ 0 h 6907803"/>
              <a:gd name="connsiteX2" fmla="*/ 7813675 w 7813675"/>
              <a:gd name="connsiteY2" fmla="*/ 6903720 h 6907803"/>
              <a:gd name="connsiteX3" fmla="*/ 809014 w 7813675"/>
              <a:gd name="connsiteY3" fmla="*/ 6907803 h 6907803"/>
              <a:gd name="connsiteX4" fmla="*/ 0 w 7813675"/>
              <a:gd name="connsiteY4" fmla="*/ 6903720 h 6907803"/>
              <a:gd name="connsiteX5" fmla="*/ 0 w 7813675"/>
              <a:gd name="connsiteY5" fmla="*/ 0 h 6907803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8748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80901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3720"/>
              <a:gd name="connsiteX1" fmla="*/ 7813675 w 7813675"/>
              <a:gd name="connsiteY1" fmla="*/ 0 h 6903720"/>
              <a:gd name="connsiteX2" fmla="*/ 7813675 w 7813675"/>
              <a:gd name="connsiteY2" fmla="*/ 6903720 h 6903720"/>
              <a:gd name="connsiteX3" fmla="*/ 740434 w 7813675"/>
              <a:gd name="connsiteY3" fmla="*/ 6898913 h 6903720"/>
              <a:gd name="connsiteX4" fmla="*/ 0 w 7813675"/>
              <a:gd name="connsiteY4" fmla="*/ 6903720 h 6903720"/>
              <a:gd name="connsiteX5" fmla="*/ 0 w 7813675"/>
              <a:gd name="connsiteY5" fmla="*/ 0 h 6903720"/>
              <a:gd name="connsiteX0" fmla="*/ 0 w 7813675"/>
              <a:gd name="connsiteY0" fmla="*/ 0 h 6907385"/>
              <a:gd name="connsiteX1" fmla="*/ 7813675 w 7813675"/>
              <a:gd name="connsiteY1" fmla="*/ 0 h 6907385"/>
              <a:gd name="connsiteX2" fmla="*/ 7813675 w 7813675"/>
              <a:gd name="connsiteY2" fmla="*/ 6903720 h 6907385"/>
              <a:gd name="connsiteX3" fmla="*/ 6359380 w 7813675"/>
              <a:gd name="connsiteY3" fmla="*/ 6907385 h 6907385"/>
              <a:gd name="connsiteX4" fmla="*/ 740434 w 7813675"/>
              <a:gd name="connsiteY4" fmla="*/ 6898913 h 6907385"/>
              <a:gd name="connsiteX5" fmla="*/ 0 w 7813675"/>
              <a:gd name="connsiteY5" fmla="*/ 6903720 h 6907385"/>
              <a:gd name="connsiteX6" fmla="*/ 0 w 7813675"/>
              <a:gd name="connsiteY6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3320 w 7816995"/>
              <a:gd name="connsiteY5" fmla="*/ 690372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7816995 w 7816995"/>
              <a:gd name="connsiteY2" fmla="*/ 690372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  <a:gd name="connsiteX0" fmla="*/ 3320 w 7816995"/>
              <a:gd name="connsiteY0" fmla="*/ 0 h 6907385"/>
              <a:gd name="connsiteX1" fmla="*/ 7816995 w 7816995"/>
              <a:gd name="connsiteY1" fmla="*/ 0 h 6907385"/>
              <a:gd name="connsiteX2" fmla="*/ 2899555 w 7816995"/>
              <a:gd name="connsiteY2" fmla="*/ 4648200 h 6907385"/>
              <a:gd name="connsiteX3" fmla="*/ 6362700 w 7816995"/>
              <a:gd name="connsiteY3" fmla="*/ 6907385 h 6907385"/>
              <a:gd name="connsiteX4" fmla="*/ 743754 w 7816995"/>
              <a:gd name="connsiteY4" fmla="*/ 6898913 h 6907385"/>
              <a:gd name="connsiteX5" fmla="*/ 2876060 w 7816995"/>
              <a:gd name="connsiteY5" fmla="*/ 4644390 h 6907385"/>
              <a:gd name="connsiteX6" fmla="*/ 0 w 7816995"/>
              <a:gd name="connsiteY6" fmla="*/ 2510645 h 6907385"/>
              <a:gd name="connsiteX7" fmla="*/ 3320 w 7816995"/>
              <a:gd name="connsiteY7" fmla="*/ 0 h 6907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816995" h="6907385">
                <a:moveTo>
                  <a:pt x="3320" y="0"/>
                </a:moveTo>
                <a:lnTo>
                  <a:pt x="7816995" y="0"/>
                </a:lnTo>
                <a:lnTo>
                  <a:pt x="2899555" y="4648200"/>
                </a:lnTo>
                <a:lnTo>
                  <a:pt x="6362700" y="6907385"/>
                </a:lnTo>
                <a:lnTo>
                  <a:pt x="743754" y="6898913"/>
                </a:lnTo>
                <a:lnTo>
                  <a:pt x="2876060" y="4644390"/>
                </a:lnTo>
                <a:cubicBezTo>
                  <a:pt x="1610033" y="3689302"/>
                  <a:pt x="1117437" y="3324763"/>
                  <a:pt x="0" y="2510645"/>
                </a:cubicBezTo>
                <a:cubicBezTo>
                  <a:pt x="1107" y="1673763"/>
                  <a:pt x="2213" y="836882"/>
                  <a:pt x="3320" y="0"/>
                </a:cubicBezTo>
                <a:close/>
              </a:path>
            </a:pathLst>
          </a:custGeom>
          <a:solidFill>
            <a:schemeClr val="tx2"/>
          </a:solidFill>
          <a:ln w="22225">
            <a:noFill/>
          </a:ln>
        </p:spPr>
        <p:txBody>
          <a:bodyPr lIns="274320" tIns="274320"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0992" y="731562"/>
            <a:ext cx="4902843" cy="3526778"/>
          </a:xfrm>
          <a:noFill/>
        </p:spPr>
        <p:txBody>
          <a:bodyPr anchor="b">
            <a:no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80992" y="4373217"/>
            <a:ext cx="4902843" cy="1753221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>
              <a:spcBef>
                <a:spcPts val="1000"/>
              </a:spcBef>
              <a:defRPr sz="1600">
                <a:solidFill>
                  <a:schemeClr val="tx1"/>
                </a:solidFill>
              </a:defRPr>
            </a:lvl2pPr>
            <a:lvl3pPr>
              <a:spcBef>
                <a:spcPts val="10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000"/>
              </a:spcBef>
              <a:defRPr sz="1200">
                <a:solidFill>
                  <a:schemeClr val="tx1"/>
                </a:solidFill>
              </a:defRPr>
            </a:lvl4pPr>
            <a:lvl5pPr>
              <a:spcBef>
                <a:spcPts val="100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137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D6D8061D-18C3-4F4F-85EF-561633F58754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391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  <p:sldLayoutId id="2147483687" r:id="rId19"/>
    <p:sldLayoutId id="2147483688" r:id="rId20"/>
    <p:sldLayoutId id="2147483689" r:id="rId21"/>
    <p:sldLayoutId id="2147483690" r:id="rId22"/>
    <p:sldLayoutId id="2147483691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336">
          <p15:clr>
            <a:srgbClr val="F26B43"/>
          </p15:clr>
        </p15:guide>
        <p15:guide id="4" orient="horz" pos="3984">
          <p15:clr>
            <a:srgbClr val="F26B43"/>
          </p15:clr>
        </p15:guide>
        <p15:guide id="5" pos="336">
          <p15:clr>
            <a:srgbClr val="F26B43"/>
          </p15:clr>
        </p15:guide>
        <p15:guide id="6" pos="7344">
          <p15:clr>
            <a:srgbClr val="F26B43"/>
          </p15:clr>
        </p15:guide>
        <p15:guide id="7" pos="720">
          <p15:clr>
            <a:srgbClr val="F26B43"/>
          </p15:clr>
        </p15:guide>
        <p15:guide id="8" pos="69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123C9-0DDA-C0A7-7FAF-49492CB760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0543" y="1897625"/>
            <a:ext cx="9144000" cy="1651819"/>
          </a:xfrm>
        </p:spPr>
        <p:txBody>
          <a:bodyPr>
            <a:normAutofit fontScale="90000"/>
          </a:bodyPr>
          <a:lstStyle/>
          <a:p>
            <a:r>
              <a:rPr lang="en-US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Evaluation Lab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935E58-26E3-83A3-0F39-1C99154A9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08207"/>
            <a:ext cx="9144000" cy="1314052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</a:t>
            </a:r>
          </a:p>
        </p:txBody>
      </p:sp>
    </p:spTree>
    <p:extLst>
      <p:ext uri="{BB962C8B-B14F-4D97-AF65-F5344CB8AC3E}">
        <p14:creationId xmlns:p14="http://schemas.microsoft.com/office/powerpoint/2010/main" val="3340602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FEC93CF-2672-7D78-F278-58C5E012E0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Aptos Display"/>
                <a:ea typeface="Calibri"/>
                <a:cs typeface="Calibri"/>
              </a:rPr>
              <a:t> </a:t>
            </a:r>
            <a:r>
              <a:rPr lang="en-US" sz="4000" b="1" i="0" dirty="0">
                <a:solidFill>
                  <a:schemeClr val="tx1"/>
                </a:solidFill>
                <a:latin typeface="Aptos Display"/>
                <a:ea typeface="Calibri"/>
                <a:cs typeface="Calibri"/>
              </a:rPr>
              <a:t>  </a:t>
            </a:r>
            <a:r>
              <a:rPr lang="en-US" sz="4000" b="1" i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AGENDA</a:t>
            </a:r>
            <a:br>
              <a:rPr lang="en-US" dirty="0">
                <a:latin typeface="Aptos Display"/>
                <a:ea typeface="Calibri"/>
                <a:cs typeface="Calibri"/>
              </a:rPr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7E29F-3F0C-7038-2CB3-A5BA312A11EA}"/>
              </a:ext>
            </a:extLst>
          </p:cNvPr>
          <p:cNvSpPr txBox="1"/>
          <p:nvPr/>
        </p:nvSpPr>
        <p:spPr>
          <a:xfrm>
            <a:off x="1016000" y="1115121"/>
            <a:ext cx="5265852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Project Introduction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Project Description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Personas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Technologies &amp; Algorithms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Team Roles &amp; Working Agreement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Sprint Plan &amp; Schedule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Retrospective</a:t>
            </a:r>
          </a:p>
          <a:p>
            <a:pPr algn="l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994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43671"/>
            <a:ext cx="9137805" cy="325645"/>
          </a:xfrm>
          <a:noFill/>
        </p:spPr>
        <p:txBody>
          <a:bodyPr anchor="b"/>
          <a:lstStyle/>
          <a:p>
            <a:r>
              <a:rPr lang="en-US" sz="40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Problem Statement</a:t>
            </a:r>
            <a:endParaRPr lang="en-US" sz="40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08C97E-5EA3-17E3-DD41-D72EDD4ED195}"/>
              </a:ext>
            </a:extLst>
          </p:cNvPr>
          <p:cNvSpPr txBox="1"/>
          <p:nvPr/>
        </p:nvSpPr>
        <p:spPr>
          <a:xfrm>
            <a:off x="743618" y="1206353"/>
            <a:ext cx="6641155" cy="56323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agents such as large language models (LLMs), Retrieval-Augmented Generation (RAG) systems, and conversational assistants are increasingly being deployed in real-world applications like customer support, healthcare, education, and enterprise decision-making.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these AI systems often face serious challenges, including: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Unsafe or harmful responses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to jailbreak and prompt injection attacks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Hallucinated or incorrect outputs in RAG-based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consistent reliability and behavioral evaluation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most AI evaluation processes are manual, inconsistent, and difficult to scale, making it hard for developers and organizations to ensure AI safety and robustness before deployment.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there is a need for an automated, systematic, and extensible framework that can evaluate and red-team AI agents across safety, reliability, and behavioral scenarios, while providing clear scoring and actionable reporting.</a:t>
            </a:r>
          </a:p>
          <a:p>
            <a:pPr algn="l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2954DED-2380-E6EE-7F19-9BF98B469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773" y="1643316"/>
            <a:ext cx="4807227" cy="4270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088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5072" y="528320"/>
            <a:ext cx="5028566" cy="542407"/>
          </a:xfrm>
          <a:noFill/>
        </p:spPr>
        <p:txBody>
          <a:bodyPr>
            <a:noAutofit/>
          </a:bodyPr>
          <a:lstStyle/>
          <a:p>
            <a:r>
              <a:rPr lang="en-US" sz="32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Project Description</a:t>
            </a:r>
            <a:endParaRPr lang="en-US" sz="3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446868-83F0-CEEF-5E60-6D55C93B5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9355" y="1366684"/>
            <a:ext cx="9708566" cy="5179305"/>
          </a:xfrm>
          <a:noFill/>
        </p:spPr>
        <p:txBody>
          <a:bodyPr anchor="t"/>
          <a:lstStyle/>
          <a:p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Agent Evaluation Lab is a production-grade framework that: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Automatically tests AI agents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Detects safety violations and jailbreak attacks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Evaluates reliability and hallucinations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Generates PASS/FAIL reports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Supports: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OpenAI models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RAG systems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Custom AI services</a:t>
            </a:r>
            <a:endParaRPr lang="en-US" sz="21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100" b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This is an enterprise-ready evaluation platform</a:t>
            </a:r>
            <a:r>
              <a:rPr lang="en-US" sz="2100" b="0" dirty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210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endParaRPr lang="en-US" sz="2100" dirty="0"/>
          </a:p>
        </p:txBody>
      </p:sp>
    </p:spTree>
    <p:extLst>
      <p:ext uri="{BB962C8B-B14F-4D97-AF65-F5344CB8AC3E}">
        <p14:creationId xmlns:p14="http://schemas.microsoft.com/office/powerpoint/2010/main" val="4242039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865" y="1847431"/>
            <a:ext cx="7066935" cy="3688130"/>
          </a:xfrm>
          <a:noFill/>
        </p:spPr>
        <p:txBody>
          <a:bodyPr anchor="ctr"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Sreenitha Rayapuraju – System Architecture &amp; Evaluation Engine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 Teja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Kusireddy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Backend Development &amp; OpenAI/RAG Adapter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Koushika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Chappidi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Scenario Creation &amp; Automated Testing (YAML +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Veera Sai Akshitha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Punyamanthula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Reporting System &amp; Dashboard Visualization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Harshitha Reddy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Mannemala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DevOps, CI/CD Pipeline &amp; Documentation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602FC8-8F61-3EA8-A8BF-F8E45B0A141E}"/>
              </a:ext>
            </a:extLst>
          </p:cNvPr>
          <p:cNvSpPr txBox="1"/>
          <p:nvPr/>
        </p:nvSpPr>
        <p:spPr>
          <a:xfrm>
            <a:off x="5117170" y="346926"/>
            <a:ext cx="4881756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Team Member Roles &amp; Responsibilities</a:t>
            </a:r>
          </a:p>
        </p:txBody>
      </p:sp>
    </p:spTree>
    <p:extLst>
      <p:ext uri="{BB962C8B-B14F-4D97-AF65-F5344CB8AC3E}">
        <p14:creationId xmlns:p14="http://schemas.microsoft.com/office/powerpoint/2010/main" val="1038351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4328C-8BBC-D840-59A9-7F0B39829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607141"/>
          </a:xfrm>
        </p:spPr>
        <p:txBody>
          <a:bodyPr>
            <a:normAutofit fontScale="90000"/>
          </a:bodyPr>
          <a:lstStyle/>
          <a:p>
            <a:r>
              <a:rPr lang="en-US" sz="4000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44FBB-53E6-6E04-D6C1-163744750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56852"/>
            <a:ext cx="9906000" cy="467712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1: AI Application Developer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Alex Johnson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Machine Learning Engineer / AI Developer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 Builds AI-powered chatbots and assistants using OpenAI APIs.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the AI agent behaves correctly before deployment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safety and reliability automatically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jailbreak or prompt injection vulnerabilities early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Points: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testing is slow and inconsistent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track failures across multiple scenarios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structured evaluation results for debugging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Agent Evaluation Lab Helps: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automated scenario-based testing with clear PASS/FAIL scoring and detailed reports.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3804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73AE8-D490-544A-8006-50704BE2C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727587"/>
            <a:ext cx="9906000" cy="530639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2: Enterprise AI Safety &amp; Compliance Engineer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Kate Sharma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AI Safety Specialist / Compliance Officer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 Responsible for ensuring AI systems meet enterprise safety and ethical standards.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 unsafe or harmful AI outputs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compliance with organizational policies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audit-ready safety evaluation reports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Points: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validate AI safety across many use cases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standardized red-teaming tools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clear documentation of risks and failures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Agent Evaluation Lab Helps: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red-team safety scenarios and produces professional reports in Markdown/HTML/JSON.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923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2EC1D-0CFF-8341-A5F5-7BDA72762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884903"/>
            <a:ext cx="9906000" cy="51490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 3: RAG System Engineer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: Anthony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Software Engineer (RAG &amp; Search Systems)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 Develops Retrieval-Augmented Generation (RAG) applications for enterprise knowledge assistants.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responses stay grounded in retrieved documents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hallucinations and missing-context failures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reliability of enterprise AI assistants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Pain Points: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systems often hallucinate when context is incomplete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evaluate retrieval + generation quality together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Needs automated reliability checks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Agent Evaluation Lab Helps: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RAG-specific scenarios such as missing-context tests and hallucination detection.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527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0117" y="185195"/>
            <a:ext cx="6938236" cy="780484"/>
          </a:xfrm>
          <a:noFill/>
        </p:spPr>
        <p:txBody>
          <a:bodyPr/>
          <a:lstStyle/>
          <a:p>
            <a:r>
              <a:rPr lang="en-US" sz="4000" b="1" i="0" dirty="0">
                <a:solidFill>
                  <a:schemeClr val="tx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Technologies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DC902-0E37-8E5D-CB87-EB1AE8EA002D}"/>
              </a:ext>
            </a:extLst>
          </p:cNvPr>
          <p:cNvSpPr txBox="1"/>
          <p:nvPr/>
        </p:nvSpPr>
        <p:spPr>
          <a:xfrm>
            <a:off x="6484094" y="1274564"/>
            <a:ext cx="4271535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Ruff for linting</a:t>
            </a:r>
          </a:p>
          <a:p>
            <a:pPr marL="285750" indent="-285750">
              <a:buFont typeface="Arial,Sans-Serif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Markdown / HTML /JSON reporting</a:t>
            </a:r>
          </a:p>
          <a:p>
            <a:pPr marL="285750" indent="-285750">
              <a:buFont typeface="Arial"/>
              <a:buChar char="•"/>
            </a:pPr>
            <a:endParaRPr lang="en-US" sz="3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endParaRPr lang="en-US" sz="3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Optional Future Tools: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Docker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FastAPI</a:t>
            </a: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for RAG demo</a:t>
            </a:r>
          </a:p>
          <a:p>
            <a:pPr algn="l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6EDBB4B-8CCF-E532-F9F7-A2F2DB94C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4783" y="1450895"/>
            <a:ext cx="5460036" cy="424829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Technologies Used</a:t>
            </a:r>
            <a:endParaRPr lang="en-US" sz="3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Python 3.11</a:t>
            </a:r>
          </a:p>
          <a:p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OpenAI API</a:t>
            </a:r>
          </a:p>
          <a:p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YAML Scenario Files</a:t>
            </a:r>
          </a:p>
          <a:p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GitHub Actions (CI/CD)</a:t>
            </a:r>
          </a:p>
          <a:p>
            <a:r>
              <a:rPr lang="en-US" sz="3200" dirty="0" err="1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PyTest</a:t>
            </a: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for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95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718934"/>
          </a:xfrm>
          <a:noFill/>
        </p:spPr>
        <p:txBody>
          <a:bodyPr/>
          <a:lstStyle/>
          <a:p>
            <a:r>
              <a:rPr lang="en-US" sz="40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Algorithms</a:t>
            </a:r>
            <a:endParaRPr lang="en-US" sz="4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49072" y="1496441"/>
            <a:ext cx="5394339" cy="4828158"/>
          </a:xfr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Algorithms / Methods Used</a:t>
            </a:r>
            <a:endParaRPr lang="en-US" sz="32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Rule-based evaluation predicates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Prompt-injection detection scenarios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Reliability scoring metrics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Hallucination detection checks</a:t>
            </a:r>
          </a:p>
          <a:p>
            <a:endParaRPr lang="en-US" sz="32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solidFill>
            <a:schemeClr val="bg1"/>
          </a:solidFill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Future additions: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ML-based evaluation scoring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Reinforcement Learning evaluation</a:t>
            </a:r>
          </a:p>
          <a:p>
            <a:pPr marL="285750" indent="-28575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Statistical confidence scoring</a:t>
            </a:r>
          </a:p>
          <a:p>
            <a:pPr marL="285750" indent="-285750">
              <a:buFont typeface="Arial"/>
            </a:pPr>
            <a:endParaRPr lang="en-US" sz="3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37402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6EF5-F7B9-412F-AC83-7B6D2E23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89272"/>
            <a:ext cx="9906000" cy="823451"/>
          </a:xfrm>
        </p:spPr>
        <p:txBody>
          <a:bodyPr>
            <a:normAutofit/>
          </a:bodyPr>
          <a:lstStyle/>
          <a:p>
            <a:r>
              <a:rPr lang="en-US" sz="30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System Architecture </a:t>
            </a:r>
            <a:endParaRPr lang="en-US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67AD5-3EF8-6B8D-3CE2-D08F9D83C1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012723"/>
            <a:ext cx="8836742" cy="5021255"/>
          </a:xfrm>
        </p:spPr>
        <p:txBody>
          <a:bodyPr>
            <a:normAutofit fontScale="55000" lnSpcReduction="20000"/>
          </a:bodyPr>
          <a:lstStyle/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 Evaluation Lab uses a modular pipeline to test AI agents using structured scenarios and automated scoring.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Inputs: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 command starts an evaluation run</a:t>
            </a:r>
          </a:p>
          <a:p>
            <a:pPr lvl="1"/>
            <a:r>
              <a:rPr lang="en-US" sz="2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config.yaml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selects provider/model + runtime settings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YAML scenario files define prompts, tags, retries, and PASS/FAIL criteria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Execution: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Loader reads YAML scenarios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Runner executes scenarios (supports retries + concurrency)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Evaluator applies predicate-based checks → PASS / FAIL_MINOR / FAIL_CRITICAL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Failure reasons are logged for unsafe or incorrect behavior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Adapters (Agent Connectivity):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OpenAI Adapter → evaluates OpenAI models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 Agent Adapter → evaluates deployed agents (RAG/custom APIs)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Outputs: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Markdown report (human-readable summary)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 report (visual/interactive)</a:t>
            </a:r>
          </a:p>
          <a:p>
            <a:pPr lvl="1"/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report (CI/CD automation + metrics)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0095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6645965" cy="690563"/>
          </a:xfrm>
          <a:noFill/>
        </p:spPr>
        <p:txBody>
          <a:bodyPr/>
          <a:lstStyle/>
          <a:p>
            <a:r>
              <a:rPr lang="en-US" sz="30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Sprint 0 Completed Tasks</a:t>
            </a:r>
            <a:endParaRPr lang="en-US" sz="3000" b="1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5312" y="1392591"/>
            <a:ext cx="11185815" cy="4067492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During Sprint 0, our team completed: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Finalized project idea and scope 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Created GitHub repository and enabled Wiki 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Defined project architecture and workflow 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Selected tools and programming stack 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Prepared Sprint 0 documentation pages 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Drafted team working agreement 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Planned Sprint 1 development tasks </a:t>
            </a:r>
          </a:p>
          <a:p>
            <a:pPr marL="342900" indent="-342900">
              <a:buChar char="•"/>
            </a:pPr>
            <a:r>
              <a:rPr lang="en-US" sz="2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Sprint 0 establishes the foundation for implementation</a:t>
            </a:r>
            <a:r>
              <a:rPr lang="en-US" sz="22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30405" cy="817564"/>
          </a:xfrm>
          <a:noFill/>
        </p:spPr>
        <p:txBody>
          <a:bodyPr>
            <a:noAutofit/>
          </a:bodyPr>
          <a:lstStyle/>
          <a:p>
            <a:r>
              <a:rPr lang="en-US" sz="30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Team Working Agreement</a:t>
            </a:r>
            <a:r>
              <a:rPr lang="en-US" sz="3000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endParaRPr lang="en-US" sz="3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84559"/>
            <a:ext cx="10633907" cy="3986246"/>
          </a:xfrm>
          <a:solidFill>
            <a:schemeClr val="bg1"/>
          </a:solidFill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Our team agreed on: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Weekly meetings every Thursday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Communication via WhatsApp and GitHub Issues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Tasks must be committed at least 24 hours before deadlines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Equal contribution from all members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No last-minute work dumping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Each member is responsible for completing assigned tasks independently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97195"/>
            <a:ext cx="9906000" cy="464934"/>
          </a:xfrm>
          <a:noFill/>
        </p:spPr>
        <p:txBody>
          <a:bodyPr/>
          <a:lstStyle/>
          <a:p>
            <a:r>
              <a:rPr lang="en-US" sz="40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Sprint 1 Plan</a:t>
            </a:r>
            <a:endParaRPr lang="en-US" sz="4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985684" y="1494281"/>
            <a:ext cx="10714155" cy="4558735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In Sprint 1, we will focus on implementation.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Build the core scenario execution engine.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Add initial safety and jailbreak evaluation scenarios.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Run evaluations on sample AI agents. 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Generate the first automated reports. 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Begin Sprint burndown tracking with completed tasks. 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Prepare for Sprint 1 review presentation. 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777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591934"/>
          </a:xfrm>
          <a:noFill/>
        </p:spPr>
        <p:txBody>
          <a:bodyPr/>
          <a:lstStyle/>
          <a:p>
            <a:r>
              <a:rPr lang="en-US" sz="30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Expected Deliverables</a:t>
            </a:r>
            <a:endParaRPr lang="en-US" sz="3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299078-93D6-76B0-2456-A1C72FC0FC7B}"/>
              </a:ext>
            </a:extLst>
          </p:cNvPr>
          <p:cNvSpPr txBox="1"/>
          <p:nvPr/>
        </p:nvSpPr>
        <p:spPr>
          <a:xfrm>
            <a:off x="1213555" y="1397000"/>
            <a:ext cx="9779000" cy="35394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By the end of the project, we aim to deliver: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Fully working AI evaluation framework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Scenario library for safety and reliability testing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Report generation system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CI/CD workflow for continuous evaluation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Complete GitHub documentation and wiki </a:t>
            </a:r>
            <a:endParaRPr lang="en-US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457200" indent="-457200">
              <a:buFont typeface="Arial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Final presentation and demonstration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3FA49195-69EB-4E39-A68A-C232E2D03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23">
            <a:extLst>
              <a:ext uri="{FF2B5EF4-FFF2-40B4-BE49-F238E27FC236}">
                <a16:creationId xmlns:a16="http://schemas.microsoft.com/office/drawing/2014/main" id="{9A92F9DC-743D-47E7-A019-EE09540F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73789" y="6628"/>
            <a:ext cx="4518211" cy="6857998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5882" h="6857998">
                <a:moveTo>
                  <a:pt x="2702091" y="0"/>
                </a:moveTo>
                <a:lnTo>
                  <a:pt x="6125882" y="0"/>
                </a:lnTo>
                <a:lnTo>
                  <a:pt x="6125882" y="6857998"/>
                </a:lnTo>
                <a:lnTo>
                  <a:pt x="0" y="6846045"/>
                </a:lnTo>
                <a:lnTo>
                  <a:pt x="270209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94383" y="2172011"/>
            <a:ext cx="7009948" cy="20120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b="1" i="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THANK YOU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13280B82-CD55-43FD-92C4-F05E2A8D1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5898776" cy="135068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0A4F542-D561-4AFB-8321-EB900BAF0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1613647" cy="642738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4D9248B-0006-4BFE-8110-40C16E45C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3173896"/>
            <a:ext cx="3094383" cy="36841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E593BB5-7AFA-4C8F-AECA-CE733B1FD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038522" y="0"/>
            <a:ext cx="2153476" cy="44461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521483B-CE28-412B-9C71-9BE081E9D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277412" y="-1"/>
            <a:ext cx="3914588" cy="209774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C9F4738-DD27-44BE-98C6-AB0B2296B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46383" y="5811078"/>
            <a:ext cx="4678017" cy="104692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4C10EA2-1BD8-4267-AA7D-AB8CCA53C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898777" y="5307496"/>
            <a:ext cx="6293223" cy="15505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0802199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4D4B218-C04B-41F5-949D-06E9DAE96B0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283731-47E9-4F14-86D1-57C1EA2672A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81846AD4-435D-4592-8088-FE2831A30D1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AngleLinesVTI</Template>
  <TotalTime>517</TotalTime>
  <Words>1008</Words>
  <Application>Microsoft Macintosh PowerPoint</Application>
  <PresentationFormat>Widescreen</PresentationFormat>
  <Paragraphs>162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Display</vt:lpstr>
      <vt:lpstr>Arial</vt:lpstr>
      <vt:lpstr>Arial,Sans-Serif</vt:lpstr>
      <vt:lpstr>Calibri</vt:lpstr>
      <vt:lpstr>Times New Roman</vt:lpstr>
      <vt:lpstr>Univers Condensed Light</vt:lpstr>
      <vt:lpstr>Walbaum Display Light</vt:lpstr>
      <vt:lpstr>AngleLinesVTI</vt:lpstr>
      <vt:lpstr>Agent Evaluation Lab</vt:lpstr>
      <vt:lpstr>   AGENDA     </vt:lpstr>
      <vt:lpstr>Problem Statement</vt:lpstr>
      <vt:lpstr>Project Description</vt:lpstr>
      <vt:lpstr>AGENDA</vt:lpstr>
      <vt:lpstr>Personas</vt:lpstr>
      <vt:lpstr>PowerPoint Presentation</vt:lpstr>
      <vt:lpstr>PowerPoint Presentation</vt:lpstr>
      <vt:lpstr>Technologies</vt:lpstr>
      <vt:lpstr>Algorithms</vt:lpstr>
      <vt:lpstr>System Architecture </vt:lpstr>
      <vt:lpstr>Sprint 0 Completed Tasks</vt:lpstr>
      <vt:lpstr>Team Working Agreement </vt:lpstr>
      <vt:lpstr>Sprint 1 Plan</vt:lpstr>
      <vt:lpstr>Expected Deliverables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koushika ch</cp:lastModifiedBy>
  <cp:revision>255</cp:revision>
  <dcterms:created xsi:type="dcterms:W3CDTF">2026-02-18T03:33:30Z</dcterms:created>
  <dcterms:modified xsi:type="dcterms:W3CDTF">2026-05-06T15:24:59Z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