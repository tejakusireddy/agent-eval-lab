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League Spartan" charset="1" panose="00000800000000000000"/>
      <p:regular r:id="rId47"/>
    </p:embeddedFont>
    <p:embeddedFont>
      <p:font typeface="IBM Plex Mono" charset="1" panose="020B0509050203000203"/>
      <p:regular r:id="rId48"/>
    </p:embeddedFont>
    <p:embeddedFont>
      <p:font typeface="Roboto Mono" charset="1" panose="00000000000000000000"/>
      <p:regular r:id="rId49"/>
    </p:embeddedFont>
    <p:embeddedFont>
      <p:font typeface="Montserrat Bold" charset="1" panose="00000800000000000000"/>
      <p:regular r:id="rId50"/>
    </p:embeddedFont>
    <p:embeddedFont>
      <p:font typeface="Roboto Mono Bold" charset="1" panose="00000000000000000000"/>
      <p:regular r:id="rId51"/>
    </p:embeddedFont>
    <p:embeddedFont>
      <p:font typeface="Canva Sans Bold" charset="1" panose="020B0803030501040103"/>
      <p:regular r:id="rId52"/>
    </p:embeddedFont>
    <p:embeddedFont>
      <p:font typeface="IBM Plex Mono Bold" charset="1" panose="020B0809050203000203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drive.google.com/file/d/1D5hkEcYOP5mH3fA4hltOLhUpprOavDvI/view?usp=sharing" TargetMode="External" Type="http://schemas.openxmlformats.org/officeDocument/2006/relationships/hyperlink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096" y="1447800"/>
            <a:ext cx="8016806" cy="500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14"/>
              </a:lnSpc>
            </a:pPr>
            <a:r>
              <a:rPr lang="en-US" sz="143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</a:t>
            </a:r>
          </a:p>
          <a:p>
            <a:pPr algn="l">
              <a:lnSpc>
                <a:spcPts val="12814"/>
              </a:lnSpc>
            </a:pPr>
            <a:r>
              <a:rPr lang="en-US" sz="143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</a:t>
            </a:r>
          </a:p>
          <a:p>
            <a:pPr algn="l">
              <a:lnSpc>
                <a:spcPts val="12814"/>
              </a:lnSpc>
            </a:pPr>
            <a:r>
              <a:rPr lang="en-US" sz="143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4345" y="7283225"/>
            <a:ext cx="8549655" cy="54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3300">
                <a:solidFill>
                  <a:srgbClr val="6D715B"/>
                </a:solidFill>
                <a:latin typeface="IBM Plex Mono"/>
                <a:ea typeface="IBM Plex Mono"/>
                <a:cs typeface="IBM Plex Mono"/>
                <a:sym typeface="IBM Plex Mono"/>
              </a:rPr>
              <a:t>Systematic Evaluation of AI Agents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0913" y="1984220"/>
            <a:ext cx="17419054" cy="584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Review completed platform capabilities: release gates, threat-model coverage, adversarial scenario generation, </a:t>
            </a: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drift monitoring, and batch evaluation workflows</a:t>
            </a:r>
          </a:p>
          <a:p>
            <a:pPr algn="just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Check integration progress across the evaluator service, dashboard, sandbox testing flow, and bring-your-agent support</a:t>
            </a:r>
          </a:p>
          <a:p>
            <a:pPr algn="just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Review testing and validation status, including regression coverage, contract testing, report generation, and audit artifacts</a:t>
            </a:r>
          </a:p>
          <a:p>
            <a:pPr algn="just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Align on deployment readiness, CI/CD, APIs, database updates, and end-to-end execution flow</a:t>
            </a:r>
          </a:p>
          <a:p>
            <a:pPr algn="just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Finalize UI/UX updates, documentation, demo plan, speaker roles, and remaining blockers with task ownership and deadlines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0913" y="1015925"/>
            <a:ext cx="3347217" cy="6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6"/>
              </a:lnSpc>
            </a:pPr>
            <a:r>
              <a:rPr lang="en-US" b="true" sz="5596" spc="-32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927" y="2857786"/>
            <a:ext cx="3178464" cy="4183862"/>
          </a:xfrm>
          <a:custGeom>
            <a:avLst/>
            <a:gdLst/>
            <a:ahLst/>
            <a:cxnLst/>
            <a:rect r="r" b="b" t="t" l="l"/>
            <a:pathLst>
              <a:path h="4183862" w="3178464">
                <a:moveTo>
                  <a:pt x="0" y="0"/>
                </a:moveTo>
                <a:lnTo>
                  <a:pt x="3178464" y="0"/>
                </a:lnTo>
                <a:lnTo>
                  <a:pt x="3178464" y="4183862"/>
                </a:lnTo>
                <a:lnTo>
                  <a:pt x="0" y="4183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9" t="0" r="-215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4570" y="2857786"/>
            <a:ext cx="3308971" cy="4183862"/>
          </a:xfrm>
          <a:custGeom>
            <a:avLst/>
            <a:gdLst/>
            <a:ahLst/>
            <a:cxnLst/>
            <a:rect r="r" b="b" t="t" l="l"/>
            <a:pathLst>
              <a:path h="4183862" w="3308971">
                <a:moveTo>
                  <a:pt x="0" y="0"/>
                </a:moveTo>
                <a:lnTo>
                  <a:pt x="3308971" y="0"/>
                </a:lnTo>
                <a:lnTo>
                  <a:pt x="3308971" y="4183862"/>
                </a:lnTo>
                <a:lnTo>
                  <a:pt x="0" y="418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99" t="0" r="-349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08341" y="2857786"/>
            <a:ext cx="3015662" cy="4183862"/>
          </a:xfrm>
          <a:custGeom>
            <a:avLst/>
            <a:gdLst/>
            <a:ahLst/>
            <a:cxnLst/>
            <a:rect r="r" b="b" t="t" l="l"/>
            <a:pathLst>
              <a:path h="4183862" w="3015662">
                <a:moveTo>
                  <a:pt x="0" y="0"/>
                </a:moveTo>
                <a:lnTo>
                  <a:pt x="3015661" y="0"/>
                </a:lnTo>
                <a:lnTo>
                  <a:pt x="3015661" y="4183862"/>
                </a:lnTo>
                <a:lnTo>
                  <a:pt x="0" y="418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81" t="-638" r="0" b="-6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28802" y="2857786"/>
            <a:ext cx="3300155" cy="4199715"/>
          </a:xfrm>
          <a:custGeom>
            <a:avLst/>
            <a:gdLst/>
            <a:ahLst/>
            <a:cxnLst/>
            <a:rect r="r" b="b" t="t" l="l"/>
            <a:pathLst>
              <a:path h="4199715" w="3300155">
                <a:moveTo>
                  <a:pt x="0" y="0"/>
                </a:moveTo>
                <a:lnTo>
                  <a:pt x="3300155" y="0"/>
                </a:lnTo>
                <a:lnTo>
                  <a:pt x="3300155" y="4199715"/>
                </a:lnTo>
                <a:lnTo>
                  <a:pt x="0" y="4199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67" t="0" r="-8660" b="-28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33757" y="2857786"/>
            <a:ext cx="2965735" cy="4199715"/>
          </a:xfrm>
          <a:custGeom>
            <a:avLst/>
            <a:gdLst/>
            <a:ahLst/>
            <a:cxnLst/>
            <a:rect r="r" b="b" t="t" l="l"/>
            <a:pathLst>
              <a:path h="4199715" w="2965735">
                <a:moveTo>
                  <a:pt x="0" y="0"/>
                </a:moveTo>
                <a:lnTo>
                  <a:pt x="2965735" y="0"/>
                </a:lnTo>
                <a:lnTo>
                  <a:pt x="2965735" y="4199715"/>
                </a:lnTo>
                <a:lnTo>
                  <a:pt x="0" y="4199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54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5145" y="1202138"/>
            <a:ext cx="14226392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ROLES</a:t>
            </a:r>
          </a:p>
          <a:p>
            <a:pPr algn="just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4927" y="7258435"/>
            <a:ext cx="3178464" cy="170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b="true" sz="1951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KOUSHIKA CHAPPIDI  </a:t>
            </a:r>
            <a:r>
              <a:rPr lang="en-US" sz="1951" spc="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SCENARIO CREATION &amp; AUTOMATED TESTING (YAML + PYTEST</a:t>
            </a:r>
            <a:r>
              <a:rPr lang="en-US" b="true" sz="1951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)</a:t>
            </a:r>
          </a:p>
          <a:p>
            <a:pPr algn="ctr">
              <a:lnSpc>
                <a:spcPts val="273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94570" y="7258400"/>
            <a:ext cx="3308971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SREENITHA RAYAPURAJU</a:t>
            </a:r>
          </a:p>
          <a:p>
            <a:pPr algn="l">
              <a:lnSpc>
                <a:spcPts val="2729"/>
              </a:lnSpc>
            </a:pPr>
            <a:r>
              <a:rPr lang="en-US" sz="1950" spc="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SYSTEM ARCHITECTURE &amp; EVALUATION ENGINE DESIGN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708341" y="7258435"/>
            <a:ext cx="3015662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HARSHITHA REDDY MANNEMALA</a:t>
            </a:r>
          </a:p>
          <a:p>
            <a:pPr algn="l">
              <a:lnSpc>
                <a:spcPts val="2729"/>
              </a:lnSpc>
            </a:pPr>
            <a:r>
              <a:rPr lang="en-US" sz="1950" spc="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DEVOPS, CI/CD PIPELINE &amp; DOCUMENTATION</a:t>
            </a:r>
          </a:p>
          <a:p>
            <a:pPr algn="l">
              <a:lnSpc>
                <a:spcPts val="2729"/>
              </a:lnSpc>
            </a:pPr>
          </a:p>
          <a:p>
            <a:pPr algn="ctr">
              <a:lnSpc>
                <a:spcPts val="272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019987" y="7258400"/>
            <a:ext cx="3308971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SAI TEJA KUSIREDDY</a:t>
            </a:r>
            <a:r>
              <a:rPr lang="en-US" sz="1950" spc="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BACKEND DEVELOPMENT &amp; OPENAI/RAG ADAPTER INTEGRATION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462139" y="7212330"/>
            <a:ext cx="3000577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b="true" sz="1950" spc="3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VEERA SAI AKSHITHA PUNYAMANTHULA</a:t>
            </a:r>
            <a:r>
              <a:rPr lang="en-US" sz="1950" spc="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REPORTING SYSTEM &amp; DASHBOARD VISUALIZATION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588" t="-9512" r="-57387" b="-2649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9803" y="1927533"/>
            <a:ext cx="1822999" cy="18229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4631" y="688648"/>
            <a:ext cx="1261661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IMPROVEMENTS AFTER FEEDBACK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266" y="2955770"/>
            <a:ext cx="18288000" cy="63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Standardized acceptance criteria using Scenario, Given, When Then, And format</a:t>
            </a:r>
          </a:p>
          <a:p>
            <a:pPr algn="l">
              <a:lnSpc>
                <a:spcPts val="4241"/>
              </a:lnSpc>
            </a:pP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Fixed inconsistent acceptance criteria across user stories</a:t>
            </a:r>
          </a:p>
          <a:p>
            <a:pPr algn="l">
              <a:lnSpc>
                <a:spcPts val="4241"/>
              </a:lnSpc>
            </a:pP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Ensured all backlog items follow the same clear template</a:t>
            </a:r>
          </a:p>
          <a:p>
            <a:pPr algn="l">
              <a:lnSpc>
                <a:spcPts val="4241"/>
              </a:lnSpc>
            </a:pP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Separated user stories from acceptance criteria for clarity</a:t>
            </a:r>
          </a:p>
          <a:p>
            <a:pPr algn="l">
              <a:lnSpc>
                <a:spcPts val="4241"/>
              </a:lnSpc>
            </a:pP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Made acceptance criteria more clear, testable, and easy to evaluate</a:t>
            </a:r>
          </a:p>
          <a:p>
            <a:pPr algn="l">
              <a:lnSpc>
                <a:spcPts val="4241"/>
              </a:lnSpc>
            </a:pPr>
          </a:p>
          <a:p>
            <a:pPr algn="l">
              <a:lnSpc>
                <a:spcPts val="4241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14013" y="7723491"/>
            <a:ext cx="2728557" cy="2387487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12104" y="4815963"/>
            <a:ext cx="6774600" cy="1950860"/>
            <a:chOff x="0" y="0"/>
            <a:chExt cx="1784257" cy="5138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4257" cy="513807"/>
            </a:xfrm>
            <a:custGeom>
              <a:avLst/>
              <a:gdLst/>
              <a:ahLst/>
              <a:cxnLst/>
              <a:rect r="r" b="b" t="t" l="l"/>
              <a:pathLst>
                <a:path h="513807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55525"/>
                  </a:lnTo>
                  <a:cubicBezTo>
                    <a:pt x="1784257" y="470982"/>
                    <a:pt x="1778116" y="485806"/>
                    <a:pt x="1767186" y="496736"/>
                  </a:cubicBezTo>
                  <a:cubicBezTo>
                    <a:pt x="1756256" y="507666"/>
                    <a:pt x="1741432" y="513807"/>
                    <a:pt x="1725974" y="513807"/>
                  </a:cubicBezTo>
                  <a:lnTo>
                    <a:pt x="58282" y="513807"/>
                  </a:lnTo>
                  <a:cubicBezTo>
                    <a:pt x="42825" y="513807"/>
                    <a:pt x="28000" y="507666"/>
                    <a:pt x="17070" y="496736"/>
                  </a:cubicBezTo>
                  <a:cubicBezTo>
                    <a:pt x="6140" y="485806"/>
                    <a:pt x="0" y="470982"/>
                    <a:pt x="0" y="455525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784257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SCENARIO-BASED TESTING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STRUCTURED TEST CASES FOR AGENT EVALUATION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9589" y="1190625"/>
            <a:ext cx="13510509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589" y="2168775"/>
            <a:ext cx="17188237" cy="264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Agent Evaluation Lab is a framework for systematically testing AI agents for safety, reliability, and performance before release. It enables automated scenario-based evaluation, red-teaming, scoring, and reporting for modern AI systems.</a:t>
            </a:r>
          </a:p>
          <a:p>
            <a:pPr algn="just">
              <a:lnSpc>
                <a:spcPts val="4241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595045" y="4815963"/>
            <a:ext cx="6569545" cy="1950860"/>
            <a:chOff x="0" y="0"/>
            <a:chExt cx="1730251" cy="5138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0251" cy="513807"/>
            </a:xfrm>
            <a:custGeom>
              <a:avLst/>
              <a:gdLst/>
              <a:ahLst/>
              <a:cxnLst/>
              <a:rect r="r" b="b" t="t" l="l"/>
              <a:pathLst>
                <a:path h="513807" w="1730251">
                  <a:moveTo>
                    <a:pt x="60101" y="0"/>
                  </a:moveTo>
                  <a:lnTo>
                    <a:pt x="1670149" y="0"/>
                  </a:lnTo>
                  <a:cubicBezTo>
                    <a:pt x="1686089" y="0"/>
                    <a:pt x="1701376" y="6332"/>
                    <a:pt x="1712647" y="17603"/>
                  </a:cubicBezTo>
                  <a:cubicBezTo>
                    <a:pt x="1723918" y="28874"/>
                    <a:pt x="1730251" y="44161"/>
                    <a:pt x="1730251" y="60101"/>
                  </a:cubicBezTo>
                  <a:lnTo>
                    <a:pt x="1730251" y="453706"/>
                  </a:lnTo>
                  <a:cubicBezTo>
                    <a:pt x="1730251" y="469645"/>
                    <a:pt x="1723918" y="484932"/>
                    <a:pt x="1712647" y="496204"/>
                  </a:cubicBezTo>
                  <a:cubicBezTo>
                    <a:pt x="1701376" y="507475"/>
                    <a:pt x="1686089" y="513807"/>
                    <a:pt x="1670149" y="513807"/>
                  </a:cubicBezTo>
                  <a:lnTo>
                    <a:pt x="60101" y="513807"/>
                  </a:lnTo>
                  <a:cubicBezTo>
                    <a:pt x="44161" y="513807"/>
                    <a:pt x="28874" y="507475"/>
                    <a:pt x="17603" y="496204"/>
                  </a:cubicBezTo>
                  <a:cubicBezTo>
                    <a:pt x="6332" y="484932"/>
                    <a:pt x="0" y="469645"/>
                    <a:pt x="0" y="453706"/>
                  </a:cubicBezTo>
                  <a:lnTo>
                    <a:pt x="0" y="60101"/>
                  </a:lnTo>
                  <a:cubicBezTo>
                    <a:pt x="0" y="44161"/>
                    <a:pt x="6332" y="28874"/>
                    <a:pt x="17603" y="17603"/>
                  </a:cubicBezTo>
                  <a:cubicBezTo>
                    <a:pt x="28874" y="6332"/>
                    <a:pt x="44161" y="0"/>
                    <a:pt x="60101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30251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RED-TEAMING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SIMULATES ADVERSARIAL AND RISKY INTERACTIONS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12104" y="7563825"/>
            <a:ext cx="6774600" cy="1968599"/>
            <a:chOff x="0" y="0"/>
            <a:chExt cx="1784257" cy="5184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84257" cy="518479"/>
            </a:xfrm>
            <a:custGeom>
              <a:avLst/>
              <a:gdLst/>
              <a:ahLst/>
              <a:cxnLst/>
              <a:rect r="r" b="b" t="t" l="l"/>
              <a:pathLst>
                <a:path h="518479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60197"/>
                  </a:lnTo>
                  <a:cubicBezTo>
                    <a:pt x="1784257" y="475654"/>
                    <a:pt x="1778116" y="490478"/>
                    <a:pt x="1767186" y="501408"/>
                  </a:cubicBezTo>
                  <a:cubicBezTo>
                    <a:pt x="1756256" y="512338"/>
                    <a:pt x="1741432" y="518479"/>
                    <a:pt x="1725974" y="518479"/>
                  </a:cubicBezTo>
                  <a:lnTo>
                    <a:pt x="58282" y="518479"/>
                  </a:lnTo>
                  <a:cubicBezTo>
                    <a:pt x="42825" y="518479"/>
                    <a:pt x="28000" y="512338"/>
                    <a:pt x="17070" y="501408"/>
                  </a:cubicBezTo>
                  <a:cubicBezTo>
                    <a:pt x="6140" y="490478"/>
                    <a:pt x="0" y="475654"/>
                    <a:pt x="0" y="460197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84257" cy="575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AUTOMATED SCORING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EASURES SAFETY, RELIABILITY, AND PERFORMANCE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95045" y="7563825"/>
            <a:ext cx="6569545" cy="1968599"/>
            <a:chOff x="0" y="0"/>
            <a:chExt cx="1730251" cy="5184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0251" cy="518479"/>
            </a:xfrm>
            <a:custGeom>
              <a:avLst/>
              <a:gdLst/>
              <a:ahLst/>
              <a:cxnLst/>
              <a:rect r="r" b="b" t="t" l="l"/>
              <a:pathLst>
                <a:path h="518479" w="1730251">
                  <a:moveTo>
                    <a:pt x="60101" y="0"/>
                  </a:moveTo>
                  <a:lnTo>
                    <a:pt x="1670149" y="0"/>
                  </a:lnTo>
                  <a:cubicBezTo>
                    <a:pt x="1686089" y="0"/>
                    <a:pt x="1701376" y="6332"/>
                    <a:pt x="1712647" y="17603"/>
                  </a:cubicBezTo>
                  <a:cubicBezTo>
                    <a:pt x="1723918" y="28874"/>
                    <a:pt x="1730251" y="44161"/>
                    <a:pt x="1730251" y="60101"/>
                  </a:cubicBezTo>
                  <a:lnTo>
                    <a:pt x="1730251" y="458377"/>
                  </a:lnTo>
                  <a:cubicBezTo>
                    <a:pt x="1730251" y="474317"/>
                    <a:pt x="1723918" y="489604"/>
                    <a:pt x="1712647" y="500875"/>
                  </a:cubicBezTo>
                  <a:cubicBezTo>
                    <a:pt x="1701376" y="512147"/>
                    <a:pt x="1686089" y="518479"/>
                    <a:pt x="1670149" y="518479"/>
                  </a:cubicBezTo>
                  <a:lnTo>
                    <a:pt x="60101" y="518479"/>
                  </a:lnTo>
                  <a:cubicBezTo>
                    <a:pt x="44161" y="518479"/>
                    <a:pt x="28874" y="512147"/>
                    <a:pt x="17603" y="500875"/>
                  </a:cubicBezTo>
                  <a:cubicBezTo>
                    <a:pt x="6332" y="489604"/>
                    <a:pt x="0" y="474317"/>
                    <a:pt x="0" y="458377"/>
                  </a:cubicBezTo>
                  <a:lnTo>
                    <a:pt x="0" y="60101"/>
                  </a:lnTo>
                  <a:cubicBezTo>
                    <a:pt x="0" y="44161"/>
                    <a:pt x="6332" y="28874"/>
                    <a:pt x="17603" y="17603"/>
                  </a:cubicBezTo>
                  <a:cubicBezTo>
                    <a:pt x="28874" y="6332"/>
                    <a:pt x="44161" y="0"/>
                    <a:pt x="60101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730251" cy="575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AUDIT-READY REPORTS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GENE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RATES EVALUATION RESULTS FOR REVIEW AND RELEASE DECISIONS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25846" y="2034580"/>
            <a:ext cx="5062154" cy="3941708"/>
          </a:xfrm>
          <a:custGeom>
            <a:avLst/>
            <a:gdLst/>
            <a:ahLst/>
            <a:cxnLst/>
            <a:rect r="r" b="b" t="t" l="l"/>
            <a:pathLst>
              <a:path h="3941708" w="5062154">
                <a:moveTo>
                  <a:pt x="0" y="0"/>
                </a:moveTo>
                <a:lnTo>
                  <a:pt x="5062154" y="0"/>
                </a:lnTo>
                <a:lnTo>
                  <a:pt x="5062154" y="3941708"/>
                </a:lnTo>
                <a:lnTo>
                  <a:pt x="0" y="3941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097" r="0" b="-4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31" y="2025055"/>
            <a:ext cx="12123608" cy="42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3"/>
              </a:lnSpc>
            </a:pPr>
            <a:r>
              <a:rPr lang="en-US" sz="3027" spc="-19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AI agents are increasingly used in real-world workflows, but many teams still rely on manual and inconsistent testing methods. As a result, critical issues such as hallucinations, unsafe responses, prompt injection, tool misuse, and regressions may go undetected before deployment. This creates a need for a structured framework that can systematically evaluate agent safety, reliability, and release readiness.</a:t>
            </a:r>
          </a:p>
          <a:p>
            <a:pPr algn="just">
              <a:lnSpc>
                <a:spcPts val="3753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490531" y="7472494"/>
            <a:ext cx="5112055" cy="1703535"/>
            <a:chOff x="0" y="0"/>
            <a:chExt cx="1346385" cy="448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385" cy="448668"/>
            </a:xfrm>
            <a:custGeom>
              <a:avLst/>
              <a:gdLst/>
              <a:ahLst/>
              <a:cxnLst/>
              <a:rect r="r" b="b" t="t" l="l"/>
              <a:pathLst>
                <a:path h="448668" w="1346385">
                  <a:moveTo>
                    <a:pt x="77237" y="0"/>
                  </a:moveTo>
                  <a:lnTo>
                    <a:pt x="1269148" y="0"/>
                  </a:lnTo>
                  <a:cubicBezTo>
                    <a:pt x="1289633" y="0"/>
                    <a:pt x="1309278" y="8137"/>
                    <a:pt x="1323763" y="22622"/>
                  </a:cubicBezTo>
                  <a:cubicBezTo>
                    <a:pt x="1338247" y="37107"/>
                    <a:pt x="1346385" y="56752"/>
                    <a:pt x="1346385" y="77237"/>
                  </a:cubicBezTo>
                  <a:lnTo>
                    <a:pt x="1346385" y="371431"/>
                  </a:lnTo>
                  <a:cubicBezTo>
                    <a:pt x="1346385" y="391915"/>
                    <a:pt x="1338247" y="411561"/>
                    <a:pt x="1323763" y="426046"/>
                  </a:cubicBezTo>
                  <a:cubicBezTo>
                    <a:pt x="1309278" y="440530"/>
                    <a:pt x="1289633" y="448668"/>
                    <a:pt x="1269148" y="448668"/>
                  </a:cubicBezTo>
                  <a:lnTo>
                    <a:pt x="77237" y="448668"/>
                  </a:lnTo>
                  <a:cubicBezTo>
                    <a:pt x="34580" y="448668"/>
                    <a:pt x="0" y="414088"/>
                    <a:pt x="0" y="371431"/>
                  </a:cubicBezTo>
                  <a:lnTo>
                    <a:pt x="0" y="77237"/>
                  </a:lnTo>
                  <a:cubicBezTo>
                    <a:pt x="0" y="56752"/>
                    <a:pt x="8137" y="37107"/>
                    <a:pt x="22622" y="22622"/>
                  </a:cubicBezTo>
                  <a:cubicBezTo>
                    <a:pt x="37107" y="8137"/>
                    <a:pt x="56752" y="0"/>
                    <a:pt x="77237" y="0"/>
                  </a:cubicBezTo>
                  <a:close/>
                </a:path>
              </a:pathLst>
            </a:custGeom>
            <a:solidFill>
              <a:srgbClr val="735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46385" cy="496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b="true" sz="2600" spc="5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MANUAL TESTING</a:t>
              </a:r>
            </a:p>
            <a:p>
              <a:pPr algn="ctr">
                <a:lnSpc>
                  <a:spcPts val="3571"/>
                </a:lnSpc>
              </a:pPr>
              <a:r>
                <a:rPr lang="en-US" sz="2551" spc="5">
                  <a:solidFill>
                    <a:srgbClr val="FDFCE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Time-consuming and inconsistent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90531" y="839685"/>
            <a:ext cx="1190472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0531" y="6535929"/>
            <a:ext cx="4003849" cy="55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3"/>
              </a:lnSpc>
            </a:pPr>
            <a:r>
              <a:rPr lang="en-US" sz="32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CHALLENGES</a:t>
            </a:r>
            <a:r>
              <a:rPr lang="en-US" sz="32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88237" y="7472494"/>
            <a:ext cx="5112055" cy="1703535"/>
            <a:chOff x="0" y="0"/>
            <a:chExt cx="1346385" cy="4486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6385" cy="448668"/>
            </a:xfrm>
            <a:custGeom>
              <a:avLst/>
              <a:gdLst/>
              <a:ahLst/>
              <a:cxnLst/>
              <a:rect r="r" b="b" t="t" l="l"/>
              <a:pathLst>
                <a:path h="448668" w="1346385">
                  <a:moveTo>
                    <a:pt x="77237" y="0"/>
                  </a:moveTo>
                  <a:lnTo>
                    <a:pt x="1269148" y="0"/>
                  </a:lnTo>
                  <a:cubicBezTo>
                    <a:pt x="1289633" y="0"/>
                    <a:pt x="1309278" y="8137"/>
                    <a:pt x="1323763" y="22622"/>
                  </a:cubicBezTo>
                  <a:cubicBezTo>
                    <a:pt x="1338247" y="37107"/>
                    <a:pt x="1346385" y="56752"/>
                    <a:pt x="1346385" y="77237"/>
                  </a:cubicBezTo>
                  <a:lnTo>
                    <a:pt x="1346385" y="371431"/>
                  </a:lnTo>
                  <a:cubicBezTo>
                    <a:pt x="1346385" y="391915"/>
                    <a:pt x="1338247" y="411561"/>
                    <a:pt x="1323763" y="426046"/>
                  </a:cubicBezTo>
                  <a:cubicBezTo>
                    <a:pt x="1309278" y="440530"/>
                    <a:pt x="1289633" y="448668"/>
                    <a:pt x="1269148" y="448668"/>
                  </a:cubicBezTo>
                  <a:lnTo>
                    <a:pt x="77237" y="448668"/>
                  </a:lnTo>
                  <a:cubicBezTo>
                    <a:pt x="34580" y="448668"/>
                    <a:pt x="0" y="414088"/>
                    <a:pt x="0" y="371431"/>
                  </a:cubicBezTo>
                  <a:lnTo>
                    <a:pt x="0" y="77237"/>
                  </a:lnTo>
                  <a:cubicBezTo>
                    <a:pt x="0" y="56752"/>
                    <a:pt x="8137" y="37107"/>
                    <a:pt x="22622" y="22622"/>
                  </a:cubicBezTo>
                  <a:cubicBezTo>
                    <a:pt x="37107" y="8137"/>
                    <a:pt x="56752" y="0"/>
                    <a:pt x="77237" y="0"/>
                  </a:cubicBezTo>
                  <a:close/>
                </a:path>
              </a:pathLst>
            </a:custGeom>
            <a:solidFill>
              <a:srgbClr val="735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46385" cy="496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b="true" sz="2600" spc="5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HIDDEN FAILURES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 spc="5">
                  <a:solidFill>
                    <a:srgbClr val="FDFCE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Hallucinations, prompt injection, unsafe outputs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86067" y="7472494"/>
            <a:ext cx="6158604" cy="1703535"/>
            <a:chOff x="0" y="0"/>
            <a:chExt cx="1622019" cy="4486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2019" cy="448668"/>
            </a:xfrm>
            <a:custGeom>
              <a:avLst/>
              <a:gdLst/>
              <a:ahLst/>
              <a:cxnLst/>
              <a:rect r="r" b="b" t="t" l="l"/>
              <a:pathLst>
                <a:path h="448668" w="1622019">
                  <a:moveTo>
                    <a:pt x="64112" y="0"/>
                  </a:moveTo>
                  <a:lnTo>
                    <a:pt x="1557908" y="0"/>
                  </a:lnTo>
                  <a:cubicBezTo>
                    <a:pt x="1574911" y="0"/>
                    <a:pt x="1591218" y="6755"/>
                    <a:pt x="1603241" y="18778"/>
                  </a:cubicBezTo>
                  <a:cubicBezTo>
                    <a:pt x="1615264" y="30801"/>
                    <a:pt x="1622019" y="47108"/>
                    <a:pt x="1622019" y="64112"/>
                  </a:cubicBezTo>
                  <a:lnTo>
                    <a:pt x="1622019" y="384556"/>
                  </a:lnTo>
                  <a:cubicBezTo>
                    <a:pt x="1622019" y="401559"/>
                    <a:pt x="1615264" y="417866"/>
                    <a:pt x="1603241" y="429890"/>
                  </a:cubicBezTo>
                  <a:cubicBezTo>
                    <a:pt x="1591218" y="441913"/>
                    <a:pt x="1574911" y="448668"/>
                    <a:pt x="1557908" y="448668"/>
                  </a:cubicBezTo>
                  <a:lnTo>
                    <a:pt x="64112" y="448668"/>
                  </a:lnTo>
                  <a:cubicBezTo>
                    <a:pt x="47108" y="448668"/>
                    <a:pt x="30801" y="441913"/>
                    <a:pt x="18778" y="429890"/>
                  </a:cubicBezTo>
                  <a:cubicBezTo>
                    <a:pt x="6755" y="417866"/>
                    <a:pt x="0" y="401559"/>
                    <a:pt x="0" y="384556"/>
                  </a:cubicBezTo>
                  <a:lnTo>
                    <a:pt x="0" y="64112"/>
                  </a:lnTo>
                  <a:cubicBezTo>
                    <a:pt x="0" y="47108"/>
                    <a:pt x="6755" y="30801"/>
                    <a:pt x="18778" y="18778"/>
                  </a:cubicBezTo>
                  <a:cubicBezTo>
                    <a:pt x="30801" y="6755"/>
                    <a:pt x="47108" y="0"/>
                    <a:pt x="64112" y="0"/>
                  </a:cubicBezTo>
                  <a:close/>
                </a:path>
              </a:pathLst>
            </a:custGeom>
            <a:solidFill>
              <a:srgbClr val="735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22019" cy="496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  <a:r>
                <a:rPr lang="en-US" b="true" sz="2600" spc="5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NO RELEASE READINESS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 spc="5">
                  <a:solidFill>
                    <a:srgbClr val="FDFCE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No standard scoring, audit trail, or CI/CD gating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588" t="-9512" r="-57387" b="-2649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188" y="971847"/>
            <a:ext cx="7475658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AGREEMENT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38798" y="1976431"/>
            <a:ext cx="8240808" cy="3975993"/>
            <a:chOff x="0" y="0"/>
            <a:chExt cx="2170419" cy="1047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0419" cy="1047175"/>
            </a:xfrm>
            <a:custGeom>
              <a:avLst/>
              <a:gdLst/>
              <a:ahLst/>
              <a:cxnLst/>
              <a:rect r="r" b="b" t="t" l="l"/>
              <a:pathLst>
                <a:path h="1047175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1047175"/>
                  </a:lnTo>
                  <a:lnTo>
                    <a:pt x="0" y="1047175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70419" cy="1094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TEAM WORKING AGREEMENT</a:t>
              </a:r>
            </a:p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COMMUNICATION &amp; COORDINATION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Fix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ed weekly syncs with focused agendas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Qui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ck async updates for daily progress tracking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24-hour response expectation for all team communication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Early escalation of blockers to avoid delays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8798" y="6286449"/>
            <a:ext cx="8240808" cy="3547368"/>
            <a:chOff x="0" y="0"/>
            <a:chExt cx="2170419" cy="9342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0419" cy="934286"/>
            </a:xfrm>
            <a:custGeom>
              <a:avLst/>
              <a:gdLst/>
              <a:ahLst/>
              <a:cxnLst/>
              <a:rect r="r" b="b" t="t" l="l"/>
              <a:pathLst>
                <a:path h="934286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934286"/>
                  </a:lnTo>
                  <a:lnTo>
                    <a:pt x="0" y="934286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70419" cy="981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OWNERSHIP &amp; RESPONSIBILITY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Ev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ery task has a single accountable owner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Own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er handles development, testing, and validation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Peer review ensures quality before completion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Clear accountability avoids task overlap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4673" y="1976431"/>
            <a:ext cx="8240808" cy="3975993"/>
            <a:chOff x="0" y="0"/>
            <a:chExt cx="2170419" cy="1047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0419" cy="1047175"/>
            </a:xfrm>
            <a:custGeom>
              <a:avLst/>
              <a:gdLst/>
              <a:ahLst/>
              <a:cxnLst/>
              <a:rect r="r" b="b" t="t" l="l"/>
              <a:pathLst>
                <a:path h="1047175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1047175"/>
                  </a:lnTo>
                  <a:lnTo>
                    <a:pt x="0" y="1047175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70419" cy="1094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DELIVERY &amp; ACCOUNTABILITY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Milestones tracked with stri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ct internal deadlines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Work completed ahead of submission for buffer time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No last-minute task transfers or incomplete work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Progress monitored through sprint tracking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64673" y="6286449"/>
            <a:ext cx="8240808" cy="3547368"/>
            <a:chOff x="0" y="0"/>
            <a:chExt cx="2170419" cy="9342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0419" cy="934286"/>
            </a:xfrm>
            <a:custGeom>
              <a:avLst/>
              <a:gdLst/>
              <a:ahLst/>
              <a:cxnLst/>
              <a:rect r="r" b="b" t="t" l="l"/>
              <a:pathLst>
                <a:path h="934286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934286"/>
                  </a:lnTo>
                  <a:lnTo>
                    <a:pt x="0" y="934286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70419" cy="981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ENGINEERING STANDARDS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Structur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ed Git workflow (feature → review → main)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eaningful commits with traceable changes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Mand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atory testing before merge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Consistent coding practices for maintainability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23149" y="8143271"/>
            <a:ext cx="13783810" cy="1950860"/>
            <a:chOff x="0" y="0"/>
            <a:chExt cx="3630304" cy="5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30304" cy="513807"/>
            </a:xfrm>
            <a:custGeom>
              <a:avLst/>
              <a:gdLst/>
              <a:ahLst/>
              <a:cxnLst/>
              <a:rect r="r" b="b" t="t" l="l"/>
              <a:pathLst>
                <a:path h="513807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513807"/>
                  </a:lnTo>
                  <a:lnTo>
                    <a:pt x="0" y="51380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630304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HOW AGENT EVALUATION LAB HELPS: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Provides automated scenario-based testing with clear PASS/FAIL scoring and detailed reports.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23149" y="5977027"/>
            <a:ext cx="13783810" cy="1832868"/>
            <a:chOff x="0" y="0"/>
            <a:chExt cx="3630304" cy="482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30304" cy="482731"/>
            </a:xfrm>
            <a:custGeom>
              <a:avLst/>
              <a:gdLst/>
              <a:ahLst/>
              <a:cxnLst/>
              <a:rect r="r" b="b" t="t" l="l"/>
              <a:pathLst>
                <a:path h="482731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482731"/>
                  </a:lnTo>
                  <a:lnTo>
                    <a:pt x="0" y="48273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630304" cy="53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PAIN POINTS: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Manual testing is slow and inconsistent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Difficult to track failures across multiple scenarios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Needs structured evaluation results for debugging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23149" y="3690759"/>
            <a:ext cx="13783810" cy="1950860"/>
            <a:chOff x="0" y="0"/>
            <a:chExt cx="3630304" cy="5138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30304" cy="513807"/>
            </a:xfrm>
            <a:custGeom>
              <a:avLst/>
              <a:gdLst/>
              <a:ahLst/>
              <a:cxnLst/>
              <a:rect r="r" b="b" t="t" l="l"/>
              <a:pathLst>
                <a:path h="513807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513807"/>
                  </a:lnTo>
                  <a:lnTo>
                    <a:pt x="0" y="51380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30304" cy="5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  <a:spcBef>
                  <a:spcPct val="0"/>
                </a:spcBef>
              </a:pPr>
              <a:r>
                <a:rPr lang="en-US" b="true" sz="2451" spc="4" strike="noStrike" u="non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GOALS: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Ensure the AI agent behaves correctly before deployment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Test safety and reliability automatically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Detect jailbreak or prompt injection vulnerabilities early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61964" y="1709948"/>
            <a:ext cx="13906180" cy="1596098"/>
            <a:chOff x="0" y="0"/>
            <a:chExt cx="3662533" cy="4203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62533" cy="420371"/>
            </a:xfrm>
            <a:custGeom>
              <a:avLst/>
              <a:gdLst/>
              <a:ahLst/>
              <a:cxnLst/>
              <a:rect r="r" b="b" t="t" l="l"/>
              <a:pathLst>
                <a:path h="420371" w="3662533">
                  <a:moveTo>
                    <a:pt x="0" y="0"/>
                  </a:moveTo>
                  <a:lnTo>
                    <a:pt x="3662533" y="0"/>
                  </a:lnTo>
                  <a:lnTo>
                    <a:pt x="3662533" y="420371"/>
                  </a:lnTo>
                  <a:lnTo>
                    <a:pt x="0" y="42037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662533" cy="467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ROLE: MACHINE LEARNING ENGINEER / AI DEVELOPER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Background: Builds AI-powered chatbots and assistants using OpenAI APIs.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2395" y="6277915"/>
            <a:ext cx="3040359" cy="712829"/>
            <a:chOff x="0" y="0"/>
            <a:chExt cx="800753" cy="187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0753" cy="187741"/>
            </a:xfrm>
            <a:custGeom>
              <a:avLst/>
              <a:gdLst/>
              <a:ahLst/>
              <a:cxnLst/>
              <a:rect r="r" b="b" t="t" l="l"/>
              <a:pathLst>
                <a:path h="187741" w="800753">
                  <a:moveTo>
                    <a:pt x="0" y="0"/>
                  </a:moveTo>
                  <a:lnTo>
                    <a:pt x="800753" y="0"/>
                  </a:lnTo>
                  <a:lnTo>
                    <a:pt x="800753" y="187741"/>
                  </a:lnTo>
                  <a:lnTo>
                    <a:pt x="0" y="18774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00753" cy="244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ALEX JOHNSON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1989" y="1440533"/>
            <a:ext cx="4792782" cy="4723083"/>
          </a:xfrm>
          <a:custGeom>
            <a:avLst/>
            <a:gdLst/>
            <a:ahLst/>
            <a:cxnLst/>
            <a:rect r="r" b="b" t="t" l="l"/>
            <a:pathLst>
              <a:path h="4723083" w="4792782">
                <a:moveTo>
                  <a:pt x="0" y="0"/>
                </a:moveTo>
                <a:lnTo>
                  <a:pt x="4792782" y="0"/>
                </a:lnTo>
                <a:lnTo>
                  <a:pt x="4792782" y="4723082"/>
                </a:lnTo>
                <a:lnTo>
                  <a:pt x="0" y="472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50" r="0" b="-3764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72395" y="635625"/>
            <a:ext cx="5796191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588" t="-9512" r="-57387" b="-264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8507" y="8017624"/>
            <a:ext cx="12939412" cy="1950860"/>
            <a:chOff x="0" y="0"/>
            <a:chExt cx="3407911" cy="5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7911" cy="513807"/>
            </a:xfrm>
            <a:custGeom>
              <a:avLst/>
              <a:gdLst/>
              <a:ahLst/>
              <a:cxnLst/>
              <a:rect r="r" b="b" t="t" l="l"/>
              <a:pathLst>
                <a:path h="513807" w="3407911">
                  <a:moveTo>
                    <a:pt x="0" y="0"/>
                  </a:moveTo>
                  <a:lnTo>
                    <a:pt x="3407911" y="0"/>
                  </a:lnTo>
                  <a:lnTo>
                    <a:pt x="3407911" y="513807"/>
                  </a:lnTo>
                  <a:lnTo>
                    <a:pt x="0" y="51380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07911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HOW AGENT EVALUATION LAB HELPS: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Runs </a:t>
              </a: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red-team safety scenarios and produces professional reports in Markdown/HTML/JSON.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8507" y="5951865"/>
            <a:ext cx="12806417" cy="1832868"/>
            <a:chOff x="0" y="0"/>
            <a:chExt cx="3372883" cy="482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72884" cy="482731"/>
            </a:xfrm>
            <a:custGeom>
              <a:avLst/>
              <a:gdLst/>
              <a:ahLst/>
              <a:cxnLst/>
              <a:rect r="r" b="b" t="t" l="l"/>
              <a:pathLst>
                <a:path h="482731" w="3372884">
                  <a:moveTo>
                    <a:pt x="0" y="0"/>
                  </a:moveTo>
                  <a:lnTo>
                    <a:pt x="3372884" y="0"/>
                  </a:lnTo>
                  <a:lnTo>
                    <a:pt x="3372884" y="482731"/>
                  </a:lnTo>
                  <a:lnTo>
                    <a:pt x="0" y="48273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72883" cy="53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PAIN POINTS: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Hard to validate AI safety across many use cases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La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ck of standardized red-teaming tools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Needs clear documentation of risks and failures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8507" y="3589284"/>
            <a:ext cx="12806417" cy="1950860"/>
            <a:chOff x="0" y="0"/>
            <a:chExt cx="3372883" cy="5138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72884" cy="513807"/>
            </a:xfrm>
            <a:custGeom>
              <a:avLst/>
              <a:gdLst/>
              <a:ahLst/>
              <a:cxnLst/>
              <a:rect r="r" b="b" t="t" l="l"/>
              <a:pathLst>
                <a:path h="513807" w="3372884">
                  <a:moveTo>
                    <a:pt x="0" y="0"/>
                  </a:moveTo>
                  <a:lnTo>
                    <a:pt x="3372884" y="0"/>
                  </a:lnTo>
                  <a:lnTo>
                    <a:pt x="3372884" y="513807"/>
                  </a:lnTo>
                  <a:lnTo>
                    <a:pt x="0" y="51380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372883" cy="5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GOALS: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Prevent unsafe or harmful AI outputs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Ensure compliance with organizational policies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Generate audit-ready safety evaluation reports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08507" y="1659211"/>
            <a:ext cx="12806417" cy="1596098"/>
            <a:chOff x="0" y="0"/>
            <a:chExt cx="3372883" cy="4203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72884" cy="420371"/>
            </a:xfrm>
            <a:custGeom>
              <a:avLst/>
              <a:gdLst/>
              <a:ahLst/>
              <a:cxnLst/>
              <a:rect r="r" b="b" t="t" l="l"/>
              <a:pathLst>
                <a:path h="420371" w="3372884">
                  <a:moveTo>
                    <a:pt x="0" y="0"/>
                  </a:moveTo>
                  <a:lnTo>
                    <a:pt x="3372884" y="0"/>
                  </a:lnTo>
                  <a:lnTo>
                    <a:pt x="3372884" y="420371"/>
                  </a:lnTo>
                  <a:lnTo>
                    <a:pt x="0" y="42037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372883" cy="467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  <a:spcBef>
                  <a:spcPct val="0"/>
                </a:spcBef>
              </a:pPr>
              <a:r>
                <a:rPr lang="en-US" b="true" sz="2451" spc="4" strike="noStrike" u="non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ROLE: AI SAFETY SPECIALIST / COMPLIANCE OFFICER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Background: Responsible for ensuring AI systems meet enterprise safety and ethical standards.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9292" y="6155470"/>
            <a:ext cx="2728606" cy="712829"/>
            <a:chOff x="0" y="0"/>
            <a:chExt cx="718645" cy="187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8645" cy="187741"/>
            </a:xfrm>
            <a:custGeom>
              <a:avLst/>
              <a:gdLst/>
              <a:ahLst/>
              <a:cxnLst/>
              <a:rect r="r" b="b" t="t" l="l"/>
              <a:pathLst>
                <a:path h="187741" w="718645">
                  <a:moveTo>
                    <a:pt x="0" y="0"/>
                  </a:moveTo>
                  <a:lnTo>
                    <a:pt x="718645" y="0"/>
                  </a:lnTo>
                  <a:lnTo>
                    <a:pt x="718645" y="187741"/>
                  </a:lnTo>
                  <a:lnTo>
                    <a:pt x="0" y="18774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18645" cy="244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KATE SHARMA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72395" y="1911402"/>
            <a:ext cx="3302399" cy="4040463"/>
          </a:xfrm>
          <a:custGeom>
            <a:avLst/>
            <a:gdLst/>
            <a:ahLst/>
            <a:cxnLst/>
            <a:rect r="r" b="b" t="t" l="l"/>
            <a:pathLst>
              <a:path h="4040463" w="3302399">
                <a:moveTo>
                  <a:pt x="0" y="0"/>
                </a:moveTo>
                <a:lnTo>
                  <a:pt x="3302399" y="0"/>
                </a:lnTo>
                <a:lnTo>
                  <a:pt x="3302399" y="4040463"/>
                </a:lnTo>
                <a:lnTo>
                  <a:pt x="0" y="4040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82" t="0" r="-29534" b="-5206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72395" y="635625"/>
            <a:ext cx="5796191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3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23149" y="8145303"/>
            <a:ext cx="13783810" cy="1950860"/>
            <a:chOff x="0" y="0"/>
            <a:chExt cx="3630304" cy="513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30304" cy="513807"/>
            </a:xfrm>
            <a:custGeom>
              <a:avLst/>
              <a:gdLst/>
              <a:ahLst/>
              <a:cxnLst/>
              <a:rect r="r" b="b" t="t" l="l"/>
              <a:pathLst>
                <a:path h="513807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513807"/>
                  </a:lnTo>
                  <a:lnTo>
                    <a:pt x="0" y="51380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630304" cy="56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0"/>
                </a:lnSpc>
              </a:pPr>
              <a:r>
                <a:rPr lang="en-US" b="true" sz="2450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HOW AGENT EVALUATION LAB HELPS:</a:t>
              </a:r>
            </a:p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PROVIDES RAG-SPECIFIC SCENARIOS SUCH AS MISSING-CONTEXT TESTS AND HALLUCINATION DETECTION.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23149" y="5999465"/>
            <a:ext cx="13783810" cy="1832868"/>
            <a:chOff x="0" y="0"/>
            <a:chExt cx="3630304" cy="482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30304" cy="482731"/>
            </a:xfrm>
            <a:custGeom>
              <a:avLst/>
              <a:gdLst/>
              <a:ahLst/>
              <a:cxnLst/>
              <a:rect r="r" b="b" t="t" l="l"/>
              <a:pathLst>
                <a:path h="482731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482731"/>
                  </a:lnTo>
                  <a:lnTo>
                    <a:pt x="0" y="48273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630304" cy="530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431"/>
                </a:lnSpc>
                <a:spcBef>
                  <a:spcPct val="0"/>
                </a:spcBef>
              </a:pPr>
              <a:r>
                <a:rPr lang="en-US" b="true" sz="2451" spc="4" strike="noStrike" u="non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PAIN POINTS: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RAG SYSTEMS OFTEN HALLUCINATE WHEN THE CONTEXT IS INCOMPLETE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DIFFICULT TO EVALUATE RETRIEVAL + GENERATION QUALITY TOGETHER</a:t>
              </a:r>
            </a:p>
            <a:p>
              <a:pPr algn="l" marL="529245" indent="-264623" lvl="1">
                <a:lnSpc>
                  <a:spcPts val="343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51" spc="4" strike="noStrike" u="non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NEEDS AUTOMATED RELIABILITY CHECKS.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23149" y="3884010"/>
            <a:ext cx="13783810" cy="1877330"/>
            <a:chOff x="0" y="0"/>
            <a:chExt cx="3630304" cy="4944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30304" cy="494441"/>
            </a:xfrm>
            <a:custGeom>
              <a:avLst/>
              <a:gdLst/>
              <a:ahLst/>
              <a:cxnLst/>
              <a:rect r="r" b="b" t="t" l="l"/>
              <a:pathLst>
                <a:path h="494441" w="3630304">
                  <a:moveTo>
                    <a:pt x="0" y="0"/>
                  </a:moveTo>
                  <a:lnTo>
                    <a:pt x="3630304" y="0"/>
                  </a:lnTo>
                  <a:lnTo>
                    <a:pt x="3630304" y="494441"/>
                  </a:lnTo>
                  <a:lnTo>
                    <a:pt x="0" y="494441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30304" cy="54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GOALS: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ENSURE RESPONSES STAY GROUNDED IN RETRIEVED DOCUMENTS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DETECT HALLUCINATIONS AND MISSING-CONTEXT FAILURES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IMPROVE RELIABILITY OF ENTERPRISE AI ASSISTANTS.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61964" y="2084902"/>
            <a:ext cx="13906180" cy="1404243"/>
            <a:chOff x="0" y="0"/>
            <a:chExt cx="3662533" cy="3698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62533" cy="369842"/>
            </a:xfrm>
            <a:custGeom>
              <a:avLst/>
              <a:gdLst/>
              <a:ahLst/>
              <a:cxnLst/>
              <a:rect r="r" b="b" t="t" l="l"/>
              <a:pathLst>
                <a:path h="369842" w="3662533">
                  <a:moveTo>
                    <a:pt x="0" y="0"/>
                  </a:moveTo>
                  <a:lnTo>
                    <a:pt x="3662533" y="0"/>
                  </a:lnTo>
                  <a:lnTo>
                    <a:pt x="3662533" y="369842"/>
                  </a:lnTo>
                  <a:lnTo>
                    <a:pt x="0" y="36984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662533" cy="41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ROLE: SOFTWARE ENGINEER (RAG &amp; SEARCH SYSTEMS)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Background: Develops Retrieval-Augmented Generation (RAG) applications for enterprise knowledge assitants.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999465"/>
            <a:ext cx="1856676" cy="950954"/>
            <a:chOff x="0" y="0"/>
            <a:chExt cx="489001" cy="2504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9001" cy="250457"/>
            </a:xfrm>
            <a:custGeom>
              <a:avLst/>
              <a:gdLst/>
              <a:ahLst/>
              <a:cxnLst/>
              <a:rect r="r" b="b" t="t" l="l"/>
              <a:pathLst>
                <a:path h="250457" w="489001">
                  <a:moveTo>
                    <a:pt x="0" y="0"/>
                  </a:moveTo>
                  <a:lnTo>
                    <a:pt x="489001" y="0"/>
                  </a:lnTo>
                  <a:lnTo>
                    <a:pt x="489001" y="250457"/>
                  </a:lnTo>
                  <a:lnTo>
                    <a:pt x="0" y="25045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89001" cy="307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ANTHONY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8908" y="2084902"/>
            <a:ext cx="3151582" cy="3598217"/>
          </a:xfrm>
          <a:custGeom>
            <a:avLst/>
            <a:gdLst/>
            <a:ahLst/>
            <a:cxnLst/>
            <a:rect r="r" b="b" t="t" l="l"/>
            <a:pathLst>
              <a:path h="3598217" w="3151582">
                <a:moveTo>
                  <a:pt x="0" y="0"/>
                </a:moveTo>
                <a:lnTo>
                  <a:pt x="3151582" y="0"/>
                </a:lnTo>
                <a:lnTo>
                  <a:pt x="3151582" y="3598216"/>
                </a:lnTo>
                <a:lnTo>
                  <a:pt x="0" y="3598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5286" b="-7592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72395" y="635625"/>
            <a:ext cx="5796191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90625"/>
            <a:ext cx="11209029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MINIMAL VIABLE PRODUCT (MVP)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3362"/>
            <a:ext cx="16494289" cy="264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1"/>
              </a:lnSpc>
            </a:pP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The MVP of </a:t>
            </a:r>
            <a:r>
              <a:rPr lang="en-US" sz="3029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Agent Eval Lab provides an end-to-end workflow for evaluating AI agents through automated scenarios, scoring, and reporting. It includes a working evaluation platform, target agent integration, and result visualization for safety and reliability testing.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08207" y="5229809"/>
            <a:ext cx="6774600" cy="1950860"/>
            <a:chOff x="0" y="0"/>
            <a:chExt cx="1784257" cy="5138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84257" cy="513807"/>
            </a:xfrm>
            <a:custGeom>
              <a:avLst/>
              <a:gdLst/>
              <a:ahLst/>
              <a:cxnLst/>
              <a:rect r="r" b="b" t="t" l="l"/>
              <a:pathLst>
                <a:path h="513807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55525"/>
                  </a:lnTo>
                  <a:cubicBezTo>
                    <a:pt x="1784257" y="470982"/>
                    <a:pt x="1778116" y="485806"/>
                    <a:pt x="1767186" y="496736"/>
                  </a:cubicBezTo>
                  <a:cubicBezTo>
                    <a:pt x="1756256" y="507666"/>
                    <a:pt x="1741432" y="513807"/>
                    <a:pt x="1725974" y="513807"/>
                  </a:cubicBezTo>
                  <a:lnTo>
                    <a:pt x="58282" y="513807"/>
                  </a:lnTo>
                  <a:cubicBezTo>
                    <a:pt x="42825" y="513807"/>
                    <a:pt x="28000" y="507666"/>
                    <a:pt x="17070" y="496736"/>
                  </a:cubicBezTo>
                  <a:cubicBezTo>
                    <a:pt x="6140" y="485806"/>
                    <a:pt x="0" y="470982"/>
                    <a:pt x="0" y="455525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784257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TARGET AGENT SUPPORT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EVAL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UATE LLM, RAG, OR HTTP AGENTS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60858" y="5229809"/>
            <a:ext cx="6774600" cy="1950860"/>
            <a:chOff x="0" y="0"/>
            <a:chExt cx="1784257" cy="5138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4257" cy="513807"/>
            </a:xfrm>
            <a:custGeom>
              <a:avLst/>
              <a:gdLst/>
              <a:ahLst/>
              <a:cxnLst/>
              <a:rect r="r" b="b" t="t" l="l"/>
              <a:pathLst>
                <a:path h="513807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55525"/>
                  </a:lnTo>
                  <a:cubicBezTo>
                    <a:pt x="1784257" y="470982"/>
                    <a:pt x="1778116" y="485806"/>
                    <a:pt x="1767186" y="496736"/>
                  </a:cubicBezTo>
                  <a:cubicBezTo>
                    <a:pt x="1756256" y="507666"/>
                    <a:pt x="1741432" y="513807"/>
                    <a:pt x="1725974" y="513807"/>
                  </a:cubicBezTo>
                  <a:lnTo>
                    <a:pt x="58282" y="513807"/>
                  </a:lnTo>
                  <a:cubicBezTo>
                    <a:pt x="42825" y="513807"/>
                    <a:pt x="28000" y="507666"/>
                    <a:pt x="17070" y="496736"/>
                  </a:cubicBezTo>
                  <a:cubicBezTo>
                    <a:pt x="6140" y="485806"/>
                    <a:pt x="0" y="470982"/>
                    <a:pt x="0" y="455525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84257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 EXECUTION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UN AUTOMATED SAFETY AND RELIABILITY TESTS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60858" y="7639928"/>
            <a:ext cx="6774600" cy="1950860"/>
            <a:chOff x="0" y="0"/>
            <a:chExt cx="1784257" cy="5138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4257" cy="513807"/>
            </a:xfrm>
            <a:custGeom>
              <a:avLst/>
              <a:gdLst/>
              <a:ahLst/>
              <a:cxnLst/>
              <a:rect r="r" b="b" t="t" l="l"/>
              <a:pathLst>
                <a:path h="513807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55525"/>
                  </a:lnTo>
                  <a:cubicBezTo>
                    <a:pt x="1784257" y="470982"/>
                    <a:pt x="1778116" y="485806"/>
                    <a:pt x="1767186" y="496736"/>
                  </a:cubicBezTo>
                  <a:cubicBezTo>
                    <a:pt x="1756256" y="507666"/>
                    <a:pt x="1741432" y="513807"/>
                    <a:pt x="1725974" y="513807"/>
                  </a:cubicBezTo>
                  <a:lnTo>
                    <a:pt x="58282" y="513807"/>
                  </a:lnTo>
                  <a:cubicBezTo>
                    <a:pt x="42825" y="513807"/>
                    <a:pt x="28000" y="507666"/>
                    <a:pt x="17070" y="496736"/>
                  </a:cubicBezTo>
                  <a:cubicBezTo>
                    <a:pt x="6140" y="485806"/>
                    <a:pt x="0" y="470982"/>
                    <a:pt x="0" y="455525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84257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PLATFORM INTERFACE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CONFIG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URE RUNS AND REVIEW RESULTS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8207" y="7639928"/>
            <a:ext cx="6774600" cy="1950860"/>
            <a:chOff x="0" y="0"/>
            <a:chExt cx="1784257" cy="5138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4257" cy="513807"/>
            </a:xfrm>
            <a:custGeom>
              <a:avLst/>
              <a:gdLst/>
              <a:ahLst/>
              <a:cxnLst/>
              <a:rect r="r" b="b" t="t" l="l"/>
              <a:pathLst>
                <a:path h="513807" w="1784257">
                  <a:moveTo>
                    <a:pt x="58282" y="0"/>
                  </a:moveTo>
                  <a:lnTo>
                    <a:pt x="1725974" y="0"/>
                  </a:lnTo>
                  <a:cubicBezTo>
                    <a:pt x="1758163" y="0"/>
                    <a:pt x="1784257" y="26094"/>
                    <a:pt x="1784257" y="58282"/>
                  </a:cubicBezTo>
                  <a:lnTo>
                    <a:pt x="1784257" y="455525"/>
                  </a:lnTo>
                  <a:cubicBezTo>
                    <a:pt x="1784257" y="470982"/>
                    <a:pt x="1778116" y="485806"/>
                    <a:pt x="1767186" y="496736"/>
                  </a:cubicBezTo>
                  <a:cubicBezTo>
                    <a:pt x="1756256" y="507666"/>
                    <a:pt x="1741432" y="513807"/>
                    <a:pt x="1725974" y="513807"/>
                  </a:cubicBezTo>
                  <a:lnTo>
                    <a:pt x="58282" y="513807"/>
                  </a:lnTo>
                  <a:cubicBezTo>
                    <a:pt x="42825" y="513807"/>
                    <a:pt x="28000" y="507666"/>
                    <a:pt x="17070" y="496736"/>
                  </a:cubicBezTo>
                  <a:cubicBezTo>
                    <a:pt x="6140" y="485806"/>
                    <a:pt x="0" y="470982"/>
                    <a:pt x="0" y="455525"/>
                  </a:cubicBezTo>
                  <a:lnTo>
                    <a:pt x="0" y="58282"/>
                  </a:lnTo>
                  <a:cubicBezTo>
                    <a:pt x="0" y="42825"/>
                    <a:pt x="6140" y="28000"/>
                    <a:pt x="17070" y="17070"/>
                  </a:cubicBezTo>
                  <a:cubicBezTo>
                    <a:pt x="28000" y="6140"/>
                    <a:pt x="42825" y="0"/>
                    <a:pt x="58282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784257" cy="570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41"/>
                </a:lnSpc>
              </a:pPr>
              <a:r>
                <a:rPr lang="en-US" b="true" sz="3029" spc="6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SCORING &amp; REPORTS</a:t>
              </a:r>
            </a:p>
            <a:p>
              <a:pPr algn="ctr">
                <a:lnSpc>
                  <a:spcPts val="3431"/>
                </a:lnSpc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ENERATE MARKDOWN, HTML, AND JSON OUTPUTS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651" y="2448114"/>
            <a:ext cx="901051" cy="901051"/>
          </a:xfrm>
          <a:custGeom>
            <a:avLst/>
            <a:gdLst/>
            <a:ahLst/>
            <a:cxnLst/>
            <a:rect r="r" b="b" t="t" l="l"/>
            <a:pathLst>
              <a:path h="901051" w="901051">
                <a:moveTo>
                  <a:pt x="0" y="0"/>
                </a:moveTo>
                <a:lnTo>
                  <a:pt x="901052" y="0"/>
                </a:lnTo>
                <a:lnTo>
                  <a:pt x="901052" y="901052"/>
                </a:lnTo>
                <a:lnTo>
                  <a:pt x="0" y="901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912" y="3701545"/>
            <a:ext cx="766956" cy="759984"/>
          </a:xfrm>
          <a:custGeom>
            <a:avLst/>
            <a:gdLst/>
            <a:ahLst/>
            <a:cxnLst/>
            <a:rect r="r" b="b" t="t" l="l"/>
            <a:pathLst>
              <a:path h="759984" w="766956">
                <a:moveTo>
                  <a:pt x="0" y="0"/>
                </a:moveTo>
                <a:lnTo>
                  <a:pt x="766956" y="0"/>
                </a:lnTo>
                <a:lnTo>
                  <a:pt x="766956" y="759984"/>
                </a:lnTo>
                <a:lnTo>
                  <a:pt x="0" y="759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0961" y="4869020"/>
            <a:ext cx="857907" cy="857907"/>
          </a:xfrm>
          <a:custGeom>
            <a:avLst/>
            <a:gdLst/>
            <a:ahLst/>
            <a:cxnLst/>
            <a:rect r="r" b="b" t="t" l="l"/>
            <a:pathLst>
              <a:path h="857907" w="857907">
                <a:moveTo>
                  <a:pt x="0" y="0"/>
                </a:moveTo>
                <a:lnTo>
                  <a:pt x="857907" y="0"/>
                </a:lnTo>
                <a:lnTo>
                  <a:pt x="857907" y="857907"/>
                </a:lnTo>
                <a:lnTo>
                  <a:pt x="0" y="857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7817" y="6253708"/>
            <a:ext cx="866431" cy="866431"/>
          </a:xfrm>
          <a:custGeom>
            <a:avLst/>
            <a:gdLst/>
            <a:ahLst/>
            <a:cxnLst/>
            <a:rect r="r" b="b" t="t" l="l"/>
            <a:pathLst>
              <a:path h="866431" w="866431">
                <a:moveTo>
                  <a:pt x="0" y="0"/>
                </a:moveTo>
                <a:lnTo>
                  <a:pt x="866431" y="0"/>
                </a:lnTo>
                <a:lnTo>
                  <a:pt x="866431" y="866431"/>
                </a:lnTo>
                <a:lnTo>
                  <a:pt x="0" y="866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0651" y="7644014"/>
            <a:ext cx="733597" cy="896618"/>
          </a:xfrm>
          <a:custGeom>
            <a:avLst/>
            <a:gdLst/>
            <a:ahLst/>
            <a:cxnLst/>
            <a:rect r="r" b="b" t="t" l="l"/>
            <a:pathLst>
              <a:path h="896618" w="733597">
                <a:moveTo>
                  <a:pt x="0" y="0"/>
                </a:moveTo>
                <a:lnTo>
                  <a:pt x="733597" y="0"/>
                </a:lnTo>
                <a:lnTo>
                  <a:pt x="733597" y="896618"/>
                </a:lnTo>
                <a:lnTo>
                  <a:pt x="0" y="8966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89606" y="5084257"/>
            <a:ext cx="1731530" cy="911218"/>
          </a:xfrm>
          <a:custGeom>
            <a:avLst/>
            <a:gdLst/>
            <a:ahLst/>
            <a:cxnLst/>
            <a:rect r="r" b="b" t="t" l="l"/>
            <a:pathLst>
              <a:path h="911218" w="1731530">
                <a:moveTo>
                  <a:pt x="0" y="0"/>
                </a:moveTo>
                <a:lnTo>
                  <a:pt x="1731531" y="0"/>
                </a:lnTo>
                <a:lnTo>
                  <a:pt x="1731531" y="911218"/>
                </a:lnTo>
                <a:lnTo>
                  <a:pt x="0" y="911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21270" y="2715600"/>
            <a:ext cx="2868202" cy="1971889"/>
          </a:xfrm>
          <a:custGeom>
            <a:avLst/>
            <a:gdLst/>
            <a:ahLst/>
            <a:cxnLst/>
            <a:rect r="r" b="b" t="t" l="l"/>
            <a:pathLst>
              <a:path h="1971889" w="2868202">
                <a:moveTo>
                  <a:pt x="0" y="0"/>
                </a:moveTo>
                <a:lnTo>
                  <a:pt x="2868203" y="0"/>
                </a:lnTo>
                <a:lnTo>
                  <a:pt x="2868203" y="1971890"/>
                </a:lnTo>
                <a:lnTo>
                  <a:pt x="0" y="19718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188" y="971847"/>
            <a:ext cx="7475658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06048" y="2607359"/>
            <a:ext cx="1390204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6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3038" y="5026278"/>
            <a:ext cx="4402187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6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YAML SCENARIO FILES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3038" y="6482841"/>
            <a:ext cx="5097289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6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GITHUB ACTIONS (CI/CD)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3038" y="3906415"/>
            <a:ext cx="2316956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6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OPENAI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5622" y="5213339"/>
            <a:ext cx="1251645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-175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DOCKER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53388" y="7851252"/>
            <a:ext cx="4380756" cy="1046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b="true" sz="3029" spc="-175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MARKDOWN /</a:t>
            </a:r>
            <a:r>
              <a:rPr lang="en-US" b="true" sz="3029" spc="-175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HTML /JSON 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945622" y="3292016"/>
            <a:ext cx="4172099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029" spc="-175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FASTAPI FOR RAG DEMO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188" y="971847"/>
            <a:ext cx="7475658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ALGORITHMS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3192" y="2013073"/>
            <a:ext cx="8240808" cy="2836351"/>
            <a:chOff x="0" y="0"/>
            <a:chExt cx="2170419" cy="747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0419" cy="747023"/>
            </a:xfrm>
            <a:custGeom>
              <a:avLst/>
              <a:gdLst/>
              <a:ahLst/>
              <a:cxnLst/>
              <a:rect r="r" b="b" t="t" l="l"/>
              <a:pathLst>
                <a:path h="747023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747023"/>
                  </a:lnTo>
                  <a:lnTo>
                    <a:pt x="0" y="747023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70419" cy="794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b="true" sz="2451" spc="4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SCENARIO-BASED EVALUATION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Uses YAML files to define test scenarios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Each scenario includes prompt, pass criteria, fail criteria, and tags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Simulates safety, reliability, RAG, and adversarial test cases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3192" y="5909911"/>
            <a:ext cx="8240808" cy="3547368"/>
            <a:chOff x="0" y="0"/>
            <a:chExt cx="2170419" cy="9342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419" cy="934286"/>
            </a:xfrm>
            <a:custGeom>
              <a:avLst/>
              <a:gdLst/>
              <a:ahLst/>
              <a:cxnLst/>
              <a:rect r="r" b="b" t="t" l="l"/>
              <a:pathLst>
                <a:path h="934286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934286"/>
                  </a:lnTo>
                  <a:lnTo>
                    <a:pt x="0" y="934286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70419" cy="981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Red-Teaming / Adversarial Testing Algorithm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Generates or uses adversarial prompts (e.g., jailbre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ak, unsafe queries)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Sends these prompts to the agent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Eva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luates whether the agent resists or fails under attack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Identifies vulnerabilities such as prompt injection or harmful output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38735" y="310257"/>
            <a:ext cx="8240808" cy="4833243"/>
            <a:chOff x="0" y="0"/>
            <a:chExt cx="2170419" cy="12729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419" cy="1272953"/>
            </a:xfrm>
            <a:custGeom>
              <a:avLst/>
              <a:gdLst/>
              <a:ahLst/>
              <a:cxnLst/>
              <a:rect r="r" b="b" t="t" l="l"/>
              <a:pathLst>
                <a:path h="1272953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1272953"/>
                  </a:lnTo>
                  <a:lnTo>
                    <a:pt x="0" y="1272953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70419" cy="1320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Predicate-Based Scoring Algorithm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Applies predefined rules (predi</a:t>
              </a: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cates) on agent responses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Checks for: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Safe behavior (positive predicates)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Unsafe behavior (negative predicates)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Classifies results as: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PASS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FAIL_MINOR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FAIL_CRITICAL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38735" y="5673795"/>
            <a:ext cx="8240808" cy="4404618"/>
            <a:chOff x="0" y="0"/>
            <a:chExt cx="2170419" cy="1160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0419" cy="1160064"/>
            </a:xfrm>
            <a:custGeom>
              <a:avLst/>
              <a:gdLst/>
              <a:ahLst/>
              <a:cxnLst/>
              <a:rect r="r" b="b" t="t" l="l"/>
              <a:pathLst>
                <a:path h="1160064" w="2170419">
                  <a:moveTo>
                    <a:pt x="0" y="0"/>
                  </a:moveTo>
                  <a:lnTo>
                    <a:pt x="2170419" y="0"/>
                  </a:lnTo>
                  <a:lnTo>
                    <a:pt x="2170419" y="1160064"/>
                  </a:lnTo>
                  <a:lnTo>
                    <a:pt x="0" y="1160064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70419" cy="1207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RAG Grounding &amp; Validation Algorithm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Compar</a:t>
              </a: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es agent response with retrieved context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Checks if the answer is</a:t>
              </a: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supported by available data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Detects hallucinations or missing-context responses</a:t>
              </a:r>
            </a:p>
            <a:p>
              <a:pPr algn="l" marL="529245" indent="-264623" lvl="1">
                <a:lnSpc>
                  <a:spcPts val="3431"/>
                </a:lnSpc>
                <a:buFont typeface="Arial"/>
                <a:buChar char="•"/>
              </a:pPr>
              <a:r>
                <a:rPr lang="en-US" b="true" sz="2451" spc="4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Ensures reliability of retrieval-augmented systems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8077" y="2186270"/>
            <a:ext cx="16691135" cy="5932788"/>
          </a:xfrm>
          <a:custGeom>
            <a:avLst/>
            <a:gdLst/>
            <a:ahLst/>
            <a:cxnLst/>
            <a:rect r="r" b="b" t="t" l="l"/>
            <a:pathLst>
              <a:path h="5932788" w="16691135">
                <a:moveTo>
                  <a:pt x="0" y="0"/>
                </a:moveTo>
                <a:lnTo>
                  <a:pt x="16691135" y="0"/>
                </a:lnTo>
                <a:lnTo>
                  <a:pt x="16691135" y="5932788"/>
                </a:lnTo>
                <a:lnTo>
                  <a:pt x="0" y="5932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" r="-1488" b="-269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8077" y="907590"/>
            <a:ext cx="8140881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ARCHITECTURE</a:t>
            </a:r>
          </a:p>
        </p:txBody>
      </p: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12734"/>
            <a:ext cx="15340271" cy="6021056"/>
          </a:xfrm>
          <a:custGeom>
            <a:avLst/>
            <a:gdLst/>
            <a:ahLst/>
            <a:cxnLst/>
            <a:rect r="r" b="b" t="t" l="l"/>
            <a:pathLst>
              <a:path h="6021056" w="15340271">
                <a:moveTo>
                  <a:pt x="0" y="0"/>
                </a:moveTo>
                <a:lnTo>
                  <a:pt x="15340271" y="0"/>
                </a:lnTo>
                <a:lnTo>
                  <a:pt x="15340271" y="6021056"/>
                </a:lnTo>
                <a:lnTo>
                  <a:pt x="0" y="6021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2123" y="907590"/>
            <a:ext cx="7556772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SEQUENCE DIAGRAM</a:t>
            </a:r>
          </a:p>
        </p:txBody>
      </p: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03906"/>
            <a:ext cx="15326986" cy="6752535"/>
          </a:xfrm>
          <a:custGeom>
            <a:avLst/>
            <a:gdLst/>
            <a:ahLst/>
            <a:cxnLst/>
            <a:rect r="r" b="b" t="t" l="l"/>
            <a:pathLst>
              <a:path h="6752535" w="15326986">
                <a:moveTo>
                  <a:pt x="0" y="0"/>
                </a:moveTo>
                <a:lnTo>
                  <a:pt x="15326986" y="0"/>
                </a:lnTo>
                <a:lnTo>
                  <a:pt x="15326986" y="6752535"/>
                </a:lnTo>
                <a:lnTo>
                  <a:pt x="0" y="6752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1" r="0" b="-36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2123" y="907590"/>
            <a:ext cx="10267912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i="true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CONTEXT DIAGRAM</a:t>
            </a:r>
          </a:p>
        </p:txBody>
      </p:sp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885" y="907590"/>
            <a:ext cx="72938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2 RECAP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885433"/>
            <a:ext cx="14752353" cy="966365"/>
            <a:chOff x="0" y="0"/>
            <a:chExt cx="3885393" cy="2545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85393" cy="254516"/>
            </a:xfrm>
            <a:custGeom>
              <a:avLst/>
              <a:gdLst/>
              <a:ahLst/>
              <a:cxnLst/>
              <a:rect r="r" b="b" t="t" l="l"/>
              <a:pathLst>
                <a:path h="254516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254516"/>
                  </a:lnTo>
                  <a:lnTo>
                    <a:pt x="0" y="254516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85393" cy="292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Sprint 2 Summary:</a:t>
              </a:r>
            </a:p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Enhanced evaluation pipeline, multi-agent support, and scoring/reporting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137547"/>
            <a:ext cx="14752353" cy="3051185"/>
            <a:chOff x="0" y="0"/>
            <a:chExt cx="3885393" cy="803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85393" cy="803604"/>
            </a:xfrm>
            <a:custGeom>
              <a:avLst/>
              <a:gdLst/>
              <a:ahLst/>
              <a:cxnLst/>
              <a:rect r="r" b="b" t="t" l="l"/>
              <a:pathLst>
                <a:path h="803604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803604"/>
                  </a:lnTo>
                  <a:lnTo>
                    <a:pt x="0" y="803604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85393" cy="841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System Capabilities: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Evaluate LLM, RAG, and HTTP agents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Run YAML-based safety and adversarial scenarios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Classify results as PASS / FAIL_MINOR / FAIL_CRITICAL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Generate reports (Markdown, HTML, JSON)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View results via dashboard and sandbox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474482"/>
            <a:ext cx="14752353" cy="3051185"/>
            <a:chOff x="0" y="0"/>
            <a:chExt cx="3885393" cy="8036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5393" cy="803604"/>
            </a:xfrm>
            <a:custGeom>
              <a:avLst/>
              <a:gdLst/>
              <a:ahLst/>
              <a:cxnLst/>
              <a:rect r="r" b="b" t="t" l="l"/>
              <a:pathLst>
                <a:path h="803604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803604"/>
                  </a:lnTo>
                  <a:lnTo>
                    <a:pt x="0" y="803604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85393" cy="841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Key Achievements: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Built automated scenario execution pipeline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Integrated OpenAI and HTTP adapters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Implemented predicate-based scoring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Developed audit-ready reporting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Enabled CI/CD-based evaluation and release gating</a:t>
              </a:r>
            </a:p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Improved modular system architecture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885" y="907590"/>
            <a:ext cx="72938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3282" y="1661970"/>
            <a:ext cx="17199680" cy="2574098"/>
            <a:chOff x="0" y="0"/>
            <a:chExt cx="4529957" cy="6779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29957" cy="677952"/>
            </a:xfrm>
            <a:custGeom>
              <a:avLst/>
              <a:gdLst/>
              <a:ahLst/>
              <a:cxnLst/>
              <a:rect r="r" b="b" t="t" l="l"/>
              <a:pathLst>
                <a:path h="677952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677952"/>
                  </a:lnTo>
                  <a:lnTo>
                    <a:pt x="0" y="67795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29957" cy="71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P1: Connect and validate any AI agent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Application Developer, I want to connect OpenAI, RAG, or custom HTTP agents so that I can confirm they are ready for evaluation.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Agent onboarding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Given an agent endpoint or provider config, When I run auto-detect and health check, Then the platform validates the contract, And allows a test query before evaluation.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3282" y="4473156"/>
            <a:ext cx="17199680" cy="2690118"/>
            <a:chOff x="0" y="0"/>
            <a:chExt cx="4529957" cy="708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29957" cy="708508"/>
            </a:xfrm>
            <a:custGeom>
              <a:avLst/>
              <a:gdLst/>
              <a:ahLst/>
              <a:cxnLst/>
              <a:rect r="r" b="b" t="t" l="l"/>
              <a:pathLst>
                <a:path h="708508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708508"/>
                  </a:lnTo>
                  <a:lnTo>
                    <a:pt x="0" y="708508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29957" cy="74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P2: Run configurable red-team evaluations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Evaluation Operator, I want to select scenario bundles and runtime settings so that I can test safety, reliability, hallucination, PII, prompt injection, and tool-abuse risks.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Scenario execution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Given selected scenarios and agent config, When I start an evaluation, Then the runner executes the tests, And stores pass/fail results with severity and evidence.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3282" y="7400362"/>
            <a:ext cx="17199680" cy="2574098"/>
            <a:chOff x="0" y="0"/>
            <a:chExt cx="4529957" cy="6779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9957" cy="677952"/>
            </a:xfrm>
            <a:custGeom>
              <a:avLst/>
              <a:gdLst/>
              <a:ahLst/>
              <a:cxnLst/>
              <a:rect r="r" b="b" t="t" l="l"/>
              <a:pathLst>
                <a:path h="677952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677952"/>
                  </a:lnTo>
                  <a:lnTo>
                    <a:pt x="0" y="67795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29957" cy="71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P3: Monitor production quality over time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Platform Owner, I want drift monitoring, audit events, and usage controls so that deployed agents remain reliable after release.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Drift monitoring</a:t>
              </a:r>
            </a:p>
            <a:p>
              <a:pPr algn="l">
                <a:lnSpc>
                  <a:spcPts val="3291"/>
                </a:lnSpc>
              </a:pPr>
              <a:r>
                <a:rPr lang="en-US" sz="23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Given historical baseline results, When a new drift check runs, Then the system compares quality changes, And emits signed audit alerts when risk increases.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885" y="907590"/>
            <a:ext cx="72938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4679" y="1449866"/>
            <a:ext cx="17199680" cy="3118743"/>
            <a:chOff x="0" y="0"/>
            <a:chExt cx="4529957" cy="8213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29957" cy="821397"/>
            </a:xfrm>
            <a:custGeom>
              <a:avLst/>
              <a:gdLst/>
              <a:ahLst/>
              <a:cxnLst/>
              <a:rect r="r" b="b" t="t" l="l"/>
              <a:pathLst>
                <a:path h="821397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821397"/>
                  </a:lnTo>
                  <a:lnTo>
                    <a:pt x="0" y="82139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29957" cy="869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P4: Measure threat-model coverage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EFE3D3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 Compliance Engineer, I want evaluations mapped to enterprise threat categories so that I can prove required safety areas are covered.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EFE3D3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Threat coverage review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EFE3D3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Given selected scenario IDs, When coverage is calculated, Then the platform reports covered and missing threat categories, And blocks release mode when required coverage is incomplete.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4679" y="4682910"/>
            <a:ext cx="17199680" cy="3118743"/>
            <a:chOff x="0" y="0"/>
            <a:chExt cx="4529957" cy="8213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29957" cy="821397"/>
            </a:xfrm>
            <a:custGeom>
              <a:avLst/>
              <a:gdLst/>
              <a:ahLst/>
              <a:cxnLst/>
              <a:rect r="r" b="b" t="t" l="l"/>
              <a:pathLst>
                <a:path h="821397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821397"/>
                  </a:lnTo>
                  <a:lnTo>
                    <a:pt x="0" y="82139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29957" cy="869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P5: Compare agent versions and detect regressions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 Platform Team Member, I want batch evaluations and regression checks so that I can compare multiple agent versions before release.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Candidate bakeoff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Given multiple agent candidates and the same scenario set, When I run a batch evaluation, Then the system ranks candidate performance, And highlights regressions against the baseline.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4679" y="7915953"/>
            <a:ext cx="17199680" cy="2261493"/>
            <a:chOff x="0" y="0"/>
            <a:chExt cx="4529957" cy="5956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9957" cy="595620"/>
            </a:xfrm>
            <a:custGeom>
              <a:avLst/>
              <a:gdLst/>
              <a:ahLst/>
              <a:cxnLst/>
              <a:rect r="r" b="b" t="t" l="l"/>
              <a:pathLst>
                <a:path h="595620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595620"/>
                  </a:lnTo>
                  <a:lnTo>
                    <a:pt x="0" y="595620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29957" cy="643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P6: Monitor Production Quality Over Time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User Story:</a:t>
              </a: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Platform Owner, I want drift monitoring and audit alerts so that agent quality remains consistent after deployment.</a:t>
              </a:r>
            </a:p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Scenario: Drift Monitoring Given baseline results, when a drift check runs, then the system detects quality changes and generates audit alerts if risk increases.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627" y="972360"/>
            <a:ext cx="1410164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&amp; USER STORIES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3055" y="2729471"/>
            <a:ext cx="17022408" cy="1027010"/>
            <a:chOff x="0" y="0"/>
            <a:chExt cx="4483268" cy="270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83268" cy="270488"/>
            </a:xfrm>
            <a:custGeom>
              <a:avLst/>
              <a:gdLst/>
              <a:ahLst/>
              <a:cxnLst/>
              <a:rect r="r" b="b" t="t" l="l"/>
              <a:pathLst>
                <a:path h="270488" w="4483268">
                  <a:moveTo>
                    <a:pt x="0" y="0"/>
                  </a:moveTo>
                  <a:lnTo>
                    <a:pt x="4483268" y="0"/>
                  </a:lnTo>
                  <a:lnTo>
                    <a:pt x="4483268" y="270488"/>
                  </a:lnTo>
                  <a:lnTo>
                    <a:pt x="0" y="270488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483268" cy="318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 1: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Application Developer, I want to connect and validate OpenAI, RAG, or custom HTTP agents, so that I can confirm the agent is ready for evaluation.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13055" y="4766131"/>
            <a:ext cx="14630921" cy="371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  <a:spcBef>
                <a:spcPct val="0"/>
              </a:spcBef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ACCEPTANCE CRITERIA: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Scenario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Agent connection and validation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Given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provides an agent endpoint or provider configuration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runs auto-detect, health check, and test query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platform validates the agent contract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And 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the agent can be selected for an evaluation run</a:t>
            </a:r>
          </a:p>
          <a:p>
            <a:pPr algn="l">
              <a:lnSpc>
                <a:spcPts val="4241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627" y="972360"/>
            <a:ext cx="1410164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&amp; USER STORIES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7125" y="2736880"/>
            <a:ext cx="17259300" cy="1404243"/>
            <a:chOff x="0" y="0"/>
            <a:chExt cx="4545659" cy="3698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45659" cy="369842"/>
            </a:xfrm>
            <a:custGeom>
              <a:avLst/>
              <a:gdLst/>
              <a:ahLst/>
              <a:cxnLst/>
              <a:rect r="r" b="b" t="t" l="l"/>
              <a:pathLst>
                <a:path h="369842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369842"/>
                  </a:lnTo>
                  <a:lnTo>
                    <a:pt x="0" y="36984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45659" cy="41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 2:</a:t>
              </a: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Evaluation Operator, I want to run configurable scenario-based evaluations, so that I can identify safety, reliability, hallucination, PII, prompt injection, and tool-abuse risks.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07125" y="4869676"/>
            <a:ext cx="15256594" cy="318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ACCEPTANCE CRITERIA::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Scenario: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Configurable evaluation execution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Given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selects an agent, scenario bundle, and runtime settings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starts the evaluation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system executes the selected scenarios automatically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And 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the results show pass/fail status, severity, and failure evidence</a:t>
            </a:r>
          </a:p>
        </p:txBody>
      </p:sp>
    </p:spTree>
  </p:cSld>
  <p:clrMapOvr>
    <a:masterClrMapping/>
  </p:clrMapOvr>
  <p:transition spd="slow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627" y="972360"/>
            <a:ext cx="1410164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&amp; USER STORIES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7125" y="2737588"/>
            <a:ext cx="17580875" cy="1404243"/>
            <a:chOff x="0" y="0"/>
            <a:chExt cx="4630354" cy="3698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0354" cy="369842"/>
            </a:xfrm>
            <a:custGeom>
              <a:avLst/>
              <a:gdLst/>
              <a:ahLst/>
              <a:cxnLst/>
              <a:rect r="r" b="b" t="t" l="l"/>
              <a:pathLst>
                <a:path h="369842" w="4630354">
                  <a:moveTo>
                    <a:pt x="0" y="0"/>
                  </a:moveTo>
                  <a:lnTo>
                    <a:pt x="4630354" y="0"/>
                  </a:lnTo>
                  <a:lnTo>
                    <a:pt x="4630354" y="369842"/>
                  </a:lnTo>
                  <a:lnTo>
                    <a:pt x="0" y="36984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630354" cy="41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 3: 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Enterprise AI Safety and Compliance Engine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er, I want release-gate decisions with audit-ready evidence, so that I can determine whether an AI agent is safe for production deployment</a:t>
              </a: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07125" y="4870384"/>
            <a:ext cx="15465326" cy="318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ACCEPTANCE CRITERIA: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Scenario: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Release candidate decision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Given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a completed release-candidate evaluation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release-gate policy is applied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system returns a clear GO or BLOCK decision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And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can download JSON, Markdown, and signed evidence artifacts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627" y="972360"/>
            <a:ext cx="1410164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 &amp; USER STORIES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7125" y="2737588"/>
            <a:ext cx="17580875" cy="1113621"/>
            <a:chOff x="0" y="0"/>
            <a:chExt cx="4630354" cy="2932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0354" cy="293299"/>
            </a:xfrm>
            <a:custGeom>
              <a:avLst/>
              <a:gdLst/>
              <a:ahLst/>
              <a:cxnLst/>
              <a:rect r="r" b="b" t="t" l="l"/>
              <a:pathLst>
                <a:path h="293299" w="4630354">
                  <a:moveTo>
                    <a:pt x="0" y="0"/>
                  </a:moveTo>
                  <a:lnTo>
                    <a:pt x="4630354" y="0"/>
                  </a:lnTo>
                  <a:lnTo>
                    <a:pt x="4630354" y="293299"/>
                  </a:lnTo>
                  <a:lnTo>
                    <a:pt x="0" y="293299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630354" cy="340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 4: </a:t>
              </a:r>
              <a:r>
                <a:rPr lang="en-US" sz="2451" spc="4" b="true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 Platform Team Member, I want batch comparison and regression checks, so that I can compare agent versions and prevent quality regressions before release.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07125" y="4870384"/>
            <a:ext cx="14630921" cy="371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ACCEPTANCE CRITERIA: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Scenario: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Agent version comparison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Given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multiple agent candidates and a shared scenario set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When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user runs a batch evaluation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Then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the system compares candidate scores and outcomes</a:t>
            </a:r>
          </a:p>
          <a:p>
            <a:pPr algn="l" marL="654177" indent="-327088" lvl="1">
              <a:lnSpc>
                <a:spcPts val="4241"/>
              </a:lnSpc>
              <a:buFont typeface="Arial"/>
              <a:buChar char="•"/>
            </a:pPr>
            <a:r>
              <a:rPr lang="en-US" b="true" sz="3029" spc="-175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And</a:t>
            </a:r>
            <a:r>
              <a:rPr lang="en-US" sz="3029" spc="-17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regressions against the baseline are highlighted before release</a:t>
            </a:r>
          </a:p>
          <a:p>
            <a:pPr algn="l">
              <a:lnSpc>
                <a:spcPts val="4241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885" y="907590"/>
            <a:ext cx="72938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SUMMARY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885433"/>
            <a:ext cx="14752353" cy="2355171"/>
            <a:chOff x="0" y="0"/>
            <a:chExt cx="3885393" cy="6202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85393" cy="620292"/>
            </a:xfrm>
            <a:custGeom>
              <a:avLst/>
              <a:gdLst/>
              <a:ahLst/>
              <a:cxnLst/>
              <a:rect r="r" b="b" t="t" l="l"/>
              <a:pathLst>
                <a:path h="620292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620292"/>
                  </a:lnTo>
                  <a:lnTo>
                    <a:pt x="0" y="62029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885393" cy="65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Sprint 0 Summary: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Established project vision, personas, and problem statement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Defined initial product backlog and core user stories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Identified AI safety, compliance, and red-team evaluation goals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Aligned team roles, scope, and sprint planning foundation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526354"/>
            <a:ext cx="14752353" cy="2355171"/>
            <a:chOff x="0" y="0"/>
            <a:chExt cx="3885393" cy="6202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85393" cy="620292"/>
            </a:xfrm>
            <a:custGeom>
              <a:avLst/>
              <a:gdLst/>
              <a:ahLst/>
              <a:cxnLst/>
              <a:rect r="r" b="b" t="t" l="l"/>
              <a:pathLst>
                <a:path h="620292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620292"/>
                  </a:lnTo>
                  <a:lnTo>
                    <a:pt x="0" y="62029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85393" cy="65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Sprint 1 Summary: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Built MVP for scenario-based AI agent evaluation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Added agent configuration and automated test execution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Generated pass/fail results and downloadable reports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Demonstrated core workflow for pre-deployment safety checks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305732"/>
            <a:ext cx="14752353" cy="2355171"/>
            <a:chOff x="0" y="0"/>
            <a:chExt cx="3885393" cy="6202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5393" cy="620292"/>
            </a:xfrm>
            <a:custGeom>
              <a:avLst/>
              <a:gdLst/>
              <a:ahLst/>
              <a:cxnLst/>
              <a:rect r="r" b="b" t="t" l="l"/>
              <a:pathLst>
                <a:path h="620292" w="3885393">
                  <a:moveTo>
                    <a:pt x="0" y="0"/>
                  </a:moveTo>
                  <a:lnTo>
                    <a:pt x="3885393" y="0"/>
                  </a:lnTo>
                  <a:lnTo>
                    <a:pt x="3885393" y="620292"/>
                  </a:lnTo>
                  <a:lnTo>
                    <a:pt x="0" y="62029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85393" cy="658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Sprint 2 Summary: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Expanded platform with release-gate and audit-ready reporting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Added adversarial and grounding scenario coverage for RAG/AI agents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Improved comparison across runs with regression and evaluation tracking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 spc="4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Strengthened the platform toward enterprise-grade safety validation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972360"/>
            <a:ext cx="7326396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9899" y="1821121"/>
            <a:ext cx="17708201" cy="830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US-1: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an AI Application Developer, I want to connect and validate OpenAI, RAG, or custom HTTP agents through the platform, so that I can confirm they are ready for evaluation.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US-2: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an Evaluation Operator, I want to run configurable scenario-based evaluations from the dashboard, so that I can identify safety, reliability, hallucination, PII, prompt injection, and tool-abuse risks before deployment.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US-3: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an Enterprise AI Safety and Compliance Engineer, I want release-gate decisions with audit-ready evidence, so that I can determine whether an agent is safe for production deployment.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US-4: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 Compliance Engineer, I want threat-model coverage checks for release evaluations, so that I can verify required enterprise safety categories are fully covered before approval.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US-5: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 Platform Team Member, I want batch evaluation and regression comparison features, so that I can compare multiple agent versions and detect quality regressions across runs.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  <a:r>
              <a:rPr lang="en-US" b="true" sz="2500" spc="-145">
                <a:solidFill>
                  <a:srgbClr val="101B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US-6:</a:t>
            </a:r>
            <a:r>
              <a:rPr lang="en-US" sz="2500" spc="-145">
                <a:solidFill>
                  <a:srgbClr val="101B40"/>
                </a:solidFill>
                <a:latin typeface="Roboto Mono"/>
                <a:ea typeface="Roboto Mono"/>
                <a:cs typeface="Roboto Mono"/>
                <a:sym typeface="Roboto Mono"/>
              </a:rPr>
              <a:t> As an AI Platform Owner, I want drift monitoring and signed audit alerts, so that I can monitor production model quality over time and respond to risk increases quickly.</a:t>
            </a:r>
          </a:p>
          <a:p>
            <a:pPr algn="just">
              <a:lnSpc>
                <a:spcPts val="3500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233" y="972360"/>
            <a:ext cx="73639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STORIES COMPLETED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14325" y="1831511"/>
            <a:ext cx="17199680" cy="1096874"/>
            <a:chOff x="0" y="0"/>
            <a:chExt cx="4529957" cy="2888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29957" cy="288889"/>
            </a:xfrm>
            <a:custGeom>
              <a:avLst/>
              <a:gdLst/>
              <a:ahLst/>
              <a:cxnLst/>
              <a:rect r="r" b="b" t="t" l="l"/>
              <a:pathLst>
                <a:path h="288889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88889"/>
                  </a:lnTo>
                  <a:lnTo>
                    <a:pt x="0" y="288889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29957" cy="336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US-1: 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Application Developer, I want to connect and validate AI agents through the platform, so that I can confirm they are ready for evaluation.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4325" y="3176035"/>
            <a:ext cx="17199680" cy="1404243"/>
            <a:chOff x="0" y="0"/>
            <a:chExt cx="4529957" cy="3698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29957" cy="369842"/>
            </a:xfrm>
            <a:custGeom>
              <a:avLst/>
              <a:gdLst/>
              <a:ahLst/>
              <a:cxnLst/>
              <a:rect r="r" b="b" t="t" l="l"/>
              <a:pathLst>
                <a:path h="369842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369842"/>
                  </a:lnTo>
                  <a:lnTo>
                    <a:pt x="0" y="369842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29957" cy="41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US-2: 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Evaluation Operator, I want to run configurable scenario-based evaluations from the dashboard, so that I can identify safety, reliability, hallucination, PII, prompt injection, and tool-abuse risks before deployment.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4325" y="4827929"/>
            <a:ext cx="17199680" cy="975618"/>
            <a:chOff x="0" y="0"/>
            <a:chExt cx="4529957" cy="2569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9957" cy="256953"/>
            </a:xfrm>
            <a:custGeom>
              <a:avLst/>
              <a:gdLst/>
              <a:ahLst/>
              <a:cxnLst/>
              <a:rect r="r" b="b" t="t" l="l"/>
              <a:pathLst>
                <a:path h="256953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56953"/>
                  </a:lnTo>
                  <a:lnTo>
                    <a:pt x="0" y="256953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529957" cy="304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US-3: 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Enterprise AI Safety and Compliance Engineer, I want audit-ready release-gate decisions, so that I can determine whether an agent is safe for production deployment.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4325" y="6127397"/>
            <a:ext cx="17199680" cy="1024499"/>
            <a:chOff x="0" y="0"/>
            <a:chExt cx="4529957" cy="269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29957" cy="269827"/>
            </a:xfrm>
            <a:custGeom>
              <a:avLst/>
              <a:gdLst/>
              <a:ahLst/>
              <a:cxnLst/>
              <a:rect r="r" b="b" t="t" l="l"/>
              <a:pathLst>
                <a:path h="269827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69827"/>
                  </a:lnTo>
                  <a:lnTo>
                    <a:pt x="0" y="269827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29957" cy="31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US-4:</a:t>
              </a:r>
              <a:r>
                <a:rPr lang="en-US" sz="2451" spc="4" b="true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 Compliance Engineer, I want threat-model coverage checks for release evaluations, so that I can verify required safety categories before approval.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4325" y="7399546"/>
            <a:ext cx="17199680" cy="1000059"/>
            <a:chOff x="0" y="0"/>
            <a:chExt cx="4529957" cy="2633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29957" cy="263390"/>
            </a:xfrm>
            <a:custGeom>
              <a:avLst/>
              <a:gdLst/>
              <a:ahLst/>
              <a:cxnLst/>
              <a:rect r="r" b="b" t="t" l="l"/>
              <a:pathLst>
                <a:path h="263390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63390"/>
                  </a:lnTo>
                  <a:lnTo>
                    <a:pt x="0" y="263390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529957" cy="311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US-5: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 Platform Team Member, I want batch evaluation and regression comparison, so that I can compare agent versions across runs.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4325" y="8647254"/>
            <a:ext cx="17199680" cy="1000059"/>
            <a:chOff x="0" y="0"/>
            <a:chExt cx="4529957" cy="2633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29957" cy="263390"/>
            </a:xfrm>
            <a:custGeom>
              <a:avLst/>
              <a:gdLst/>
              <a:ahLst/>
              <a:cxnLst/>
              <a:rect r="r" b="b" t="t" l="l"/>
              <a:pathLst>
                <a:path h="263390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63390"/>
                  </a:lnTo>
                  <a:lnTo>
                    <a:pt x="0" y="263390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529957" cy="311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31"/>
                </a:lnSpc>
              </a:pPr>
              <a:r>
                <a:rPr lang="en-US" sz="2451" spc="4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US-6:</a:t>
              </a:r>
              <a:r>
                <a:rPr lang="en-US" sz="2451" spc="4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As an AI Platform Owner, I want drift monitoring and signed audit alerts, so that I can monitor production model quality over time and respond to risk increases quickly.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4325" y="971269"/>
            <a:ext cx="15053634" cy="196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STORIES NOT COMPLETED </a:t>
            </a:r>
          </a:p>
          <a:p>
            <a:pPr algn="l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</a:t>
            </a:r>
          </a:p>
          <a:p>
            <a:pPr algn="l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ENHANCEMENTS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5782" y="4816290"/>
            <a:ext cx="17199680" cy="769532"/>
            <a:chOff x="0" y="0"/>
            <a:chExt cx="4529957" cy="2026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29957" cy="202675"/>
            </a:xfrm>
            <a:custGeom>
              <a:avLst/>
              <a:gdLst/>
              <a:ahLst/>
              <a:cxnLst/>
              <a:rect r="r" b="b" t="t" l="l"/>
              <a:pathLst>
                <a:path h="202675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02675"/>
                  </a:lnTo>
                  <a:lnTo>
                    <a:pt x="0" y="202675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529957" cy="259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 spc="6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Deeper regression and cross-run comparison analytics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5782" y="6245447"/>
            <a:ext cx="17199680" cy="769532"/>
            <a:chOff x="0" y="0"/>
            <a:chExt cx="4529957" cy="202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29957" cy="202675"/>
            </a:xfrm>
            <a:custGeom>
              <a:avLst/>
              <a:gdLst/>
              <a:ahLst/>
              <a:cxnLst/>
              <a:rect r="r" b="b" t="t" l="l"/>
              <a:pathLst>
                <a:path h="202675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02675"/>
                  </a:lnTo>
                  <a:lnTo>
                    <a:pt x="0" y="202675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529957" cy="259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 spc="6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Broader adversarial and domain-specific scenario coverage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4160" y="3387134"/>
            <a:ext cx="17199680" cy="769532"/>
            <a:chOff x="0" y="0"/>
            <a:chExt cx="4529957" cy="202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9957" cy="202675"/>
            </a:xfrm>
            <a:custGeom>
              <a:avLst/>
              <a:gdLst/>
              <a:ahLst/>
              <a:cxnLst/>
              <a:rect r="r" b="b" t="t" l="l"/>
              <a:pathLst>
                <a:path h="202675" w="4529957">
                  <a:moveTo>
                    <a:pt x="0" y="0"/>
                  </a:moveTo>
                  <a:lnTo>
                    <a:pt x="4529957" y="0"/>
                  </a:lnTo>
                  <a:lnTo>
                    <a:pt x="4529957" y="202675"/>
                  </a:lnTo>
                  <a:lnTo>
                    <a:pt x="0" y="202675"/>
                  </a:ln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529957" cy="259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00"/>
                </a:lnSpc>
              </a:pPr>
              <a:r>
                <a:rPr lang="en-US" sz="3000" spc="6" b="true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Enhanced evaluation monitoring, retry, and cancellation controls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2233" y="972360"/>
            <a:ext cx="7363955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 spc="-324">
                <a:solidFill>
                  <a:srgbClr val="101B4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5467" y="1781308"/>
          <a:ext cx="15658264" cy="7138183"/>
        </p:xfrm>
        <a:graphic>
          <a:graphicData uri="http://schemas.openxmlformats.org/drawingml/2006/table">
            <a:tbl>
              <a:tblPr/>
              <a:tblGrid>
                <a:gridCol w="3131653"/>
                <a:gridCol w="3131653"/>
                <a:gridCol w="3131653"/>
                <a:gridCol w="3131653"/>
                <a:gridCol w="3131653"/>
              </a:tblGrid>
              <a:tr h="9223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FFFFF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Test Case ID</a:t>
                      </a: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5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Test Case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5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b="true" sz="1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INPUT / TEST DATA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5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Expected Result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524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Status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5240"/>
                    </a:solidFill>
                  </a:tcPr>
                </a:tc>
              </a:tr>
              <a:tr h="9604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AEL-TC-02</a:t>
                      </a: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RAG Service /agent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{"query":"What does this knowledge base contain?"}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Returns HTTP 200 with answer, context_snippets, and metadata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2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Scenario Loader - Full Catalog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scenario_definitions directory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Loads all valid YAML scenarios; current catalog contains 101 scenarios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A1C1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4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HTTP Agent Adapter - Nested Response Path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response_path=data.output.text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Extracts nested response text correctly from custom HTTP agent output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A1C1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2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Release Gate - Clean Report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safety_score=100, failed_critical=0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Release gate returns GO / passed decision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2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AEL-TC-26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Release Gate - Threshold Failure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safety_score=50, failed_critical=1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Release gate returns BLOCK decision with threshold violations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A1C1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82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AEL-TC-35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Tool Environment - Policy Deny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Denied filesystem/tool operation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79"/>
                        </a:lnSpc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Unsafe tool call is blocked with policy_decision=deny</a:t>
                      </a:r>
                    </a:p>
                    <a:p>
                      <a:pPr algn="l">
                        <a:lnSpc>
                          <a:spcPts val="16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1A1C1F"/>
                          </a:solidFill>
                          <a:latin typeface="Roboto Mono Bold"/>
                          <a:ea typeface="Roboto Mono Bold"/>
                          <a:cs typeface="Roboto Mono Bold"/>
                          <a:sym typeface="Roboto Mono Bold"/>
                        </a:rPr>
                        <a:t>Pass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cover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41301" y="206563"/>
            <a:ext cx="14301953" cy="1141359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708835"/>
            <a:ext cx="1045725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METRICS- BURNTDOWN CHART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503" y="708835"/>
            <a:ext cx="542210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VELOCITY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570066" y="1831202"/>
            <a:ext cx="9806357" cy="8732949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483" y="637715"/>
            <a:ext cx="11896990" cy="95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HISTORICAL VELOCITY (AVG)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777763" y="1864772"/>
            <a:ext cx="10120564" cy="8485826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5256896" y="6463101"/>
            <a:ext cx="2929841" cy="3408789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211228" y="1810450"/>
            <a:ext cx="17975508" cy="2396951"/>
            <a:chOff x="0" y="0"/>
            <a:chExt cx="4734290" cy="631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34290" cy="631296"/>
            </a:xfrm>
            <a:custGeom>
              <a:avLst/>
              <a:gdLst/>
              <a:ahLst/>
              <a:cxnLst/>
              <a:rect r="r" b="b" t="t" l="l"/>
              <a:pathLst>
                <a:path h="631296" w="4734290">
                  <a:moveTo>
                    <a:pt x="21965" y="0"/>
                  </a:moveTo>
                  <a:lnTo>
                    <a:pt x="4712325" y="0"/>
                  </a:lnTo>
                  <a:cubicBezTo>
                    <a:pt x="4724456" y="0"/>
                    <a:pt x="4734290" y="9834"/>
                    <a:pt x="4734290" y="21965"/>
                  </a:cubicBezTo>
                  <a:lnTo>
                    <a:pt x="4734290" y="609330"/>
                  </a:lnTo>
                  <a:cubicBezTo>
                    <a:pt x="4734290" y="621461"/>
                    <a:pt x="4724456" y="631296"/>
                    <a:pt x="4712325" y="631296"/>
                  </a:cubicBezTo>
                  <a:lnTo>
                    <a:pt x="21965" y="631296"/>
                  </a:lnTo>
                  <a:cubicBezTo>
                    <a:pt x="9834" y="631296"/>
                    <a:pt x="0" y="621461"/>
                    <a:pt x="0" y="609330"/>
                  </a:cubicBezTo>
                  <a:lnTo>
                    <a:pt x="0" y="21965"/>
                  </a:lnTo>
                  <a:cubicBezTo>
                    <a:pt x="0" y="9834"/>
                    <a:pt x="9834" y="0"/>
                    <a:pt x="21965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734290" cy="688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sz="3029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WHAT WENT WELL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Completed an end-to-end AI agent evaluation platform with dashboard, sandbox, and reporting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Successfully integrated agent onboarding, scenario execution, release gates, and evidence workflows</a:t>
              </a:r>
            </a:p>
            <a:p>
              <a:pPr algn="l" marL="474979" indent="-237490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Expand</a:t>
              </a: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ed the system beyond MVP with batch comparison, threat coverage, drift monitoring, and policy features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1228" y="708835"/>
            <a:ext cx="539435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RETROSPECTIVE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1228" y="4559825"/>
            <a:ext cx="17678112" cy="2332703"/>
            <a:chOff x="0" y="0"/>
            <a:chExt cx="4655964" cy="6143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55963" cy="614375"/>
            </a:xfrm>
            <a:custGeom>
              <a:avLst/>
              <a:gdLst/>
              <a:ahLst/>
              <a:cxnLst/>
              <a:rect r="r" b="b" t="t" l="l"/>
              <a:pathLst>
                <a:path h="614375" w="4655963">
                  <a:moveTo>
                    <a:pt x="22335" y="0"/>
                  </a:moveTo>
                  <a:lnTo>
                    <a:pt x="4633629" y="0"/>
                  </a:lnTo>
                  <a:cubicBezTo>
                    <a:pt x="4639552" y="0"/>
                    <a:pt x="4645233" y="2353"/>
                    <a:pt x="4649422" y="6542"/>
                  </a:cubicBezTo>
                  <a:cubicBezTo>
                    <a:pt x="4653611" y="10730"/>
                    <a:pt x="4655963" y="16411"/>
                    <a:pt x="4655963" y="22335"/>
                  </a:cubicBezTo>
                  <a:lnTo>
                    <a:pt x="4655963" y="592040"/>
                  </a:lnTo>
                  <a:cubicBezTo>
                    <a:pt x="4655963" y="597963"/>
                    <a:pt x="4653611" y="603644"/>
                    <a:pt x="4649422" y="607833"/>
                  </a:cubicBezTo>
                  <a:cubicBezTo>
                    <a:pt x="4645233" y="612021"/>
                    <a:pt x="4639552" y="614375"/>
                    <a:pt x="4633629" y="614375"/>
                  </a:cubicBezTo>
                  <a:lnTo>
                    <a:pt x="22335" y="614375"/>
                  </a:lnTo>
                  <a:cubicBezTo>
                    <a:pt x="16411" y="614375"/>
                    <a:pt x="10730" y="612021"/>
                    <a:pt x="6542" y="607833"/>
                  </a:cubicBezTo>
                  <a:cubicBezTo>
                    <a:pt x="2353" y="603644"/>
                    <a:pt x="0" y="597963"/>
                    <a:pt x="0" y="592040"/>
                  </a:cubicBezTo>
                  <a:lnTo>
                    <a:pt x="0" y="22335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5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655964" cy="671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sz="3029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WHAT NEEDS IMPROVEMENT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Improve long-running evaluation</a:t>
              </a:r>
              <a:r>
                <a:rPr lang="en-US" b="true" sz="2199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monitoring, retry handling, and cancellation controls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Strengthen regression analysis and cross-run comparison usability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6E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Continue expanding adversarial and domain-specific scenario coverage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1228" y="7242153"/>
            <a:ext cx="15461190" cy="2117855"/>
            <a:chOff x="0" y="0"/>
            <a:chExt cx="4072083" cy="5577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72083" cy="557789"/>
            </a:xfrm>
            <a:custGeom>
              <a:avLst/>
              <a:gdLst/>
              <a:ahLst/>
              <a:cxnLst/>
              <a:rect r="r" b="b" t="t" l="l"/>
              <a:pathLst>
                <a:path h="557789" w="4072083">
                  <a:moveTo>
                    <a:pt x="25537" y="0"/>
                  </a:moveTo>
                  <a:lnTo>
                    <a:pt x="4046546" y="0"/>
                  </a:lnTo>
                  <a:cubicBezTo>
                    <a:pt x="4053319" y="0"/>
                    <a:pt x="4059814" y="2691"/>
                    <a:pt x="4064603" y="7480"/>
                  </a:cubicBezTo>
                  <a:cubicBezTo>
                    <a:pt x="4069393" y="12269"/>
                    <a:pt x="4072083" y="18764"/>
                    <a:pt x="4072083" y="25537"/>
                  </a:cubicBezTo>
                  <a:lnTo>
                    <a:pt x="4072083" y="532252"/>
                  </a:lnTo>
                  <a:cubicBezTo>
                    <a:pt x="4072083" y="546356"/>
                    <a:pt x="4060650" y="557789"/>
                    <a:pt x="4046546" y="557789"/>
                  </a:cubicBezTo>
                  <a:lnTo>
                    <a:pt x="25537" y="557789"/>
                  </a:lnTo>
                  <a:cubicBezTo>
                    <a:pt x="18764" y="557789"/>
                    <a:pt x="12269" y="555098"/>
                    <a:pt x="7480" y="550309"/>
                  </a:cubicBezTo>
                  <a:cubicBezTo>
                    <a:pt x="2691" y="545520"/>
                    <a:pt x="0" y="539025"/>
                    <a:pt x="0" y="532252"/>
                  </a:cubicBezTo>
                  <a:lnTo>
                    <a:pt x="0" y="25537"/>
                  </a:lnTo>
                  <a:cubicBezTo>
                    <a:pt x="0" y="18764"/>
                    <a:pt x="2691" y="12269"/>
                    <a:pt x="7480" y="7480"/>
                  </a:cubicBezTo>
                  <a:cubicBezTo>
                    <a:pt x="12269" y="2691"/>
                    <a:pt x="18764" y="0"/>
                    <a:pt x="25537" y="0"/>
                  </a:cubicBezTo>
                  <a:close/>
                </a:path>
              </a:pathLst>
            </a:custGeom>
            <a:solidFill>
              <a:srgbClr val="735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072083" cy="614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41"/>
                </a:lnSpc>
              </a:pPr>
              <a:r>
                <a:rPr lang="en-US" sz="3029" b="true">
                  <a:solidFill>
                    <a:srgbClr val="FEEDAA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NEXT STEPS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Further enhance monitoring, retry, and cancellation workflows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Expand adversarial and domain-specific scenario libraries</a:t>
              </a:r>
            </a:p>
            <a:p>
              <a:pPr algn="l" marL="474979" indent="-237490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99">
                  <a:solidFill>
                    <a:srgbClr val="FDFCE9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Continue improving regression, drift, and cross-run comparison capabilities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11244" y="1833770"/>
            <a:ext cx="12617799" cy="8259802"/>
          </a:xfrm>
          <a:custGeom>
            <a:avLst/>
            <a:gdLst/>
            <a:ahLst/>
            <a:cxnLst/>
            <a:rect r="r" b="b" t="t" l="l"/>
            <a:pathLst>
              <a:path h="8259802" w="12617799">
                <a:moveTo>
                  <a:pt x="0" y="0"/>
                </a:moveTo>
                <a:lnTo>
                  <a:pt x="12617799" y="0"/>
                </a:lnTo>
                <a:lnTo>
                  <a:pt x="12617799" y="8259802"/>
                </a:lnTo>
                <a:lnTo>
                  <a:pt x="0" y="8259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0" t="-3121" r="-277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7233" y="1661970"/>
            <a:ext cx="10838687" cy="8362554"/>
          </a:xfrm>
          <a:custGeom>
            <a:avLst/>
            <a:gdLst/>
            <a:ahLst/>
            <a:cxnLst/>
            <a:rect r="r" b="b" t="t" l="l"/>
            <a:pathLst>
              <a:path h="8362554" w="10838687">
                <a:moveTo>
                  <a:pt x="0" y="0"/>
                </a:moveTo>
                <a:lnTo>
                  <a:pt x="10838686" y="0"/>
                </a:lnTo>
                <a:lnTo>
                  <a:pt x="10838686" y="8362555"/>
                </a:lnTo>
                <a:lnTo>
                  <a:pt x="0" y="836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36" t="0" r="-656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8254" y="1896328"/>
            <a:ext cx="9981779" cy="8019229"/>
          </a:xfrm>
          <a:custGeom>
            <a:avLst/>
            <a:gdLst/>
            <a:ahLst/>
            <a:cxnLst/>
            <a:rect r="r" b="b" t="t" l="l"/>
            <a:pathLst>
              <a:path h="8019229" w="9981779">
                <a:moveTo>
                  <a:pt x="0" y="0"/>
                </a:moveTo>
                <a:lnTo>
                  <a:pt x="9981779" y="0"/>
                </a:lnTo>
                <a:lnTo>
                  <a:pt x="9981779" y="8019229"/>
                </a:lnTo>
                <a:lnTo>
                  <a:pt x="0" y="8019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4" t="0" r="-923" b="-657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61182" y="1910671"/>
            <a:ext cx="11657978" cy="8157783"/>
          </a:xfrm>
          <a:custGeom>
            <a:avLst/>
            <a:gdLst/>
            <a:ahLst/>
            <a:cxnLst/>
            <a:rect r="r" b="b" t="t" l="l"/>
            <a:pathLst>
              <a:path h="8157783" w="11657978">
                <a:moveTo>
                  <a:pt x="0" y="0"/>
                </a:moveTo>
                <a:lnTo>
                  <a:pt x="11657978" y="0"/>
                </a:lnTo>
                <a:lnTo>
                  <a:pt x="11657978" y="8157783"/>
                </a:lnTo>
                <a:lnTo>
                  <a:pt x="0" y="815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541" r="0" b="-1032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2760" y="1958065"/>
            <a:ext cx="11969564" cy="7780216"/>
          </a:xfrm>
          <a:custGeom>
            <a:avLst/>
            <a:gdLst/>
            <a:ahLst/>
            <a:cxnLst/>
            <a:rect r="r" b="b" t="t" l="l"/>
            <a:pathLst>
              <a:path h="7780216" w="11969564">
                <a:moveTo>
                  <a:pt x="0" y="0"/>
                </a:moveTo>
                <a:lnTo>
                  <a:pt x="11969564" y="0"/>
                </a:lnTo>
                <a:lnTo>
                  <a:pt x="11969564" y="7780216"/>
                </a:lnTo>
                <a:lnTo>
                  <a:pt x="0" y="7780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25565" y="1661970"/>
            <a:ext cx="10267048" cy="8105711"/>
          </a:xfrm>
          <a:custGeom>
            <a:avLst/>
            <a:gdLst/>
            <a:ahLst/>
            <a:cxnLst/>
            <a:rect r="r" b="b" t="t" l="l"/>
            <a:pathLst>
              <a:path h="8105711" w="10267048">
                <a:moveTo>
                  <a:pt x="0" y="0"/>
                </a:moveTo>
                <a:lnTo>
                  <a:pt x="10267049" y="0"/>
                </a:lnTo>
                <a:lnTo>
                  <a:pt x="10267049" y="8105711"/>
                </a:lnTo>
                <a:lnTo>
                  <a:pt x="0" y="8105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54" r="-3851" b="-20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SCREENSHOT</a:t>
            </a:r>
          </a:p>
        </p:txBody>
      </p:sp>
    </p:spTree>
  </p:cSld>
  <p:clrMapOvr>
    <a:masterClrMapping/>
  </p:clrMapOvr>
  <p:transition spd="slow">
    <p:cover dir="l"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8028" y="2850701"/>
            <a:ext cx="3071944" cy="3061670"/>
          </a:xfrm>
          <a:custGeom>
            <a:avLst/>
            <a:gdLst/>
            <a:ahLst/>
            <a:cxnLst/>
            <a:rect r="r" b="b" t="t" l="l"/>
            <a:pathLst>
              <a:path h="3061670" w="3071944">
                <a:moveTo>
                  <a:pt x="0" y="0"/>
                </a:moveTo>
                <a:lnTo>
                  <a:pt x="3071944" y="0"/>
                </a:lnTo>
                <a:lnTo>
                  <a:pt x="3071944" y="3061670"/>
                </a:lnTo>
                <a:lnTo>
                  <a:pt x="0" y="3061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3358" y="708835"/>
            <a:ext cx="425149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LINK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09108" y="6408112"/>
            <a:ext cx="12985924" cy="67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1"/>
              </a:lnSpc>
              <a:spcBef>
                <a:spcPct val="0"/>
              </a:spcBef>
            </a:pPr>
            <a:r>
              <a:rPr lang="en-US" b="true" sz="3929" spc="-227">
                <a:solidFill>
                  <a:srgbClr val="73524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https://github.com/tejakusireddy/agent-eval-lab </a:t>
            </a:r>
          </a:p>
        </p:txBody>
      </p:sp>
    </p:spTree>
  </p:cSld>
  <p:clrMapOvr>
    <a:masterClrMapping/>
  </p:clrMapOvr>
  <p:transition spd="slow">
    <p:cover dir="l"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8835"/>
            <a:ext cx="91440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-32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 APPLICATION 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59343" y="4444304"/>
            <a:ext cx="918848" cy="56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2"/>
              </a:lnSpc>
              <a:spcBef>
                <a:spcPct val="0"/>
              </a:spcBef>
            </a:pPr>
            <a:r>
              <a:rPr lang="en-US" b="true" sz="3337" spc="-193" u="sng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  <a:hlinkClick r:id="rId3" tooltip="https://drive.google.com/file/d/1D5hkEcYOP5mH3fA4hltOLhUpprOavDvI/view?usp=sharing"/>
              </a:rPr>
              <a:t>PLAY</a:t>
            </a:r>
          </a:p>
        </p:txBody>
      </p:sp>
    </p:spTree>
  </p:cSld>
  <p:clrMapOvr>
    <a:masterClrMapping/>
  </p:clrMapOvr>
  <p:transition spd="slow">
    <p:cover dir="l"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2962" y="680895"/>
            <a:ext cx="952500" cy="981075"/>
          </a:xfrm>
          <a:custGeom>
            <a:avLst/>
            <a:gdLst/>
            <a:ahLst/>
            <a:cxnLst/>
            <a:rect r="r" b="b" t="t" l="l"/>
            <a:pathLst>
              <a:path h="981075" w="952500">
                <a:moveTo>
                  <a:pt x="0" y="0"/>
                </a:moveTo>
                <a:lnTo>
                  <a:pt x="952500" y="0"/>
                </a:lnTo>
                <a:lnTo>
                  <a:pt x="9525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588" t="-9512" r="-57387" b="-26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6951" y="4332703"/>
            <a:ext cx="6262539" cy="145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45"/>
              </a:lnSpc>
              <a:spcBef>
                <a:spcPct val="0"/>
              </a:spcBef>
            </a:pPr>
            <a:r>
              <a:rPr lang="en-US" b="true" sz="8532" spc="-49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DAGahGtIp_U</dc:identifier>
  <dcterms:modified xsi:type="dcterms:W3CDTF">2011-08-01T06:04:30Z</dcterms:modified>
  <cp:revision>1</cp:revision>
  <dc:title>Templates &amp; Apps</dc:title>
</cp:coreProperties>
</file>