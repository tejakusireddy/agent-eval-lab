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21"/>
  </p:notesMasterIdLst>
  <p:handoutMasterIdLst>
    <p:handoutMasterId r:id="rId22"/>
  </p:handoutMasterIdLst>
  <p:sldIdLst>
    <p:sldId id="290" r:id="rId5"/>
    <p:sldId id="289" r:id="rId6"/>
    <p:sldId id="276" r:id="rId7"/>
    <p:sldId id="283" r:id="rId8"/>
    <p:sldId id="288" r:id="rId9"/>
    <p:sldId id="293" r:id="rId10"/>
    <p:sldId id="294" r:id="rId11"/>
    <p:sldId id="295" r:id="rId12"/>
    <p:sldId id="257" r:id="rId13"/>
    <p:sldId id="264" r:id="rId14"/>
    <p:sldId id="292" r:id="rId15"/>
    <p:sldId id="263" r:id="rId16"/>
    <p:sldId id="268" r:id="rId17"/>
    <p:sldId id="266" r:id="rId18"/>
    <p:sldId id="267" r:id="rId19"/>
    <p:sldId id="26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B9C803-6964-9EFB-64CE-2B592F40A002}" v="478" dt="2026-02-18T04:26:31.774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4694" autoAdjust="0"/>
  </p:normalViewPr>
  <p:slideViewPr>
    <p:cSldViewPr snapToGrid="0">
      <p:cViewPr varScale="1">
        <p:scale>
          <a:sx n="78" d="100"/>
          <a:sy n="78" d="100"/>
        </p:scale>
        <p:origin x="108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80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0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5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4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6702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7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606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18350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133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1171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481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28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73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737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785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137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7" r:id="rId19"/>
    <p:sldLayoutId id="2147483688" r:id="rId20"/>
    <p:sldLayoutId id="2147483689" r:id="rId21"/>
    <p:sldLayoutId id="2147483690" r:id="rId22"/>
    <p:sldLayoutId id="214748369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23C9-0DDA-C0A7-7FAF-49492CB76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0543" y="1897625"/>
            <a:ext cx="9144000" cy="1651819"/>
          </a:xfrm>
        </p:spPr>
        <p:txBody>
          <a:bodyPr>
            <a:normAutofit fontScale="90000"/>
          </a:bodyPr>
          <a:lstStyle/>
          <a:p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Evaluation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35E58-26E3-83A3-0F39-1C99154A9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8207"/>
            <a:ext cx="9144000" cy="131405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334060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ptos Display"/>
                <a:ea typeface="Calibri"/>
                <a:cs typeface="Calibri"/>
              </a:rPr>
              <a:t> </a:t>
            </a:r>
            <a:r>
              <a:rPr lang="en-US" sz="4000" b="1" i="0" dirty="0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  </a:t>
            </a:r>
            <a:r>
              <a:rPr lang="en-US" sz="4000" b="1" i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AGENDA</a:t>
            </a:r>
            <a:br>
              <a:rPr lang="en-US" dirty="0">
                <a:latin typeface="Aptos Display"/>
                <a:ea typeface="Calibri"/>
                <a:cs typeface="Calibri"/>
              </a:rPr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7E29F-3F0C-7038-2CB3-A5BA312A11EA}"/>
              </a:ext>
            </a:extLst>
          </p:cNvPr>
          <p:cNvSpPr txBox="1"/>
          <p:nvPr/>
        </p:nvSpPr>
        <p:spPr>
          <a:xfrm>
            <a:off x="1016000" y="1115121"/>
            <a:ext cx="5265852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Project Introduction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Project Description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Personas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Technologies &amp; Algorithms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Team Roles &amp; Working Agreement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Sprint Plan &amp; Schedule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Retrospective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3671"/>
            <a:ext cx="9137805" cy="325645"/>
          </a:xfrm>
          <a:noFill/>
        </p:spPr>
        <p:txBody>
          <a:bodyPr anchor="b"/>
          <a:lstStyle/>
          <a:p>
            <a:r>
              <a:rPr lang="en-US" sz="4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 Statement</a:t>
            </a:r>
            <a:endParaRPr lang="en-US" sz="40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8C97E-5EA3-17E3-DD41-D72EDD4ED195}"/>
              </a:ext>
            </a:extLst>
          </p:cNvPr>
          <p:cNvSpPr txBox="1"/>
          <p:nvPr/>
        </p:nvSpPr>
        <p:spPr>
          <a:xfrm>
            <a:off x="743618" y="1206353"/>
            <a:ext cx="6641155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agents such as large language models (LLMs), Retrieval-Augmented Generation (RAG) systems, and conversational assistants are increasingly being deployed in real-world applications like customer support, healthcare, education, and enterprise decision-making.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these AI systems often face serious challenges, including: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Unsafe or harmful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to jailbreak and prompt injection attacks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Hallucinated or incorrect outputs in RAG-based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consistent reliability and behavioral evaluation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most AI evaluation processes are manual, inconsistent, and difficult to scale, making it hard for developers and organizations to ensure AI safety and robustness before deployment.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automated, systematic, and extensible framework that can evaluate and red-team AI agents across safety, reliability, and behavioral scenarios, while providing clear scoring and actionable reporting.</a:t>
            </a:r>
          </a:p>
          <a:p>
            <a:pPr algn="l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954DED-2380-E6EE-7F19-9BF98B469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773" y="1643316"/>
            <a:ext cx="4807227" cy="427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542407"/>
          </a:xfrm>
          <a:noFill/>
        </p:spPr>
        <p:txBody>
          <a:bodyPr>
            <a:noAutofit/>
          </a:bodyPr>
          <a:lstStyle/>
          <a:p>
            <a:r>
              <a:rPr lang="en-US" sz="32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Project Description</a:t>
            </a:r>
            <a:endParaRPr lang="en-US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9355" y="1366684"/>
            <a:ext cx="9708566" cy="5179305"/>
          </a:xfrm>
          <a:noFill/>
        </p:spPr>
        <p:txBody>
          <a:bodyPr anchor="t"/>
          <a:lstStyle/>
          <a:p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Agent Evaluation Lab is a production-grade framework that: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Automatically tests AI agents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Detects safety violations and jailbreak attacks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Evaluates reliability and hallucinations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Generates PASS/FAIL reports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Supports: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OpenAI models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RAG systems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Custom AI services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This is an enterprise-ready evaluation platform</a:t>
            </a:r>
            <a:r>
              <a:rPr lang="en-US" sz="2100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1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865" y="1847431"/>
            <a:ext cx="7066935" cy="3688130"/>
          </a:xfrm>
          <a:noFill/>
        </p:spPr>
        <p:txBody>
          <a:bodyPr anchor="ctr"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Sreenitha Rayapuraju – System Architecture &amp; Evaluation Engine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Teja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Kusireddy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Backend Development &amp; OpenAI/RAG Adapter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Koushika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Chappidi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Scenario Creation &amp; Automated Testing (YAML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Veera Sai Akshitha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Punyamanthula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Reporting System &amp; Dashboard Visualization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Harshitha Reddy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Mannemala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DevOps, CI/CD Pipeline &amp; Documentation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602FC8-8F61-3EA8-A8BF-F8E45B0A141E}"/>
              </a:ext>
            </a:extLst>
          </p:cNvPr>
          <p:cNvSpPr txBox="1"/>
          <p:nvPr/>
        </p:nvSpPr>
        <p:spPr>
          <a:xfrm>
            <a:off x="5117170" y="346926"/>
            <a:ext cx="488175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Team Member Roles &amp;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328C-8BBC-D840-59A9-7F0B3982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07141"/>
          </a:xfrm>
        </p:spPr>
        <p:txBody>
          <a:bodyPr>
            <a:normAutofit fontScale="90000"/>
          </a:bodyPr>
          <a:lstStyle/>
          <a:p>
            <a:r>
              <a:rPr lang="en-US" sz="4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44FBB-53E6-6E04-D6C1-163744750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56852"/>
            <a:ext cx="9906000" cy="467712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1: AI Application Developer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Alex Johnson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Machine Learning Engineer / AI Developer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Builds AI-powered chatbots and assistants using OpenAI APIs.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AI agent behaves correctly before deployment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safety and reliability automatically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jailbreak or prompt injection vulnerabilities early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Points: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is slow and inconsistent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track failures across multiple scenarios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structured evaluation results for debugging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Agent Evaluation Lab Helps: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automated scenario-based testing with clear PASS/FAIL scoring and detailed reports.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80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73AE8-D490-544A-8006-50704BE2C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727587"/>
            <a:ext cx="9906000" cy="530639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2: Enterprise AI Safety &amp; Compliance Engineer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Kate Sharma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AI Safety Specialist / Compliance Officer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Responsible for ensuring AI systems meet enterprise safety and ethical standards.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unsafe or harmful AI outputs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compliance with organizational policies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audit-ready safety evaluation reports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Points: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validate AI safety across many use cases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standardized red-teaming tools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clear documentation of risks and failures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Agent Evaluation Lab Helps: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red-team safety scenarios and produces professional reports in Markdown/HTML/JSON.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92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2EC1D-0CFF-8341-A5F5-7BDA72762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884903"/>
            <a:ext cx="9906000" cy="51490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3: RAG System Engineer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Anthony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Software Engineer (RAG &amp; Search Systems)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Develops Retrieval-Augmented Generation (RAG) applications for enterprise knowledge assistants.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responses stay grounded in retrieved documents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hallucinations and missing-context failures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reliability of enterprise AI assistants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Points: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systems often hallucinate when context is incomplete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evaluate retrieval + generation quality together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automated reliability checks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Agent Evaluation Lab Helps: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RAG-specific scenarios such as missing-context tests and hallucination detection.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527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117" y="185195"/>
            <a:ext cx="6938236" cy="780484"/>
          </a:xfrm>
          <a:noFill/>
        </p:spPr>
        <p:txBody>
          <a:bodyPr/>
          <a:lstStyle/>
          <a:p>
            <a:r>
              <a:rPr lang="en-US" sz="4000" b="1" i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Technologies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DC902-0E37-8E5D-CB87-EB1AE8EA002D}"/>
              </a:ext>
            </a:extLst>
          </p:cNvPr>
          <p:cNvSpPr txBox="1"/>
          <p:nvPr/>
        </p:nvSpPr>
        <p:spPr>
          <a:xfrm>
            <a:off x="6484094" y="1274564"/>
            <a:ext cx="4271535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Ruff for linting</a:t>
            </a:r>
          </a:p>
          <a:p>
            <a:pPr marL="285750" indent="-285750">
              <a:buFont typeface="Arial,Sans-Serif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Markdown / HTML /JSON reporting</a:t>
            </a:r>
          </a:p>
          <a:p>
            <a:pPr marL="285750" indent="-285750">
              <a:buFont typeface="Arial"/>
              <a:buChar char="•"/>
            </a:pPr>
            <a:endParaRPr lang="en-US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endParaRPr lang="en-US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Optional Future Tools: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Docker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FastAPI</a:t>
            </a: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for RAG demo</a:t>
            </a:r>
          </a:p>
          <a:p>
            <a:pPr algn="l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6EDBB4B-8CCF-E532-F9F7-A2F2DB94C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4783" y="1450895"/>
            <a:ext cx="5460036" cy="424829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Technologies Used</a:t>
            </a:r>
            <a:endParaRPr lang="en-US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Python 3.11</a:t>
            </a:r>
          </a:p>
          <a:p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OpenAI API</a:t>
            </a:r>
          </a:p>
          <a:p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YAML Scenario Files</a:t>
            </a:r>
          </a:p>
          <a:p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GitHub Actions (CI/CD)</a:t>
            </a:r>
          </a:p>
          <a:p>
            <a:r>
              <a:rPr lang="en-US" sz="32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PyTest</a:t>
            </a: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for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718934"/>
          </a:xfrm>
          <a:noFill/>
        </p:spPr>
        <p:txBody>
          <a:bodyPr/>
          <a:lstStyle/>
          <a:p>
            <a:r>
              <a:rPr lang="en-US" sz="4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Algorithms</a:t>
            </a:r>
            <a:endParaRPr lang="en-US" sz="4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9072" y="1496441"/>
            <a:ext cx="5394339" cy="4828158"/>
          </a:xfr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Algorithms / Methods Used</a:t>
            </a:r>
            <a:endParaRPr lang="en-US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Rule-based evaluation predicates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Prompt-injection detection scenarios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Reliability scoring metrics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Hallucination detection checks</a:t>
            </a:r>
          </a:p>
          <a:p>
            <a:endParaRPr lang="en-US" sz="32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solidFill>
            <a:schemeClr val="bg1"/>
          </a:solidFill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Future additions: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ML-based evaluation scoring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Reinforcement Learning evaluation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Statistical confidence scoring</a:t>
            </a:r>
          </a:p>
          <a:p>
            <a:pPr marL="285750" indent="-285750">
              <a:buFont typeface="Arial"/>
            </a:pPr>
            <a:endParaRPr lang="en-US" sz="3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6EF5-F7B9-412F-AC83-7B6D2E23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89272"/>
            <a:ext cx="9906000" cy="823451"/>
          </a:xfrm>
        </p:spPr>
        <p:txBody>
          <a:bodyPr>
            <a:normAutofit/>
          </a:bodyPr>
          <a:lstStyle/>
          <a:p>
            <a:r>
              <a:rPr lang="en-US" sz="3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System Architecture 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67AD5-3EF8-6B8D-3CE2-D08F9D83C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012723"/>
            <a:ext cx="8836742" cy="5021255"/>
          </a:xfrm>
        </p:spPr>
        <p:txBody>
          <a:bodyPr>
            <a:normAutofit fontScale="55000" lnSpcReduction="20000"/>
          </a:bodyPr>
          <a:lstStyle/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Evaluation Lab uses a modular pipeline to test AI agents using structured scenarios and automated scoring.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 command starts an evaluation run</a:t>
            </a:r>
          </a:p>
          <a:p>
            <a:pPr lvl="1"/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config.yaml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selects provider/model + runtime settings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YAML scenario files define prompts, tags, retries, and PASS/FAIL criteria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Execution: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Loader reads YAML scenarios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Runner executes scenarios (supports retries + concurrency)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Evaluator applies predicate-based checks → PASS / FAIL_MINOR / FAIL_CRITICAL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reasons are logged for unsafe or incorrect behavior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Adapters (Agent Connectivity):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Adapter → evaluates OpenAI models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Agent Adapter → evaluates deployed agents (RAG/custom APIs)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Markdown report (human-readable summary)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report (visual/interactive)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report (CI/CD automation + metrics)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009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690563"/>
          </a:xfrm>
          <a:noFill/>
        </p:spPr>
        <p:txBody>
          <a:bodyPr/>
          <a:lstStyle/>
          <a:p>
            <a:r>
              <a:rPr lang="en-US" sz="3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Sprint 0 Completed Tasks</a:t>
            </a:r>
            <a:endParaRPr lang="en-US" sz="30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5312" y="1392591"/>
            <a:ext cx="11185815" cy="4067492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During Sprint 0, our team completed: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Finalized project idea and scope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Created GitHub repository and enabled Wiki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Defined project architecture and workflow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Selected tools and programming stack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Prepared Sprint 0 documentation pages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Drafted team working agreement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Planned Sprint 1 development tasks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Sprint 0 establishes the foundation for implementation</a:t>
            </a:r>
            <a:r>
              <a:rPr lang="en-US" sz="22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30405" cy="817564"/>
          </a:xfrm>
          <a:noFill/>
        </p:spPr>
        <p:txBody>
          <a:bodyPr>
            <a:noAutofit/>
          </a:bodyPr>
          <a:lstStyle/>
          <a:p>
            <a:r>
              <a:rPr lang="en-US" sz="3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Team Working Agreement</a:t>
            </a:r>
            <a:r>
              <a:rPr lang="en-US" sz="3000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endParaRPr lang="en-US" sz="3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4559"/>
            <a:ext cx="10633907" cy="3986246"/>
          </a:xfr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Our team agreed on: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Weekly meetings every Thursday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Communication via WhatsApp and GitHub Issues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Tasks must be committed at least 24 hours before deadlines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Equal contribution from all members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 last-minute work dumping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Each member is responsible for completing assigned tasks independently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97195"/>
            <a:ext cx="9906000" cy="464934"/>
          </a:xfrm>
          <a:noFill/>
        </p:spPr>
        <p:txBody>
          <a:bodyPr/>
          <a:lstStyle/>
          <a:p>
            <a:r>
              <a:rPr lang="en-US" sz="4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Sprint 1 Plan</a:t>
            </a:r>
            <a:endParaRPr lang="en-US" sz="4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85684" y="1494281"/>
            <a:ext cx="10714155" cy="4558735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 Sprint 1, we will focus on implementation.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Build the core scenario execution engine.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Add initial safety and jailbreak evaluation scenarios.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Run evaluations on sample AI agents. 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Generate the first automated reports. 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Begin Sprint burndown tracking with completed tasks. 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Prepare for Sprint 1 review presentation.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591934"/>
          </a:xfrm>
          <a:noFill/>
        </p:spPr>
        <p:txBody>
          <a:bodyPr/>
          <a:lstStyle/>
          <a:p>
            <a:r>
              <a:rPr lang="en-US" sz="3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Expected Deliverables</a:t>
            </a:r>
            <a:endParaRPr lang="en-US" sz="3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99078-93D6-76B0-2456-A1C72FC0FC7B}"/>
              </a:ext>
            </a:extLst>
          </p:cNvPr>
          <p:cNvSpPr txBox="1"/>
          <p:nvPr/>
        </p:nvSpPr>
        <p:spPr>
          <a:xfrm>
            <a:off x="1213555" y="1397000"/>
            <a:ext cx="977900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By the end of the project, we aim to deliver: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Fully working AI evaluation framework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Scenario library for safety and reliability testing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Report generation system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CI/CD workflow for continuous evaluation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Complete GitHub documentation and wiki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Final presentation and demonstration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FA49195-69EB-4E39-A68A-C232E2D03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23">
            <a:extLst>
              <a:ext uri="{FF2B5EF4-FFF2-40B4-BE49-F238E27FC236}">
                <a16:creationId xmlns:a16="http://schemas.microsoft.com/office/drawing/2014/main" id="{9A92F9DC-743D-47E7-A019-EE09540F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3789" y="6628"/>
            <a:ext cx="4518211" cy="685799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5882" h="6857998">
                <a:moveTo>
                  <a:pt x="2702091" y="0"/>
                </a:moveTo>
                <a:lnTo>
                  <a:pt x="6125882" y="0"/>
                </a:lnTo>
                <a:lnTo>
                  <a:pt x="6125882" y="6857998"/>
                </a:lnTo>
                <a:lnTo>
                  <a:pt x="0" y="6846045"/>
                </a:lnTo>
                <a:lnTo>
                  <a:pt x="270209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94383" y="2172011"/>
            <a:ext cx="7009948" cy="20120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THANK YOU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3280B82-CD55-43FD-92C4-F05E2A8D1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5898776" cy="135068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0A4F542-D561-4AFB-8321-EB900BAF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1613647" cy="642738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4D9248B-0006-4BFE-8110-40C16E45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173896"/>
            <a:ext cx="3094383" cy="36841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593BB5-7AFA-4C8F-AECA-CE733B1F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038522" y="0"/>
            <a:ext cx="2153476" cy="44461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521483B-CE28-412B-9C71-9BE081E9D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277412" y="-1"/>
            <a:ext cx="3914588" cy="209774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C9F4738-DD27-44BE-98C6-AB0B2296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46383" y="5811078"/>
            <a:ext cx="4678017" cy="104692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4C10EA2-1BD8-4267-AA7D-AB8CCA53C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898777" y="5307496"/>
            <a:ext cx="6293223" cy="15505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AngleLinesVTI</Template>
  <TotalTime>516</TotalTime>
  <Words>1008</Words>
  <Application>Microsoft Office PowerPoint</Application>
  <PresentationFormat>Widescreen</PresentationFormat>
  <Paragraphs>162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Arial,Sans-Serif</vt:lpstr>
      <vt:lpstr>Calibri</vt:lpstr>
      <vt:lpstr>Times New Roman</vt:lpstr>
      <vt:lpstr>Univers Condensed Light</vt:lpstr>
      <vt:lpstr>Walbaum Display Light</vt:lpstr>
      <vt:lpstr>AngleLinesVTI</vt:lpstr>
      <vt:lpstr>Agent Evaluation Lab</vt:lpstr>
      <vt:lpstr>   AGENDA     </vt:lpstr>
      <vt:lpstr>Problem Statement</vt:lpstr>
      <vt:lpstr>Project Description</vt:lpstr>
      <vt:lpstr>AGENDA</vt:lpstr>
      <vt:lpstr>Personas</vt:lpstr>
      <vt:lpstr>PowerPoint Presentation</vt:lpstr>
      <vt:lpstr>PowerPoint Presentation</vt:lpstr>
      <vt:lpstr>Technologies</vt:lpstr>
      <vt:lpstr>Algorithms</vt:lpstr>
      <vt:lpstr>System Architecture </vt:lpstr>
      <vt:lpstr>Sprint 0 Completed Tasks</vt:lpstr>
      <vt:lpstr>Team Working Agreement </vt:lpstr>
      <vt:lpstr>Sprint 1 Plan</vt:lpstr>
      <vt:lpstr>Expected Deliverables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Rayapuraju, Sreenitha</cp:lastModifiedBy>
  <cp:revision>255</cp:revision>
  <dcterms:created xsi:type="dcterms:W3CDTF">2026-02-18T03:33:30Z</dcterms:created>
  <dcterms:modified xsi:type="dcterms:W3CDTF">2026-02-19T00:28:50Z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