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5"/>
  </p:notesMasterIdLst>
  <p:handoutMasterIdLst>
    <p:handoutMasterId r:id="rId36"/>
  </p:handoutMasterIdLst>
  <p:sldIdLst>
    <p:sldId id="290" r:id="rId5"/>
    <p:sldId id="289" r:id="rId6"/>
    <p:sldId id="288" r:id="rId7"/>
    <p:sldId id="296" r:id="rId8"/>
    <p:sldId id="276" r:id="rId9"/>
    <p:sldId id="283" r:id="rId10"/>
    <p:sldId id="293" r:id="rId11"/>
    <p:sldId id="294" r:id="rId12"/>
    <p:sldId id="295" r:id="rId13"/>
    <p:sldId id="297" r:id="rId14"/>
    <p:sldId id="298" r:id="rId15"/>
    <p:sldId id="257" r:id="rId16"/>
    <p:sldId id="299" r:id="rId17"/>
    <p:sldId id="300" r:id="rId18"/>
    <p:sldId id="301" r:id="rId19"/>
    <p:sldId id="302" r:id="rId20"/>
    <p:sldId id="303" r:id="rId21"/>
    <p:sldId id="304" r:id="rId22"/>
    <p:sldId id="306" r:id="rId23"/>
    <p:sldId id="308" r:id="rId24"/>
    <p:sldId id="309" r:id="rId25"/>
    <p:sldId id="310" r:id="rId26"/>
    <p:sldId id="311" r:id="rId27"/>
    <p:sldId id="312" r:id="rId28"/>
    <p:sldId id="313" r:id="rId29"/>
    <p:sldId id="314" r:id="rId30"/>
    <p:sldId id="315" r:id="rId31"/>
    <p:sldId id="316" r:id="rId32"/>
    <p:sldId id="317"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9C803-6964-9EFB-64CE-2B592F40A002}" v="478" dt="2026-02-18T04:26:31.77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p:cViewPr varScale="1">
        <p:scale>
          <a:sx n="78" d="100"/>
          <a:sy n="78" d="100"/>
        </p:scale>
        <p:origin x="1080"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F06DC8-74AF-409E-A5A9-EA8CC801348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8C3AF7-9DEC-4C97-9DE2-24205CDF6563}">
      <dgm:prSet/>
      <dgm:spPr/>
      <dgm:t>
        <a:bodyPr/>
        <a:lstStyle/>
        <a:p>
          <a:pPr>
            <a:lnSpc>
              <a:spcPct val="100000"/>
            </a:lnSpc>
          </a:pPr>
          <a:r>
            <a:rPr lang="en-US"/>
            <a:t>The objective of this meeting is to understand how we are progressing towards the project milestones, align on the current development status, address any blockers, and coordinate the next steps for the Agent Evaluation Lab project.</a:t>
          </a:r>
        </a:p>
      </dgm:t>
    </dgm:pt>
    <dgm:pt modelId="{869BE05A-1B10-4222-BE14-A64FAB4442AD}" type="parTrans" cxnId="{452E4A47-C179-43A9-9650-A59EF57F47B6}">
      <dgm:prSet/>
      <dgm:spPr/>
      <dgm:t>
        <a:bodyPr/>
        <a:lstStyle/>
        <a:p>
          <a:endParaRPr lang="en-US"/>
        </a:p>
      </dgm:t>
    </dgm:pt>
    <dgm:pt modelId="{F06CB293-7C68-4783-B39D-CB5BC76BAB21}" type="sibTrans" cxnId="{452E4A47-C179-43A9-9650-A59EF57F47B6}">
      <dgm:prSet/>
      <dgm:spPr/>
      <dgm:t>
        <a:bodyPr/>
        <a:lstStyle/>
        <a:p>
          <a:endParaRPr lang="en-US"/>
        </a:p>
      </dgm:t>
    </dgm:pt>
    <dgm:pt modelId="{0B82A84F-4F61-43D6-A68B-70C7808AB167}">
      <dgm:prSet/>
      <dgm:spPr/>
      <dgm:t>
        <a:bodyPr/>
        <a:lstStyle/>
        <a:p>
          <a:pPr>
            <a:lnSpc>
              <a:spcPct val="100000"/>
            </a:lnSpc>
          </a:pPr>
          <a:r>
            <a:rPr lang="en-US"/>
            <a:t>• Discussion on timely submission of sprint deliverables and marking important deadlines. All key dates will be added to a shared calendar to ensure proper tracking.</a:t>
          </a:r>
        </a:p>
      </dgm:t>
    </dgm:pt>
    <dgm:pt modelId="{4C659010-792E-4F58-AE5E-78E75D6C44A0}" type="parTrans" cxnId="{29A54F57-DDD6-49F8-8B39-9F0F3114DFAC}">
      <dgm:prSet/>
      <dgm:spPr/>
      <dgm:t>
        <a:bodyPr/>
        <a:lstStyle/>
        <a:p>
          <a:endParaRPr lang="en-US"/>
        </a:p>
      </dgm:t>
    </dgm:pt>
    <dgm:pt modelId="{442DAD6A-C5FC-43CD-A3B3-4198E696E86F}" type="sibTrans" cxnId="{29A54F57-DDD6-49F8-8B39-9F0F3114DFAC}">
      <dgm:prSet/>
      <dgm:spPr/>
      <dgm:t>
        <a:bodyPr/>
        <a:lstStyle/>
        <a:p>
          <a:endParaRPr lang="en-US"/>
        </a:p>
      </dgm:t>
    </dgm:pt>
    <dgm:pt modelId="{3ED5D241-DB58-4FFB-9C34-379ED2482388}">
      <dgm:prSet/>
      <dgm:spPr/>
      <dgm:t>
        <a:bodyPr/>
        <a:lstStyle/>
        <a:p>
          <a:pPr>
            <a:lnSpc>
              <a:spcPct val="100000"/>
            </a:lnSpc>
          </a:pPr>
          <a:r>
            <a:rPr lang="en-US"/>
            <a:t>• Discussion on presentation topics and continuous updates to the project slides based on development progress and professor feedback.</a:t>
          </a:r>
        </a:p>
      </dgm:t>
    </dgm:pt>
    <dgm:pt modelId="{D8CA50C7-DBDE-4FAD-B03E-309FB02C04E5}" type="parTrans" cxnId="{F60B09A9-E517-4B99-A432-4C7DC3A8D451}">
      <dgm:prSet/>
      <dgm:spPr/>
      <dgm:t>
        <a:bodyPr/>
        <a:lstStyle/>
        <a:p>
          <a:endParaRPr lang="en-US"/>
        </a:p>
      </dgm:t>
    </dgm:pt>
    <dgm:pt modelId="{D753B5D1-5C23-401F-9B29-7175C4E2220E}" type="sibTrans" cxnId="{F60B09A9-E517-4B99-A432-4C7DC3A8D451}">
      <dgm:prSet/>
      <dgm:spPr/>
      <dgm:t>
        <a:bodyPr/>
        <a:lstStyle/>
        <a:p>
          <a:endParaRPr lang="en-US"/>
        </a:p>
      </dgm:t>
    </dgm:pt>
    <dgm:pt modelId="{D3EC0518-CEDA-43E8-B5EC-68F219E5CFA8}">
      <dgm:prSet/>
      <dgm:spPr/>
      <dgm:t>
        <a:bodyPr/>
        <a:lstStyle/>
        <a:p>
          <a:pPr>
            <a:lnSpc>
              <a:spcPct val="100000"/>
            </a:lnSpc>
          </a:pPr>
          <a:r>
            <a:rPr lang="en-US"/>
            <a:t>• Review and confirmation of client requirements by analyzing user personas and ensuring that the system addresses the needs of AI developers, AI safety engineers, and RAG system engineers.</a:t>
          </a:r>
        </a:p>
      </dgm:t>
    </dgm:pt>
    <dgm:pt modelId="{92E2CDFD-E777-4FAC-A2B2-86E1B4F08F84}" type="parTrans" cxnId="{B54DAE2F-8D52-4F31-BAFC-0D6F64602B75}">
      <dgm:prSet/>
      <dgm:spPr/>
      <dgm:t>
        <a:bodyPr/>
        <a:lstStyle/>
        <a:p>
          <a:endParaRPr lang="en-US"/>
        </a:p>
      </dgm:t>
    </dgm:pt>
    <dgm:pt modelId="{A9ACA4D9-BAD2-49E5-8C2D-3101EA99BB9D}" type="sibTrans" cxnId="{B54DAE2F-8D52-4F31-BAFC-0D6F64602B75}">
      <dgm:prSet/>
      <dgm:spPr/>
      <dgm:t>
        <a:bodyPr/>
        <a:lstStyle/>
        <a:p>
          <a:endParaRPr lang="en-US"/>
        </a:p>
      </dgm:t>
    </dgm:pt>
    <dgm:pt modelId="{324AC1C9-5F29-400B-93A2-8A01FC64CC30}">
      <dgm:prSet/>
      <dgm:spPr/>
      <dgm:t>
        <a:bodyPr/>
        <a:lstStyle/>
        <a:p>
          <a:pPr>
            <a:lnSpc>
              <a:spcPct val="100000"/>
            </a:lnSpc>
          </a:pPr>
          <a:r>
            <a:rPr lang="en-US"/>
            <a:t>• Discussion on potential risks and technical challenges related to AI evaluation scenarios, system integration, and deployment.</a:t>
          </a:r>
        </a:p>
      </dgm:t>
    </dgm:pt>
    <dgm:pt modelId="{3AEA4DAD-326C-4E2F-8875-0FD92E6F157A}" type="parTrans" cxnId="{CF78CEF8-7432-4CE2-9EFF-2D0FE7717CF1}">
      <dgm:prSet/>
      <dgm:spPr/>
      <dgm:t>
        <a:bodyPr/>
        <a:lstStyle/>
        <a:p>
          <a:endParaRPr lang="en-US"/>
        </a:p>
      </dgm:t>
    </dgm:pt>
    <dgm:pt modelId="{D0C5FD7C-10F1-4C86-9C92-1B2712899179}" type="sibTrans" cxnId="{CF78CEF8-7432-4CE2-9EFF-2D0FE7717CF1}">
      <dgm:prSet/>
      <dgm:spPr/>
      <dgm:t>
        <a:bodyPr/>
        <a:lstStyle/>
        <a:p>
          <a:endParaRPr lang="en-US"/>
        </a:p>
      </dgm:t>
    </dgm:pt>
    <dgm:pt modelId="{0848D510-D3E2-4467-8E34-E991C0332267}">
      <dgm:prSet/>
      <dgm:spPr/>
      <dgm:t>
        <a:bodyPr/>
        <a:lstStyle/>
        <a:p>
          <a:pPr>
            <a:lnSpc>
              <a:spcPct val="100000"/>
            </a:lnSpc>
          </a:pPr>
          <a:r>
            <a:rPr lang="en-US"/>
            <a:t>• Active participation, attendance, collaboration, and teamwork from all team members is essential to ensure successful completion of the project.</a:t>
          </a:r>
        </a:p>
      </dgm:t>
    </dgm:pt>
    <dgm:pt modelId="{010BF0DB-D4FC-4AB6-A875-B0BB833F9790}" type="parTrans" cxnId="{FCAE1E4E-CD98-4A85-921A-BF12E9ADE310}">
      <dgm:prSet/>
      <dgm:spPr/>
      <dgm:t>
        <a:bodyPr/>
        <a:lstStyle/>
        <a:p>
          <a:endParaRPr lang="en-US"/>
        </a:p>
      </dgm:t>
    </dgm:pt>
    <dgm:pt modelId="{A5467810-9953-4C01-A9A2-9B71B9788C86}" type="sibTrans" cxnId="{FCAE1E4E-CD98-4A85-921A-BF12E9ADE310}">
      <dgm:prSet/>
      <dgm:spPr/>
      <dgm:t>
        <a:bodyPr/>
        <a:lstStyle/>
        <a:p>
          <a:endParaRPr lang="en-US"/>
        </a:p>
      </dgm:t>
    </dgm:pt>
    <dgm:pt modelId="{B7BD777A-228B-4EC8-BC5A-9447EA89A4AA}" type="pres">
      <dgm:prSet presAssocID="{01F06DC8-74AF-409E-A5A9-EA8CC8013480}" presName="root" presStyleCnt="0">
        <dgm:presLayoutVars>
          <dgm:dir/>
          <dgm:resizeHandles val="exact"/>
        </dgm:presLayoutVars>
      </dgm:prSet>
      <dgm:spPr/>
    </dgm:pt>
    <dgm:pt modelId="{37E0DCFD-A99E-4955-BDBE-ED9E257CCEF0}" type="pres">
      <dgm:prSet presAssocID="{058C3AF7-9DEC-4C97-9DE2-24205CDF6563}" presName="compNode" presStyleCnt="0"/>
      <dgm:spPr/>
    </dgm:pt>
    <dgm:pt modelId="{FEAB638B-EB8D-44DC-8ABB-60DD3EC4FA13}" type="pres">
      <dgm:prSet presAssocID="{058C3AF7-9DEC-4C97-9DE2-24205CDF6563}" presName="bgRect" presStyleLbl="bgShp" presStyleIdx="0" presStyleCnt="6"/>
      <dgm:spPr/>
    </dgm:pt>
    <dgm:pt modelId="{F548DDD8-2C2E-40FE-AAFB-D436EBD8FFC5}" type="pres">
      <dgm:prSet presAssocID="{058C3AF7-9DEC-4C97-9DE2-24205CDF656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6BDDB03C-2D1C-4224-B741-605CCA2F4788}" type="pres">
      <dgm:prSet presAssocID="{058C3AF7-9DEC-4C97-9DE2-24205CDF6563}" presName="spaceRect" presStyleCnt="0"/>
      <dgm:spPr/>
    </dgm:pt>
    <dgm:pt modelId="{9C4134B7-3B78-41AD-858F-76E124A105AC}" type="pres">
      <dgm:prSet presAssocID="{058C3AF7-9DEC-4C97-9DE2-24205CDF6563}" presName="parTx" presStyleLbl="revTx" presStyleIdx="0" presStyleCnt="6">
        <dgm:presLayoutVars>
          <dgm:chMax val="0"/>
          <dgm:chPref val="0"/>
        </dgm:presLayoutVars>
      </dgm:prSet>
      <dgm:spPr/>
    </dgm:pt>
    <dgm:pt modelId="{072223F5-D446-4787-BB50-F064603BFFA7}" type="pres">
      <dgm:prSet presAssocID="{F06CB293-7C68-4783-B39D-CB5BC76BAB21}" presName="sibTrans" presStyleCnt="0"/>
      <dgm:spPr/>
    </dgm:pt>
    <dgm:pt modelId="{D5A79ED5-6D23-4F74-BE95-325DE757AD68}" type="pres">
      <dgm:prSet presAssocID="{0B82A84F-4F61-43D6-A68B-70C7808AB167}" presName="compNode" presStyleCnt="0"/>
      <dgm:spPr/>
    </dgm:pt>
    <dgm:pt modelId="{9231D786-8269-4E8E-9C8E-94BCF2E1009F}" type="pres">
      <dgm:prSet presAssocID="{0B82A84F-4F61-43D6-A68B-70C7808AB167}" presName="bgRect" presStyleLbl="bgShp" presStyleIdx="1" presStyleCnt="6"/>
      <dgm:spPr/>
    </dgm:pt>
    <dgm:pt modelId="{B14CC64F-FDD6-4742-8264-2D5DEAAD8EDD}" type="pres">
      <dgm:prSet presAssocID="{0B82A84F-4F61-43D6-A68B-70C7808AB16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thly calendar"/>
        </a:ext>
      </dgm:extLst>
    </dgm:pt>
    <dgm:pt modelId="{12A347D6-920E-4227-B8FD-B552D3F890B3}" type="pres">
      <dgm:prSet presAssocID="{0B82A84F-4F61-43D6-A68B-70C7808AB167}" presName="spaceRect" presStyleCnt="0"/>
      <dgm:spPr/>
    </dgm:pt>
    <dgm:pt modelId="{6B79B55C-6201-43FF-B841-14C0350D3FEC}" type="pres">
      <dgm:prSet presAssocID="{0B82A84F-4F61-43D6-A68B-70C7808AB167}" presName="parTx" presStyleLbl="revTx" presStyleIdx="1" presStyleCnt="6">
        <dgm:presLayoutVars>
          <dgm:chMax val="0"/>
          <dgm:chPref val="0"/>
        </dgm:presLayoutVars>
      </dgm:prSet>
      <dgm:spPr/>
    </dgm:pt>
    <dgm:pt modelId="{ACE628AA-3721-402C-9235-C5AD6C7FEFCD}" type="pres">
      <dgm:prSet presAssocID="{442DAD6A-C5FC-43CD-A3B3-4198E696E86F}" presName="sibTrans" presStyleCnt="0"/>
      <dgm:spPr/>
    </dgm:pt>
    <dgm:pt modelId="{A636FED8-FAAC-4B3D-A646-83B65C54ADD1}" type="pres">
      <dgm:prSet presAssocID="{3ED5D241-DB58-4FFB-9C34-379ED2482388}" presName="compNode" presStyleCnt="0"/>
      <dgm:spPr/>
    </dgm:pt>
    <dgm:pt modelId="{CABE946C-9FE5-4AB8-AE4F-C8700CD1E2B3}" type="pres">
      <dgm:prSet presAssocID="{3ED5D241-DB58-4FFB-9C34-379ED2482388}" presName="bgRect" presStyleLbl="bgShp" presStyleIdx="2" presStyleCnt="6"/>
      <dgm:spPr/>
    </dgm:pt>
    <dgm:pt modelId="{622DA2F2-EE70-4418-960C-799A1E942FD9}" type="pres">
      <dgm:prSet presAssocID="{3ED5D241-DB58-4FFB-9C34-379ED248238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acher"/>
        </a:ext>
      </dgm:extLst>
    </dgm:pt>
    <dgm:pt modelId="{81CCFA7D-0BB6-4530-99E3-E978C1271F75}" type="pres">
      <dgm:prSet presAssocID="{3ED5D241-DB58-4FFB-9C34-379ED2482388}" presName="spaceRect" presStyleCnt="0"/>
      <dgm:spPr/>
    </dgm:pt>
    <dgm:pt modelId="{40A7439F-13A1-4558-9DD6-BC419D2E48BF}" type="pres">
      <dgm:prSet presAssocID="{3ED5D241-DB58-4FFB-9C34-379ED2482388}" presName="parTx" presStyleLbl="revTx" presStyleIdx="2" presStyleCnt="6">
        <dgm:presLayoutVars>
          <dgm:chMax val="0"/>
          <dgm:chPref val="0"/>
        </dgm:presLayoutVars>
      </dgm:prSet>
      <dgm:spPr/>
    </dgm:pt>
    <dgm:pt modelId="{C6E638E4-B749-42B1-A71C-B9CEB5F7665F}" type="pres">
      <dgm:prSet presAssocID="{D753B5D1-5C23-401F-9B29-7175C4E2220E}" presName="sibTrans" presStyleCnt="0"/>
      <dgm:spPr/>
    </dgm:pt>
    <dgm:pt modelId="{59649F34-EECF-4353-89A6-C91C1AAA9150}" type="pres">
      <dgm:prSet presAssocID="{D3EC0518-CEDA-43E8-B5EC-68F219E5CFA8}" presName="compNode" presStyleCnt="0"/>
      <dgm:spPr/>
    </dgm:pt>
    <dgm:pt modelId="{F5F79985-5AC1-435E-BA4A-7C6AB146C6B2}" type="pres">
      <dgm:prSet presAssocID="{D3EC0518-CEDA-43E8-B5EC-68F219E5CFA8}" presName="bgRect" presStyleLbl="bgShp" presStyleIdx="3" presStyleCnt="6"/>
      <dgm:spPr/>
    </dgm:pt>
    <dgm:pt modelId="{64CB6BF6-CE20-4805-948C-5965F7338079}" type="pres">
      <dgm:prSet presAssocID="{D3EC0518-CEDA-43E8-B5EC-68F219E5CFA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obot"/>
        </a:ext>
      </dgm:extLst>
    </dgm:pt>
    <dgm:pt modelId="{B7CEE122-2B5B-4A83-B77A-042E8CDC2EE5}" type="pres">
      <dgm:prSet presAssocID="{D3EC0518-CEDA-43E8-B5EC-68F219E5CFA8}" presName="spaceRect" presStyleCnt="0"/>
      <dgm:spPr/>
    </dgm:pt>
    <dgm:pt modelId="{04C58D70-FBCB-400C-86C1-AE43185E3356}" type="pres">
      <dgm:prSet presAssocID="{D3EC0518-CEDA-43E8-B5EC-68F219E5CFA8}" presName="parTx" presStyleLbl="revTx" presStyleIdx="3" presStyleCnt="6">
        <dgm:presLayoutVars>
          <dgm:chMax val="0"/>
          <dgm:chPref val="0"/>
        </dgm:presLayoutVars>
      </dgm:prSet>
      <dgm:spPr/>
    </dgm:pt>
    <dgm:pt modelId="{9B8C0ABB-A0B5-4155-ABDE-87EE77C6165C}" type="pres">
      <dgm:prSet presAssocID="{A9ACA4D9-BAD2-49E5-8C2D-3101EA99BB9D}" presName="sibTrans" presStyleCnt="0"/>
      <dgm:spPr/>
    </dgm:pt>
    <dgm:pt modelId="{238C6182-94DA-4FEA-8DE2-44522DED48BC}" type="pres">
      <dgm:prSet presAssocID="{324AC1C9-5F29-400B-93A2-8A01FC64CC30}" presName="compNode" presStyleCnt="0"/>
      <dgm:spPr/>
    </dgm:pt>
    <dgm:pt modelId="{B687B990-81ED-4B29-A3FE-5497C172157E}" type="pres">
      <dgm:prSet presAssocID="{324AC1C9-5F29-400B-93A2-8A01FC64CC30}" presName="bgRect" presStyleLbl="bgShp" presStyleIdx="4" presStyleCnt="6"/>
      <dgm:spPr/>
    </dgm:pt>
    <dgm:pt modelId="{2961A1DB-DA36-4743-857E-DAA6C7FCEA97}" type="pres">
      <dgm:prSet presAssocID="{324AC1C9-5F29-400B-93A2-8A01FC64CC3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rogrammer"/>
        </a:ext>
      </dgm:extLst>
    </dgm:pt>
    <dgm:pt modelId="{00D184AB-C571-4EA8-BE97-F33DC9708C74}" type="pres">
      <dgm:prSet presAssocID="{324AC1C9-5F29-400B-93A2-8A01FC64CC30}" presName="spaceRect" presStyleCnt="0"/>
      <dgm:spPr/>
    </dgm:pt>
    <dgm:pt modelId="{7347A608-82EA-4DAE-B6DF-2BFAC51385A5}" type="pres">
      <dgm:prSet presAssocID="{324AC1C9-5F29-400B-93A2-8A01FC64CC30}" presName="parTx" presStyleLbl="revTx" presStyleIdx="4" presStyleCnt="6">
        <dgm:presLayoutVars>
          <dgm:chMax val="0"/>
          <dgm:chPref val="0"/>
        </dgm:presLayoutVars>
      </dgm:prSet>
      <dgm:spPr/>
    </dgm:pt>
    <dgm:pt modelId="{8D95A12D-CC22-4BAC-8E71-4434F9ECD431}" type="pres">
      <dgm:prSet presAssocID="{D0C5FD7C-10F1-4C86-9C92-1B2712899179}" presName="sibTrans" presStyleCnt="0"/>
      <dgm:spPr/>
    </dgm:pt>
    <dgm:pt modelId="{EFE94552-C87F-4255-93E9-FF9135951F3C}" type="pres">
      <dgm:prSet presAssocID="{0848D510-D3E2-4467-8E34-E991C0332267}" presName="compNode" presStyleCnt="0"/>
      <dgm:spPr/>
    </dgm:pt>
    <dgm:pt modelId="{9E586BEF-752B-4FB0-A59B-62161E00326D}" type="pres">
      <dgm:prSet presAssocID="{0848D510-D3E2-4467-8E34-E991C0332267}" presName="bgRect" presStyleLbl="bgShp" presStyleIdx="5" presStyleCnt="6"/>
      <dgm:spPr/>
    </dgm:pt>
    <dgm:pt modelId="{A159C4F1-91C0-4DE0-A9F5-E40095BBB3C1}" type="pres">
      <dgm:prSet presAssocID="{0848D510-D3E2-4467-8E34-E991C033226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s"/>
        </a:ext>
      </dgm:extLst>
    </dgm:pt>
    <dgm:pt modelId="{73D11C9D-0A00-4255-BC63-C6927FD5946E}" type="pres">
      <dgm:prSet presAssocID="{0848D510-D3E2-4467-8E34-E991C0332267}" presName="spaceRect" presStyleCnt="0"/>
      <dgm:spPr/>
    </dgm:pt>
    <dgm:pt modelId="{84601916-474A-46E5-A60C-908AE69BB63C}" type="pres">
      <dgm:prSet presAssocID="{0848D510-D3E2-4467-8E34-E991C0332267}" presName="parTx" presStyleLbl="revTx" presStyleIdx="5" presStyleCnt="6">
        <dgm:presLayoutVars>
          <dgm:chMax val="0"/>
          <dgm:chPref val="0"/>
        </dgm:presLayoutVars>
      </dgm:prSet>
      <dgm:spPr/>
    </dgm:pt>
  </dgm:ptLst>
  <dgm:cxnLst>
    <dgm:cxn modelId="{38F45B00-2645-4EFF-B71F-0AEA9568EF74}" type="presOf" srcId="{0848D510-D3E2-4467-8E34-E991C0332267}" destId="{84601916-474A-46E5-A60C-908AE69BB63C}" srcOrd="0" destOrd="0" presId="urn:microsoft.com/office/officeart/2018/2/layout/IconVerticalSolidList"/>
    <dgm:cxn modelId="{B54DAE2F-8D52-4F31-BAFC-0D6F64602B75}" srcId="{01F06DC8-74AF-409E-A5A9-EA8CC8013480}" destId="{D3EC0518-CEDA-43E8-B5EC-68F219E5CFA8}" srcOrd="3" destOrd="0" parTransId="{92E2CDFD-E777-4FAC-A2B2-86E1B4F08F84}" sibTransId="{A9ACA4D9-BAD2-49E5-8C2D-3101EA99BB9D}"/>
    <dgm:cxn modelId="{452E4A47-C179-43A9-9650-A59EF57F47B6}" srcId="{01F06DC8-74AF-409E-A5A9-EA8CC8013480}" destId="{058C3AF7-9DEC-4C97-9DE2-24205CDF6563}" srcOrd="0" destOrd="0" parTransId="{869BE05A-1B10-4222-BE14-A64FAB4442AD}" sibTransId="{F06CB293-7C68-4783-B39D-CB5BC76BAB21}"/>
    <dgm:cxn modelId="{FCAE1E4E-CD98-4A85-921A-BF12E9ADE310}" srcId="{01F06DC8-74AF-409E-A5A9-EA8CC8013480}" destId="{0848D510-D3E2-4467-8E34-E991C0332267}" srcOrd="5" destOrd="0" parTransId="{010BF0DB-D4FC-4AB6-A875-B0BB833F9790}" sibTransId="{A5467810-9953-4C01-A9A2-9B71B9788C86}"/>
    <dgm:cxn modelId="{93CE1173-A695-4DE7-8128-C9B661052235}" type="presOf" srcId="{058C3AF7-9DEC-4C97-9DE2-24205CDF6563}" destId="{9C4134B7-3B78-41AD-858F-76E124A105AC}" srcOrd="0" destOrd="0" presId="urn:microsoft.com/office/officeart/2018/2/layout/IconVerticalSolidList"/>
    <dgm:cxn modelId="{29A54F57-DDD6-49F8-8B39-9F0F3114DFAC}" srcId="{01F06DC8-74AF-409E-A5A9-EA8CC8013480}" destId="{0B82A84F-4F61-43D6-A68B-70C7808AB167}" srcOrd="1" destOrd="0" parTransId="{4C659010-792E-4F58-AE5E-78E75D6C44A0}" sibTransId="{442DAD6A-C5FC-43CD-A3B3-4198E696E86F}"/>
    <dgm:cxn modelId="{3D31327E-0F91-4BA9-8DE2-863780B249AF}" type="presOf" srcId="{324AC1C9-5F29-400B-93A2-8A01FC64CC30}" destId="{7347A608-82EA-4DAE-B6DF-2BFAC51385A5}" srcOrd="0" destOrd="0" presId="urn:microsoft.com/office/officeart/2018/2/layout/IconVerticalSolidList"/>
    <dgm:cxn modelId="{F60B09A9-E517-4B99-A432-4C7DC3A8D451}" srcId="{01F06DC8-74AF-409E-A5A9-EA8CC8013480}" destId="{3ED5D241-DB58-4FFB-9C34-379ED2482388}" srcOrd="2" destOrd="0" parTransId="{D8CA50C7-DBDE-4FAD-B03E-309FB02C04E5}" sibTransId="{D753B5D1-5C23-401F-9B29-7175C4E2220E}"/>
    <dgm:cxn modelId="{426357AE-8E43-40FC-A7F4-D31C67DBF277}" type="presOf" srcId="{3ED5D241-DB58-4FFB-9C34-379ED2482388}" destId="{40A7439F-13A1-4558-9DD6-BC419D2E48BF}" srcOrd="0" destOrd="0" presId="urn:microsoft.com/office/officeart/2018/2/layout/IconVerticalSolidList"/>
    <dgm:cxn modelId="{0DD39FB3-4A27-41ED-97B9-3C5ACC6918B4}" type="presOf" srcId="{01F06DC8-74AF-409E-A5A9-EA8CC8013480}" destId="{B7BD777A-228B-4EC8-BC5A-9447EA89A4AA}" srcOrd="0" destOrd="0" presId="urn:microsoft.com/office/officeart/2018/2/layout/IconVerticalSolidList"/>
    <dgm:cxn modelId="{825C7DB6-8660-4AFC-A8EC-04BA3A4BD7AE}" type="presOf" srcId="{D3EC0518-CEDA-43E8-B5EC-68F219E5CFA8}" destId="{04C58D70-FBCB-400C-86C1-AE43185E3356}" srcOrd="0" destOrd="0" presId="urn:microsoft.com/office/officeart/2018/2/layout/IconVerticalSolidList"/>
    <dgm:cxn modelId="{F9CD2CE1-9EF1-4A7D-8DA8-04C15B562B60}" type="presOf" srcId="{0B82A84F-4F61-43D6-A68B-70C7808AB167}" destId="{6B79B55C-6201-43FF-B841-14C0350D3FEC}" srcOrd="0" destOrd="0" presId="urn:microsoft.com/office/officeart/2018/2/layout/IconVerticalSolidList"/>
    <dgm:cxn modelId="{CF78CEF8-7432-4CE2-9EFF-2D0FE7717CF1}" srcId="{01F06DC8-74AF-409E-A5A9-EA8CC8013480}" destId="{324AC1C9-5F29-400B-93A2-8A01FC64CC30}" srcOrd="4" destOrd="0" parTransId="{3AEA4DAD-326C-4E2F-8875-0FD92E6F157A}" sibTransId="{D0C5FD7C-10F1-4C86-9C92-1B2712899179}"/>
    <dgm:cxn modelId="{8112D09B-CFB4-4FC2-A322-BAF6C9B9CA0A}" type="presParOf" srcId="{B7BD777A-228B-4EC8-BC5A-9447EA89A4AA}" destId="{37E0DCFD-A99E-4955-BDBE-ED9E257CCEF0}" srcOrd="0" destOrd="0" presId="urn:microsoft.com/office/officeart/2018/2/layout/IconVerticalSolidList"/>
    <dgm:cxn modelId="{BF19E6CB-7CA6-47EE-9348-7F62A38F0DAE}" type="presParOf" srcId="{37E0DCFD-A99E-4955-BDBE-ED9E257CCEF0}" destId="{FEAB638B-EB8D-44DC-8ABB-60DD3EC4FA13}" srcOrd="0" destOrd="0" presId="urn:microsoft.com/office/officeart/2018/2/layout/IconVerticalSolidList"/>
    <dgm:cxn modelId="{9507AD66-5EE4-448C-9C5E-175BDAA06014}" type="presParOf" srcId="{37E0DCFD-A99E-4955-BDBE-ED9E257CCEF0}" destId="{F548DDD8-2C2E-40FE-AAFB-D436EBD8FFC5}" srcOrd="1" destOrd="0" presId="urn:microsoft.com/office/officeart/2018/2/layout/IconVerticalSolidList"/>
    <dgm:cxn modelId="{CC87BB01-3D83-4DD0-B0EA-7814EB3632EE}" type="presParOf" srcId="{37E0DCFD-A99E-4955-BDBE-ED9E257CCEF0}" destId="{6BDDB03C-2D1C-4224-B741-605CCA2F4788}" srcOrd="2" destOrd="0" presId="urn:microsoft.com/office/officeart/2018/2/layout/IconVerticalSolidList"/>
    <dgm:cxn modelId="{81E90EC2-0D11-4718-8C00-40A3B2310AF4}" type="presParOf" srcId="{37E0DCFD-A99E-4955-BDBE-ED9E257CCEF0}" destId="{9C4134B7-3B78-41AD-858F-76E124A105AC}" srcOrd="3" destOrd="0" presId="urn:microsoft.com/office/officeart/2018/2/layout/IconVerticalSolidList"/>
    <dgm:cxn modelId="{78E91E3A-0D9D-4E15-9E39-037B23E37FFE}" type="presParOf" srcId="{B7BD777A-228B-4EC8-BC5A-9447EA89A4AA}" destId="{072223F5-D446-4787-BB50-F064603BFFA7}" srcOrd="1" destOrd="0" presId="urn:microsoft.com/office/officeart/2018/2/layout/IconVerticalSolidList"/>
    <dgm:cxn modelId="{77CD4794-48E6-4B40-A0E6-2A87D3B20F28}" type="presParOf" srcId="{B7BD777A-228B-4EC8-BC5A-9447EA89A4AA}" destId="{D5A79ED5-6D23-4F74-BE95-325DE757AD68}" srcOrd="2" destOrd="0" presId="urn:microsoft.com/office/officeart/2018/2/layout/IconVerticalSolidList"/>
    <dgm:cxn modelId="{89855CBC-58A4-49E7-9095-7D6B2CE898E5}" type="presParOf" srcId="{D5A79ED5-6D23-4F74-BE95-325DE757AD68}" destId="{9231D786-8269-4E8E-9C8E-94BCF2E1009F}" srcOrd="0" destOrd="0" presId="urn:microsoft.com/office/officeart/2018/2/layout/IconVerticalSolidList"/>
    <dgm:cxn modelId="{ADE5E576-879C-470A-811D-5F37C06AB97D}" type="presParOf" srcId="{D5A79ED5-6D23-4F74-BE95-325DE757AD68}" destId="{B14CC64F-FDD6-4742-8264-2D5DEAAD8EDD}" srcOrd="1" destOrd="0" presId="urn:microsoft.com/office/officeart/2018/2/layout/IconVerticalSolidList"/>
    <dgm:cxn modelId="{D01A6588-D490-4A6D-BB5A-1421167C20DE}" type="presParOf" srcId="{D5A79ED5-6D23-4F74-BE95-325DE757AD68}" destId="{12A347D6-920E-4227-B8FD-B552D3F890B3}" srcOrd="2" destOrd="0" presId="urn:microsoft.com/office/officeart/2018/2/layout/IconVerticalSolidList"/>
    <dgm:cxn modelId="{3E1E874B-4FB8-407C-B39D-D9C241416641}" type="presParOf" srcId="{D5A79ED5-6D23-4F74-BE95-325DE757AD68}" destId="{6B79B55C-6201-43FF-B841-14C0350D3FEC}" srcOrd="3" destOrd="0" presId="urn:microsoft.com/office/officeart/2018/2/layout/IconVerticalSolidList"/>
    <dgm:cxn modelId="{E131D75B-7B76-4CD6-8D7E-2DB79F37C29A}" type="presParOf" srcId="{B7BD777A-228B-4EC8-BC5A-9447EA89A4AA}" destId="{ACE628AA-3721-402C-9235-C5AD6C7FEFCD}" srcOrd="3" destOrd="0" presId="urn:microsoft.com/office/officeart/2018/2/layout/IconVerticalSolidList"/>
    <dgm:cxn modelId="{A076C7BD-5D07-490D-8B33-0A642DCC33EF}" type="presParOf" srcId="{B7BD777A-228B-4EC8-BC5A-9447EA89A4AA}" destId="{A636FED8-FAAC-4B3D-A646-83B65C54ADD1}" srcOrd="4" destOrd="0" presId="urn:microsoft.com/office/officeart/2018/2/layout/IconVerticalSolidList"/>
    <dgm:cxn modelId="{4E413977-516F-4FAC-8FEF-160A376F1ABF}" type="presParOf" srcId="{A636FED8-FAAC-4B3D-A646-83B65C54ADD1}" destId="{CABE946C-9FE5-4AB8-AE4F-C8700CD1E2B3}" srcOrd="0" destOrd="0" presId="urn:microsoft.com/office/officeart/2018/2/layout/IconVerticalSolidList"/>
    <dgm:cxn modelId="{CA33043F-0941-4B5E-8333-5E5E93327262}" type="presParOf" srcId="{A636FED8-FAAC-4B3D-A646-83B65C54ADD1}" destId="{622DA2F2-EE70-4418-960C-799A1E942FD9}" srcOrd="1" destOrd="0" presId="urn:microsoft.com/office/officeart/2018/2/layout/IconVerticalSolidList"/>
    <dgm:cxn modelId="{5E83BBEE-690B-4F97-BEF3-D65F9CA0A896}" type="presParOf" srcId="{A636FED8-FAAC-4B3D-A646-83B65C54ADD1}" destId="{81CCFA7D-0BB6-4530-99E3-E978C1271F75}" srcOrd="2" destOrd="0" presId="urn:microsoft.com/office/officeart/2018/2/layout/IconVerticalSolidList"/>
    <dgm:cxn modelId="{B683D861-463F-4E45-8BAF-6B7B8BC9C704}" type="presParOf" srcId="{A636FED8-FAAC-4B3D-A646-83B65C54ADD1}" destId="{40A7439F-13A1-4558-9DD6-BC419D2E48BF}" srcOrd="3" destOrd="0" presId="urn:microsoft.com/office/officeart/2018/2/layout/IconVerticalSolidList"/>
    <dgm:cxn modelId="{9820FCB9-F0A8-4A72-966E-07AA3749194A}" type="presParOf" srcId="{B7BD777A-228B-4EC8-BC5A-9447EA89A4AA}" destId="{C6E638E4-B749-42B1-A71C-B9CEB5F7665F}" srcOrd="5" destOrd="0" presId="urn:microsoft.com/office/officeart/2018/2/layout/IconVerticalSolidList"/>
    <dgm:cxn modelId="{D90DC212-2CDA-46E3-AA34-DC477B0C4802}" type="presParOf" srcId="{B7BD777A-228B-4EC8-BC5A-9447EA89A4AA}" destId="{59649F34-EECF-4353-89A6-C91C1AAA9150}" srcOrd="6" destOrd="0" presId="urn:microsoft.com/office/officeart/2018/2/layout/IconVerticalSolidList"/>
    <dgm:cxn modelId="{3B4A9267-3DFD-4130-9EAF-12FBE016A86C}" type="presParOf" srcId="{59649F34-EECF-4353-89A6-C91C1AAA9150}" destId="{F5F79985-5AC1-435E-BA4A-7C6AB146C6B2}" srcOrd="0" destOrd="0" presId="urn:microsoft.com/office/officeart/2018/2/layout/IconVerticalSolidList"/>
    <dgm:cxn modelId="{5AA72B16-3E97-4AD0-B56D-DCCFDA2D9FED}" type="presParOf" srcId="{59649F34-EECF-4353-89A6-C91C1AAA9150}" destId="{64CB6BF6-CE20-4805-948C-5965F7338079}" srcOrd="1" destOrd="0" presId="urn:microsoft.com/office/officeart/2018/2/layout/IconVerticalSolidList"/>
    <dgm:cxn modelId="{EC2A14FE-0394-4629-B800-9FCC6F2B1330}" type="presParOf" srcId="{59649F34-EECF-4353-89A6-C91C1AAA9150}" destId="{B7CEE122-2B5B-4A83-B77A-042E8CDC2EE5}" srcOrd="2" destOrd="0" presId="urn:microsoft.com/office/officeart/2018/2/layout/IconVerticalSolidList"/>
    <dgm:cxn modelId="{701386BB-5AE3-4683-92E4-351CFD7C284E}" type="presParOf" srcId="{59649F34-EECF-4353-89A6-C91C1AAA9150}" destId="{04C58D70-FBCB-400C-86C1-AE43185E3356}" srcOrd="3" destOrd="0" presId="urn:microsoft.com/office/officeart/2018/2/layout/IconVerticalSolidList"/>
    <dgm:cxn modelId="{537527DB-B4BD-43C7-8A5E-D69645DFCC88}" type="presParOf" srcId="{B7BD777A-228B-4EC8-BC5A-9447EA89A4AA}" destId="{9B8C0ABB-A0B5-4155-ABDE-87EE77C6165C}" srcOrd="7" destOrd="0" presId="urn:microsoft.com/office/officeart/2018/2/layout/IconVerticalSolidList"/>
    <dgm:cxn modelId="{D4756DA5-DEA4-4728-934F-6110FC35E721}" type="presParOf" srcId="{B7BD777A-228B-4EC8-BC5A-9447EA89A4AA}" destId="{238C6182-94DA-4FEA-8DE2-44522DED48BC}" srcOrd="8" destOrd="0" presId="urn:microsoft.com/office/officeart/2018/2/layout/IconVerticalSolidList"/>
    <dgm:cxn modelId="{CAC900A9-A5A6-4E34-BB29-68FB8B3CD42A}" type="presParOf" srcId="{238C6182-94DA-4FEA-8DE2-44522DED48BC}" destId="{B687B990-81ED-4B29-A3FE-5497C172157E}" srcOrd="0" destOrd="0" presId="urn:microsoft.com/office/officeart/2018/2/layout/IconVerticalSolidList"/>
    <dgm:cxn modelId="{2F303A55-97B1-4FF8-B2C5-21F5EB26A045}" type="presParOf" srcId="{238C6182-94DA-4FEA-8DE2-44522DED48BC}" destId="{2961A1DB-DA36-4743-857E-DAA6C7FCEA97}" srcOrd="1" destOrd="0" presId="urn:microsoft.com/office/officeart/2018/2/layout/IconVerticalSolidList"/>
    <dgm:cxn modelId="{B36DCEC7-17CF-4B77-9474-ED76C2DC73DA}" type="presParOf" srcId="{238C6182-94DA-4FEA-8DE2-44522DED48BC}" destId="{00D184AB-C571-4EA8-BE97-F33DC9708C74}" srcOrd="2" destOrd="0" presId="urn:microsoft.com/office/officeart/2018/2/layout/IconVerticalSolidList"/>
    <dgm:cxn modelId="{B1743A86-8F2C-40F2-B9CA-91B15A3BFC91}" type="presParOf" srcId="{238C6182-94DA-4FEA-8DE2-44522DED48BC}" destId="{7347A608-82EA-4DAE-B6DF-2BFAC51385A5}" srcOrd="3" destOrd="0" presId="urn:microsoft.com/office/officeart/2018/2/layout/IconVerticalSolidList"/>
    <dgm:cxn modelId="{C9156879-6C4D-4FF9-A95A-FAC1D23D9917}" type="presParOf" srcId="{B7BD777A-228B-4EC8-BC5A-9447EA89A4AA}" destId="{8D95A12D-CC22-4BAC-8E71-4434F9ECD431}" srcOrd="9" destOrd="0" presId="urn:microsoft.com/office/officeart/2018/2/layout/IconVerticalSolidList"/>
    <dgm:cxn modelId="{C1F491E9-431A-473C-A334-8CA6CE78D84A}" type="presParOf" srcId="{B7BD777A-228B-4EC8-BC5A-9447EA89A4AA}" destId="{EFE94552-C87F-4255-93E9-FF9135951F3C}" srcOrd="10" destOrd="0" presId="urn:microsoft.com/office/officeart/2018/2/layout/IconVerticalSolidList"/>
    <dgm:cxn modelId="{7C2251F7-32BA-4D1D-987B-EE90C29BBD6C}" type="presParOf" srcId="{EFE94552-C87F-4255-93E9-FF9135951F3C}" destId="{9E586BEF-752B-4FB0-A59B-62161E00326D}" srcOrd="0" destOrd="0" presId="urn:microsoft.com/office/officeart/2018/2/layout/IconVerticalSolidList"/>
    <dgm:cxn modelId="{8C9B9878-85C4-437B-9479-D7475E736FDC}" type="presParOf" srcId="{EFE94552-C87F-4255-93E9-FF9135951F3C}" destId="{A159C4F1-91C0-4DE0-A9F5-E40095BBB3C1}" srcOrd="1" destOrd="0" presId="urn:microsoft.com/office/officeart/2018/2/layout/IconVerticalSolidList"/>
    <dgm:cxn modelId="{AD1053E9-3D09-4490-A809-3D667994AD32}" type="presParOf" srcId="{EFE94552-C87F-4255-93E9-FF9135951F3C}" destId="{73D11C9D-0A00-4255-BC63-C6927FD5946E}" srcOrd="2" destOrd="0" presId="urn:microsoft.com/office/officeart/2018/2/layout/IconVerticalSolidList"/>
    <dgm:cxn modelId="{6904C16D-460D-4009-B5B7-955E4DB230A4}" type="presParOf" srcId="{EFE94552-C87F-4255-93E9-FF9135951F3C}" destId="{84601916-474A-46E5-A60C-908AE69BB63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FC06D8-89CC-4020-835F-A346708CF58D}"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E01E9EB8-33F0-4C83-8348-2DBF2DFC73C6}">
      <dgm:prSet/>
      <dgm:spPr/>
      <dgm:t>
        <a:bodyPr/>
        <a:lstStyle/>
        <a:p>
          <a:r>
            <a:rPr lang="en-US"/>
            <a:t>Post the Deliverable 1 presentation, we received feedback from the professor to add more evaluation scenarios to improve the coverage of AI safety and reliability testing. We expanded the scenario set to include additional prompt injection, jailbreak, hallucination detection, and RAG reliability test cases to strengthen the evaluation framework.</a:t>
          </a:r>
        </a:p>
      </dgm:t>
    </dgm:pt>
    <dgm:pt modelId="{2C5F7084-EA9F-489D-A56A-A6BA578D526F}" type="parTrans" cxnId="{CBFCA17E-8920-4E45-BEB9-9741A33BDFAE}">
      <dgm:prSet/>
      <dgm:spPr/>
      <dgm:t>
        <a:bodyPr/>
        <a:lstStyle/>
        <a:p>
          <a:endParaRPr lang="en-US"/>
        </a:p>
      </dgm:t>
    </dgm:pt>
    <dgm:pt modelId="{AF7BDD13-3962-40F0-9F32-1C4821074192}" type="sibTrans" cxnId="{CBFCA17E-8920-4E45-BEB9-9741A33BDFAE}">
      <dgm:prSet/>
      <dgm:spPr/>
      <dgm:t>
        <a:bodyPr/>
        <a:lstStyle/>
        <a:p>
          <a:endParaRPr lang="en-US"/>
        </a:p>
      </dgm:t>
    </dgm:pt>
    <dgm:pt modelId="{820F9C49-698C-4446-ACF4-786575419B3A}">
      <dgm:prSet/>
      <dgm:spPr/>
      <dgm:t>
        <a:bodyPr/>
        <a:lstStyle/>
        <a:p>
          <a:r>
            <a:rPr lang="en-US" dirty="0"/>
            <a:t>The professor also suggested exploring improvements for the future by enabling the system to support dynamic addition of scenarios, allowing new test cases to be added without modifying the core framework.</a:t>
          </a:r>
        </a:p>
      </dgm:t>
    </dgm:pt>
    <dgm:pt modelId="{0CA47769-CFA7-4A0E-BEC4-38A7A1CEBC3D}" type="parTrans" cxnId="{37517994-DBEA-456D-B1CC-8A2CC6629253}">
      <dgm:prSet/>
      <dgm:spPr/>
      <dgm:t>
        <a:bodyPr/>
        <a:lstStyle/>
        <a:p>
          <a:endParaRPr lang="en-US"/>
        </a:p>
      </dgm:t>
    </dgm:pt>
    <dgm:pt modelId="{2C408347-F3D5-43BA-BEF1-B5F650490C57}" type="sibTrans" cxnId="{37517994-DBEA-456D-B1CC-8A2CC6629253}">
      <dgm:prSet/>
      <dgm:spPr/>
      <dgm:t>
        <a:bodyPr/>
        <a:lstStyle/>
        <a:p>
          <a:endParaRPr lang="en-US"/>
        </a:p>
      </dgm:t>
    </dgm:pt>
    <dgm:pt modelId="{FFC5AC1F-8133-4A54-9A19-CA48789BB751}">
      <dgm:prSet/>
      <dgm:spPr/>
      <dgm:t>
        <a:bodyPr/>
        <a:lstStyle/>
        <a:p>
          <a:r>
            <a:rPr lang="en-US" dirty="0"/>
            <a:t>The Retrospective is included as per the feedback given.</a:t>
          </a:r>
        </a:p>
      </dgm:t>
    </dgm:pt>
    <dgm:pt modelId="{8CF5D677-DC1E-4EB5-AA40-D590C26033EA}" type="parTrans" cxnId="{E6DBB310-1B8B-4820-8E53-90F3639BD084}">
      <dgm:prSet/>
      <dgm:spPr/>
      <dgm:t>
        <a:bodyPr/>
        <a:lstStyle/>
        <a:p>
          <a:endParaRPr lang="en-US"/>
        </a:p>
      </dgm:t>
    </dgm:pt>
    <dgm:pt modelId="{1ED4E3F5-DACB-4176-AA19-B4E4D84A5064}" type="sibTrans" cxnId="{E6DBB310-1B8B-4820-8E53-90F3639BD084}">
      <dgm:prSet/>
      <dgm:spPr/>
      <dgm:t>
        <a:bodyPr/>
        <a:lstStyle/>
        <a:p>
          <a:endParaRPr lang="en-US"/>
        </a:p>
      </dgm:t>
    </dgm:pt>
    <dgm:pt modelId="{B851A28E-AF37-4038-BBA9-39303AA78205}">
      <dgm:prSet/>
      <dgm:spPr/>
      <dgm:t>
        <a:bodyPr/>
        <a:lstStyle/>
        <a:p>
          <a:r>
            <a:rPr lang="en-US"/>
            <a:t>These improvements have been incorporated into the project and are reflected in the updated scenario definitions and system design, which can be seen in the following slides.</a:t>
          </a:r>
          <a:endParaRPr lang="en-US" dirty="0"/>
        </a:p>
      </dgm:t>
    </dgm:pt>
    <dgm:pt modelId="{6CF910A5-6A75-4F77-A0CF-AC20059B70F1}" type="parTrans" cxnId="{72FBE9B5-D0DD-478F-B6E2-76D055F82BEA}">
      <dgm:prSet/>
      <dgm:spPr/>
      <dgm:t>
        <a:bodyPr/>
        <a:lstStyle/>
        <a:p>
          <a:endParaRPr lang="en-US"/>
        </a:p>
      </dgm:t>
    </dgm:pt>
    <dgm:pt modelId="{2AF00823-96EE-4BBD-AEAF-F40A5B853C92}" type="sibTrans" cxnId="{72FBE9B5-D0DD-478F-B6E2-76D055F82BEA}">
      <dgm:prSet/>
      <dgm:spPr/>
      <dgm:t>
        <a:bodyPr/>
        <a:lstStyle/>
        <a:p>
          <a:endParaRPr lang="en-US"/>
        </a:p>
      </dgm:t>
    </dgm:pt>
    <dgm:pt modelId="{A8CAA9BE-787D-475E-9FE3-BBBD1381E803}" type="pres">
      <dgm:prSet presAssocID="{6BFC06D8-89CC-4020-835F-A346708CF58D}" presName="outerComposite" presStyleCnt="0">
        <dgm:presLayoutVars>
          <dgm:chMax val="5"/>
          <dgm:dir/>
          <dgm:resizeHandles val="exact"/>
        </dgm:presLayoutVars>
      </dgm:prSet>
      <dgm:spPr/>
    </dgm:pt>
    <dgm:pt modelId="{0907CBEE-EE4F-434B-8B88-2972F98F9825}" type="pres">
      <dgm:prSet presAssocID="{6BFC06D8-89CC-4020-835F-A346708CF58D}" presName="dummyMaxCanvas" presStyleCnt="0">
        <dgm:presLayoutVars/>
      </dgm:prSet>
      <dgm:spPr/>
    </dgm:pt>
    <dgm:pt modelId="{4255B791-F5FA-449C-B465-76F4A04D6FCD}" type="pres">
      <dgm:prSet presAssocID="{6BFC06D8-89CC-4020-835F-A346708CF58D}" presName="FourNodes_1" presStyleLbl="node1" presStyleIdx="0" presStyleCnt="4">
        <dgm:presLayoutVars>
          <dgm:bulletEnabled val="1"/>
        </dgm:presLayoutVars>
      </dgm:prSet>
      <dgm:spPr/>
    </dgm:pt>
    <dgm:pt modelId="{F4D0175D-3FE4-4E2B-8DC8-457200BC48DD}" type="pres">
      <dgm:prSet presAssocID="{6BFC06D8-89CC-4020-835F-A346708CF58D}" presName="FourNodes_2" presStyleLbl="node1" presStyleIdx="1" presStyleCnt="4">
        <dgm:presLayoutVars>
          <dgm:bulletEnabled val="1"/>
        </dgm:presLayoutVars>
      </dgm:prSet>
      <dgm:spPr/>
    </dgm:pt>
    <dgm:pt modelId="{67E411DE-322E-4D8A-B041-D3DD7D025E34}" type="pres">
      <dgm:prSet presAssocID="{6BFC06D8-89CC-4020-835F-A346708CF58D}" presName="FourNodes_3" presStyleLbl="node1" presStyleIdx="2" presStyleCnt="4">
        <dgm:presLayoutVars>
          <dgm:bulletEnabled val="1"/>
        </dgm:presLayoutVars>
      </dgm:prSet>
      <dgm:spPr/>
    </dgm:pt>
    <dgm:pt modelId="{A3FE6E63-49B8-4A2E-9A6A-335C010EF4A5}" type="pres">
      <dgm:prSet presAssocID="{6BFC06D8-89CC-4020-835F-A346708CF58D}" presName="FourNodes_4" presStyleLbl="node1" presStyleIdx="3" presStyleCnt="4">
        <dgm:presLayoutVars>
          <dgm:bulletEnabled val="1"/>
        </dgm:presLayoutVars>
      </dgm:prSet>
      <dgm:spPr/>
    </dgm:pt>
    <dgm:pt modelId="{950886B4-FE99-4AEB-9230-3E2D311838F1}" type="pres">
      <dgm:prSet presAssocID="{6BFC06D8-89CC-4020-835F-A346708CF58D}" presName="FourConn_1-2" presStyleLbl="fgAccFollowNode1" presStyleIdx="0" presStyleCnt="3">
        <dgm:presLayoutVars>
          <dgm:bulletEnabled val="1"/>
        </dgm:presLayoutVars>
      </dgm:prSet>
      <dgm:spPr/>
    </dgm:pt>
    <dgm:pt modelId="{8A2A3852-A7A1-454F-AEF0-BDD10DAACFD8}" type="pres">
      <dgm:prSet presAssocID="{6BFC06D8-89CC-4020-835F-A346708CF58D}" presName="FourConn_2-3" presStyleLbl="fgAccFollowNode1" presStyleIdx="1" presStyleCnt="3">
        <dgm:presLayoutVars>
          <dgm:bulletEnabled val="1"/>
        </dgm:presLayoutVars>
      </dgm:prSet>
      <dgm:spPr/>
    </dgm:pt>
    <dgm:pt modelId="{0307789C-E5CD-46B2-BD86-4A65D0DAA5A1}" type="pres">
      <dgm:prSet presAssocID="{6BFC06D8-89CC-4020-835F-A346708CF58D}" presName="FourConn_3-4" presStyleLbl="fgAccFollowNode1" presStyleIdx="2" presStyleCnt="3">
        <dgm:presLayoutVars>
          <dgm:bulletEnabled val="1"/>
        </dgm:presLayoutVars>
      </dgm:prSet>
      <dgm:spPr/>
    </dgm:pt>
    <dgm:pt modelId="{F724009B-F739-41C7-8BCF-1277B94F88FA}" type="pres">
      <dgm:prSet presAssocID="{6BFC06D8-89CC-4020-835F-A346708CF58D}" presName="FourNodes_1_text" presStyleLbl="node1" presStyleIdx="3" presStyleCnt="4">
        <dgm:presLayoutVars>
          <dgm:bulletEnabled val="1"/>
        </dgm:presLayoutVars>
      </dgm:prSet>
      <dgm:spPr/>
    </dgm:pt>
    <dgm:pt modelId="{7D852FCB-6158-482E-B11B-885F0AADFD42}" type="pres">
      <dgm:prSet presAssocID="{6BFC06D8-89CC-4020-835F-A346708CF58D}" presName="FourNodes_2_text" presStyleLbl="node1" presStyleIdx="3" presStyleCnt="4">
        <dgm:presLayoutVars>
          <dgm:bulletEnabled val="1"/>
        </dgm:presLayoutVars>
      </dgm:prSet>
      <dgm:spPr/>
    </dgm:pt>
    <dgm:pt modelId="{3FAD4093-DD52-45B7-82F1-966BD628469D}" type="pres">
      <dgm:prSet presAssocID="{6BFC06D8-89CC-4020-835F-A346708CF58D}" presName="FourNodes_3_text" presStyleLbl="node1" presStyleIdx="3" presStyleCnt="4">
        <dgm:presLayoutVars>
          <dgm:bulletEnabled val="1"/>
        </dgm:presLayoutVars>
      </dgm:prSet>
      <dgm:spPr/>
    </dgm:pt>
    <dgm:pt modelId="{F5C7BC7D-FD88-4CA0-911F-8858ADEA095A}" type="pres">
      <dgm:prSet presAssocID="{6BFC06D8-89CC-4020-835F-A346708CF58D}" presName="FourNodes_4_text" presStyleLbl="node1" presStyleIdx="3" presStyleCnt="4">
        <dgm:presLayoutVars>
          <dgm:bulletEnabled val="1"/>
        </dgm:presLayoutVars>
      </dgm:prSet>
      <dgm:spPr/>
    </dgm:pt>
  </dgm:ptLst>
  <dgm:cxnLst>
    <dgm:cxn modelId="{E6DBB310-1B8B-4820-8E53-90F3639BD084}" srcId="{6BFC06D8-89CC-4020-835F-A346708CF58D}" destId="{FFC5AC1F-8133-4A54-9A19-CA48789BB751}" srcOrd="2" destOrd="0" parTransId="{8CF5D677-DC1E-4EB5-AA40-D590C26033EA}" sibTransId="{1ED4E3F5-DACB-4176-AA19-B4E4D84A5064}"/>
    <dgm:cxn modelId="{45F01013-9DE7-4B98-8013-09A61D444EB3}" type="presOf" srcId="{AF7BDD13-3962-40F0-9F32-1C4821074192}" destId="{950886B4-FE99-4AEB-9230-3E2D311838F1}" srcOrd="0" destOrd="0" presId="urn:microsoft.com/office/officeart/2005/8/layout/vProcess5"/>
    <dgm:cxn modelId="{2AD9E71A-DD80-4A2B-96DB-684C8B63C7E3}" type="presOf" srcId="{E01E9EB8-33F0-4C83-8348-2DBF2DFC73C6}" destId="{4255B791-F5FA-449C-B465-76F4A04D6FCD}" srcOrd="0" destOrd="0" presId="urn:microsoft.com/office/officeart/2005/8/layout/vProcess5"/>
    <dgm:cxn modelId="{ED55B726-CC0E-4C18-A6CC-A26ABC4E34DB}" type="presOf" srcId="{E01E9EB8-33F0-4C83-8348-2DBF2DFC73C6}" destId="{F724009B-F739-41C7-8BCF-1277B94F88FA}" srcOrd="1" destOrd="0" presId="urn:microsoft.com/office/officeart/2005/8/layout/vProcess5"/>
    <dgm:cxn modelId="{4F9D1C2E-336A-4C7A-B5F1-FCC40E7AD1CD}" type="presOf" srcId="{2C408347-F3D5-43BA-BEF1-B5F650490C57}" destId="{8A2A3852-A7A1-454F-AEF0-BDD10DAACFD8}" srcOrd="0" destOrd="0" presId="urn:microsoft.com/office/officeart/2005/8/layout/vProcess5"/>
    <dgm:cxn modelId="{08000277-6883-4D18-B96D-7338DB199CFB}" type="presOf" srcId="{820F9C49-698C-4446-ACF4-786575419B3A}" destId="{7D852FCB-6158-482E-B11B-885F0AADFD42}" srcOrd="1" destOrd="0" presId="urn:microsoft.com/office/officeart/2005/8/layout/vProcess5"/>
    <dgm:cxn modelId="{7096A757-F890-408D-8981-BE3D56B0525F}" type="presOf" srcId="{B851A28E-AF37-4038-BBA9-39303AA78205}" destId="{A3FE6E63-49B8-4A2E-9A6A-335C010EF4A5}" srcOrd="0" destOrd="0" presId="urn:microsoft.com/office/officeart/2005/8/layout/vProcess5"/>
    <dgm:cxn modelId="{5518E459-FC4D-49B2-9DB9-13ADEB8FBEF9}" type="presOf" srcId="{1ED4E3F5-DACB-4176-AA19-B4E4D84A5064}" destId="{0307789C-E5CD-46B2-BD86-4A65D0DAA5A1}" srcOrd="0" destOrd="0" presId="urn:microsoft.com/office/officeart/2005/8/layout/vProcess5"/>
    <dgm:cxn modelId="{CBFCA17E-8920-4E45-BEB9-9741A33BDFAE}" srcId="{6BFC06D8-89CC-4020-835F-A346708CF58D}" destId="{E01E9EB8-33F0-4C83-8348-2DBF2DFC73C6}" srcOrd="0" destOrd="0" parTransId="{2C5F7084-EA9F-489D-A56A-A6BA578D526F}" sibTransId="{AF7BDD13-3962-40F0-9F32-1C4821074192}"/>
    <dgm:cxn modelId="{05E92687-DE32-49FB-9180-2EAA8882B172}" type="presOf" srcId="{FFC5AC1F-8133-4A54-9A19-CA48789BB751}" destId="{67E411DE-322E-4D8A-B041-D3DD7D025E34}" srcOrd="0" destOrd="0" presId="urn:microsoft.com/office/officeart/2005/8/layout/vProcess5"/>
    <dgm:cxn modelId="{37517994-DBEA-456D-B1CC-8A2CC6629253}" srcId="{6BFC06D8-89CC-4020-835F-A346708CF58D}" destId="{820F9C49-698C-4446-ACF4-786575419B3A}" srcOrd="1" destOrd="0" parTransId="{0CA47769-CFA7-4A0E-BEC4-38A7A1CEBC3D}" sibTransId="{2C408347-F3D5-43BA-BEF1-B5F650490C57}"/>
    <dgm:cxn modelId="{9EABA79D-8747-4CE0-892D-0AD4BE7EE589}" type="presOf" srcId="{820F9C49-698C-4446-ACF4-786575419B3A}" destId="{F4D0175D-3FE4-4E2B-8DC8-457200BC48DD}" srcOrd="0" destOrd="0" presId="urn:microsoft.com/office/officeart/2005/8/layout/vProcess5"/>
    <dgm:cxn modelId="{72FBE9B5-D0DD-478F-B6E2-76D055F82BEA}" srcId="{6BFC06D8-89CC-4020-835F-A346708CF58D}" destId="{B851A28E-AF37-4038-BBA9-39303AA78205}" srcOrd="3" destOrd="0" parTransId="{6CF910A5-6A75-4F77-A0CF-AC20059B70F1}" sibTransId="{2AF00823-96EE-4BBD-AEAF-F40A5B853C92}"/>
    <dgm:cxn modelId="{741B20CF-355F-407F-AB66-C415AAF885D6}" type="presOf" srcId="{FFC5AC1F-8133-4A54-9A19-CA48789BB751}" destId="{3FAD4093-DD52-45B7-82F1-966BD628469D}" srcOrd="1" destOrd="0" presId="urn:microsoft.com/office/officeart/2005/8/layout/vProcess5"/>
    <dgm:cxn modelId="{20C60FF3-0F35-4ACB-BE2D-7246C08D5547}" type="presOf" srcId="{6BFC06D8-89CC-4020-835F-A346708CF58D}" destId="{A8CAA9BE-787D-475E-9FE3-BBBD1381E803}" srcOrd="0" destOrd="0" presId="urn:microsoft.com/office/officeart/2005/8/layout/vProcess5"/>
    <dgm:cxn modelId="{480695F3-BB5F-467B-942E-F7BAA5C1E377}" type="presOf" srcId="{B851A28E-AF37-4038-BBA9-39303AA78205}" destId="{F5C7BC7D-FD88-4CA0-911F-8858ADEA095A}" srcOrd="1" destOrd="0" presId="urn:microsoft.com/office/officeart/2005/8/layout/vProcess5"/>
    <dgm:cxn modelId="{0C9FC222-4599-45FF-85D1-1A7B76B312F9}" type="presParOf" srcId="{A8CAA9BE-787D-475E-9FE3-BBBD1381E803}" destId="{0907CBEE-EE4F-434B-8B88-2972F98F9825}" srcOrd="0" destOrd="0" presId="urn:microsoft.com/office/officeart/2005/8/layout/vProcess5"/>
    <dgm:cxn modelId="{AB7BDC1D-3BC5-4772-B4C5-14465D32B95E}" type="presParOf" srcId="{A8CAA9BE-787D-475E-9FE3-BBBD1381E803}" destId="{4255B791-F5FA-449C-B465-76F4A04D6FCD}" srcOrd="1" destOrd="0" presId="urn:microsoft.com/office/officeart/2005/8/layout/vProcess5"/>
    <dgm:cxn modelId="{B23965C8-ABD1-4490-9066-A136EC62A193}" type="presParOf" srcId="{A8CAA9BE-787D-475E-9FE3-BBBD1381E803}" destId="{F4D0175D-3FE4-4E2B-8DC8-457200BC48DD}" srcOrd="2" destOrd="0" presId="urn:microsoft.com/office/officeart/2005/8/layout/vProcess5"/>
    <dgm:cxn modelId="{74A17AA8-B3D4-4530-958A-5BF70283DA7B}" type="presParOf" srcId="{A8CAA9BE-787D-475E-9FE3-BBBD1381E803}" destId="{67E411DE-322E-4D8A-B041-D3DD7D025E34}" srcOrd="3" destOrd="0" presId="urn:microsoft.com/office/officeart/2005/8/layout/vProcess5"/>
    <dgm:cxn modelId="{89460413-5F2D-4DD8-A9FE-9003F3F00BF0}" type="presParOf" srcId="{A8CAA9BE-787D-475E-9FE3-BBBD1381E803}" destId="{A3FE6E63-49B8-4A2E-9A6A-335C010EF4A5}" srcOrd="4" destOrd="0" presId="urn:microsoft.com/office/officeart/2005/8/layout/vProcess5"/>
    <dgm:cxn modelId="{DE073DA8-DD5D-48F8-9D63-9C3B850AD9DD}" type="presParOf" srcId="{A8CAA9BE-787D-475E-9FE3-BBBD1381E803}" destId="{950886B4-FE99-4AEB-9230-3E2D311838F1}" srcOrd="5" destOrd="0" presId="urn:microsoft.com/office/officeart/2005/8/layout/vProcess5"/>
    <dgm:cxn modelId="{DB546348-3F85-48B7-9937-A2851C1AFD87}" type="presParOf" srcId="{A8CAA9BE-787D-475E-9FE3-BBBD1381E803}" destId="{8A2A3852-A7A1-454F-AEF0-BDD10DAACFD8}" srcOrd="6" destOrd="0" presId="urn:microsoft.com/office/officeart/2005/8/layout/vProcess5"/>
    <dgm:cxn modelId="{41EC88B5-2952-4D09-AC0A-E5AEA4740FEA}" type="presParOf" srcId="{A8CAA9BE-787D-475E-9FE3-BBBD1381E803}" destId="{0307789C-E5CD-46B2-BD86-4A65D0DAA5A1}" srcOrd="7" destOrd="0" presId="urn:microsoft.com/office/officeart/2005/8/layout/vProcess5"/>
    <dgm:cxn modelId="{CD719AF2-EEB8-4FAA-8AA0-F2CB3C0286CD}" type="presParOf" srcId="{A8CAA9BE-787D-475E-9FE3-BBBD1381E803}" destId="{F724009B-F739-41C7-8BCF-1277B94F88FA}" srcOrd="8" destOrd="0" presId="urn:microsoft.com/office/officeart/2005/8/layout/vProcess5"/>
    <dgm:cxn modelId="{F03B36A2-972A-40BD-82A4-3ED60E331CE0}" type="presParOf" srcId="{A8CAA9BE-787D-475E-9FE3-BBBD1381E803}" destId="{7D852FCB-6158-482E-B11B-885F0AADFD42}" srcOrd="9" destOrd="0" presId="urn:microsoft.com/office/officeart/2005/8/layout/vProcess5"/>
    <dgm:cxn modelId="{A0085CC4-C0BF-4191-B6BA-0A015235FC92}" type="presParOf" srcId="{A8CAA9BE-787D-475E-9FE3-BBBD1381E803}" destId="{3FAD4093-DD52-45B7-82F1-966BD628469D}" srcOrd="10" destOrd="0" presId="urn:microsoft.com/office/officeart/2005/8/layout/vProcess5"/>
    <dgm:cxn modelId="{2EFFD22C-7574-4A3C-8773-75F3DDFB4AA7}" type="presParOf" srcId="{A8CAA9BE-787D-475E-9FE3-BBBD1381E803}" destId="{F5C7BC7D-FD88-4CA0-911F-8858ADEA095A}"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B638B-EB8D-44DC-8ABB-60DD3EC4FA13}">
      <dsp:nvSpPr>
        <dsp:cNvPr id="0" name=""/>
        <dsp:cNvSpPr/>
      </dsp:nvSpPr>
      <dsp:spPr>
        <a:xfrm>
          <a:off x="0" y="1533"/>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48DDD8-2C2E-40FE-AAFB-D436EBD8FFC5}">
      <dsp:nvSpPr>
        <dsp:cNvPr id="0" name=""/>
        <dsp:cNvSpPr/>
      </dsp:nvSpPr>
      <dsp:spPr>
        <a:xfrm>
          <a:off x="197634" y="148534"/>
          <a:ext cx="359335" cy="3593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4134B7-3B78-41AD-858F-76E124A105AC}">
      <dsp:nvSpPr>
        <dsp:cNvPr id="0" name=""/>
        <dsp:cNvSpPr/>
      </dsp:nvSpPr>
      <dsp:spPr>
        <a:xfrm>
          <a:off x="754604" y="1533"/>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The objective of this meeting is to understand how we are progressing towards the project milestones, align on the current development status, address any blockers, and coordinate the next steps for the Agent Evaluation Lab project.</a:t>
          </a:r>
        </a:p>
      </dsp:txBody>
      <dsp:txXfrm>
        <a:off x="754604" y="1533"/>
        <a:ext cx="8122903" cy="653336"/>
      </dsp:txXfrm>
    </dsp:sp>
    <dsp:sp modelId="{9231D786-8269-4E8E-9C8E-94BCF2E1009F}">
      <dsp:nvSpPr>
        <dsp:cNvPr id="0" name=""/>
        <dsp:cNvSpPr/>
      </dsp:nvSpPr>
      <dsp:spPr>
        <a:xfrm>
          <a:off x="0" y="818204"/>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4CC64F-FDD6-4742-8264-2D5DEAAD8EDD}">
      <dsp:nvSpPr>
        <dsp:cNvPr id="0" name=""/>
        <dsp:cNvSpPr/>
      </dsp:nvSpPr>
      <dsp:spPr>
        <a:xfrm>
          <a:off x="197634" y="965205"/>
          <a:ext cx="359335" cy="3593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79B55C-6201-43FF-B841-14C0350D3FEC}">
      <dsp:nvSpPr>
        <dsp:cNvPr id="0" name=""/>
        <dsp:cNvSpPr/>
      </dsp:nvSpPr>
      <dsp:spPr>
        <a:xfrm>
          <a:off x="754604" y="818204"/>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timely submission of sprint deliverables and marking important deadlines. All key dates will be added to a shared calendar to ensure proper tracking.</a:t>
          </a:r>
        </a:p>
      </dsp:txBody>
      <dsp:txXfrm>
        <a:off x="754604" y="818204"/>
        <a:ext cx="8122903" cy="653336"/>
      </dsp:txXfrm>
    </dsp:sp>
    <dsp:sp modelId="{CABE946C-9FE5-4AB8-AE4F-C8700CD1E2B3}">
      <dsp:nvSpPr>
        <dsp:cNvPr id="0" name=""/>
        <dsp:cNvSpPr/>
      </dsp:nvSpPr>
      <dsp:spPr>
        <a:xfrm>
          <a:off x="0" y="1634875"/>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2DA2F2-EE70-4418-960C-799A1E942FD9}">
      <dsp:nvSpPr>
        <dsp:cNvPr id="0" name=""/>
        <dsp:cNvSpPr/>
      </dsp:nvSpPr>
      <dsp:spPr>
        <a:xfrm>
          <a:off x="197634" y="1781876"/>
          <a:ext cx="359335" cy="3593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A7439F-13A1-4558-9DD6-BC419D2E48BF}">
      <dsp:nvSpPr>
        <dsp:cNvPr id="0" name=""/>
        <dsp:cNvSpPr/>
      </dsp:nvSpPr>
      <dsp:spPr>
        <a:xfrm>
          <a:off x="754604" y="1634875"/>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presentation topics and continuous updates to the project slides based on development progress and professor feedback.</a:t>
          </a:r>
        </a:p>
      </dsp:txBody>
      <dsp:txXfrm>
        <a:off x="754604" y="1634875"/>
        <a:ext cx="8122903" cy="653336"/>
      </dsp:txXfrm>
    </dsp:sp>
    <dsp:sp modelId="{F5F79985-5AC1-435E-BA4A-7C6AB146C6B2}">
      <dsp:nvSpPr>
        <dsp:cNvPr id="0" name=""/>
        <dsp:cNvSpPr/>
      </dsp:nvSpPr>
      <dsp:spPr>
        <a:xfrm>
          <a:off x="0" y="2451546"/>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CB6BF6-CE20-4805-948C-5965F7338079}">
      <dsp:nvSpPr>
        <dsp:cNvPr id="0" name=""/>
        <dsp:cNvSpPr/>
      </dsp:nvSpPr>
      <dsp:spPr>
        <a:xfrm>
          <a:off x="197634" y="2598547"/>
          <a:ext cx="359335" cy="3593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C58D70-FBCB-400C-86C1-AE43185E3356}">
      <dsp:nvSpPr>
        <dsp:cNvPr id="0" name=""/>
        <dsp:cNvSpPr/>
      </dsp:nvSpPr>
      <dsp:spPr>
        <a:xfrm>
          <a:off x="754604" y="2451546"/>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Review and confirmation of client requirements by analyzing user personas and ensuring that the system addresses the needs of AI developers, AI safety engineers, and RAG system engineers.</a:t>
          </a:r>
        </a:p>
      </dsp:txBody>
      <dsp:txXfrm>
        <a:off x="754604" y="2451546"/>
        <a:ext cx="8122903" cy="653336"/>
      </dsp:txXfrm>
    </dsp:sp>
    <dsp:sp modelId="{B687B990-81ED-4B29-A3FE-5497C172157E}">
      <dsp:nvSpPr>
        <dsp:cNvPr id="0" name=""/>
        <dsp:cNvSpPr/>
      </dsp:nvSpPr>
      <dsp:spPr>
        <a:xfrm>
          <a:off x="0" y="3268217"/>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61A1DB-DA36-4743-857E-DAA6C7FCEA97}">
      <dsp:nvSpPr>
        <dsp:cNvPr id="0" name=""/>
        <dsp:cNvSpPr/>
      </dsp:nvSpPr>
      <dsp:spPr>
        <a:xfrm>
          <a:off x="197634" y="3415218"/>
          <a:ext cx="359335" cy="3593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47A608-82EA-4DAE-B6DF-2BFAC51385A5}">
      <dsp:nvSpPr>
        <dsp:cNvPr id="0" name=""/>
        <dsp:cNvSpPr/>
      </dsp:nvSpPr>
      <dsp:spPr>
        <a:xfrm>
          <a:off x="754604" y="3268217"/>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potential risks and technical challenges related to AI evaluation scenarios, system integration, and deployment.</a:t>
          </a:r>
        </a:p>
      </dsp:txBody>
      <dsp:txXfrm>
        <a:off x="754604" y="3268217"/>
        <a:ext cx="8122903" cy="653336"/>
      </dsp:txXfrm>
    </dsp:sp>
    <dsp:sp modelId="{9E586BEF-752B-4FB0-A59B-62161E00326D}">
      <dsp:nvSpPr>
        <dsp:cNvPr id="0" name=""/>
        <dsp:cNvSpPr/>
      </dsp:nvSpPr>
      <dsp:spPr>
        <a:xfrm>
          <a:off x="0" y="4084888"/>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9C4F1-91C0-4DE0-A9F5-E40095BBB3C1}">
      <dsp:nvSpPr>
        <dsp:cNvPr id="0" name=""/>
        <dsp:cNvSpPr/>
      </dsp:nvSpPr>
      <dsp:spPr>
        <a:xfrm>
          <a:off x="197634" y="4231889"/>
          <a:ext cx="359335" cy="3593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601916-474A-46E5-A60C-908AE69BB63C}">
      <dsp:nvSpPr>
        <dsp:cNvPr id="0" name=""/>
        <dsp:cNvSpPr/>
      </dsp:nvSpPr>
      <dsp:spPr>
        <a:xfrm>
          <a:off x="754604" y="4084888"/>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Active participation, attendance, collaboration, and teamwork from all team members is essential to ensure successful completion of the project.</a:t>
          </a:r>
        </a:p>
      </dsp:txBody>
      <dsp:txXfrm>
        <a:off x="754604" y="4084888"/>
        <a:ext cx="8122903" cy="653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5B791-F5FA-449C-B465-76F4A04D6FCD}">
      <dsp:nvSpPr>
        <dsp:cNvPr id="0" name=""/>
        <dsp:cNvSpPr/>
      </dsp:nvSpPr>
      <dsp:spPr>
        <a:xfrm>
          <a:off x="0" y="0"/>
          <a:ext cx="5031572" cy="113232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Post the Deliverable 1 presentation, we received feedback from the professor to add more evaluation scenarios to improve the coverage of AI safety and reliability testing. We expanded the scenario set to include additional prompt injection, jailbreak, hallucination detection, and RAG reliability test cases to strengthen the evaluation framework.</a:t>
          </a:r>
        </a:p>
      </dsp:txBody>
      <dsp:txXfrm>
        <a:off x="33165" y="33165"/>
        <a:ext cx="3714026" cy="1065992"/>
      </dsp:txXfrm>
    </dsp:sp>
    <dsp:sp modelId="{F4D0175D-3FE4-4E2B-8DC8-457200BC48DD}">
      <dsp:nvSpPr>
        <dsp:cNvPr id="0" name=""/>
        <dsp:cNvSpPr/>
      </dsp:nvSpPr>
      <dsp:spPr>
        <a:xfrm>
          <a:off x="421394" y="1338199"/>
          <a:ext cx="5031572" cy="1132322"/>
        </a:xfrm>
        <a:prstGeom prst="roundRect">
          <a:avLst>
            <a:gd name="adj" fmla="val 10000"/>
          </a:avLst>
        </a:prstGeom>
        <a:solidFill>
          <a:schemeClr val="accent2">
            <a:hueOff val="-6295173"/>
            <a:satOff val="12117"/>
            <a:lumOff val="-83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professor also suggested exploring improvements for the future by enabling the system to support dynamic addition of scenarios, allowing new test cases to be added without modifying the core framework.</a:t>
          </a:r>
        </a:p>
      </dsp:txBody>
      <dsp:txXfrm>
        <a:off x="454559" y="1371364"/>
        <a:ext cx="3807838" cy="1065992"/>
      </dsp:txXfrm>
    </dsp:sp>
    <dsp:sp modelId="{67E411DE-322E-4D8A-B041-D3DD7D025E34}">
      <dsp:nvSpPr>
        <dsp:cNvPr id="0" name=""/>
        <dsp:cNvSpPr/>
      </dsp:nvSpPr>
      <dsp:spPr>
        <a:xfrm>
          <a:off x="836498" y="2676399"/>
          <a:ext cx="5031572" cy="1132322"/>
        </a:xfrm>
        <a:prstGeom prst="roundRect">
          <a:avLst>
            <a:gd name="adj" fmla="val 10000"/>
          </a:avLst>
        </a:prstGeom>
        <a:solidFill>
          <a:schemeClr val="accent2">
            <a:hueOff val="-12590346"/>
            <a:satOff val="24234"/>
            <a:lumOff val="-167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Retrospective is included as per the feedback given.</a:t>
          </a:r>
        </a:p>
      </dsp:txBody>
      <dsp:txXfrm>
        <a:off x="869663" y="2709564"/>
        <a:ext cx="3814128" cy="1065992"/>
      </dsp:txXfrm>
    </dsp:sp>
    <dsp:sp modelId="{A3FE6E63-49B8-4A2E-9A6A-335C010EF4A5}">
      <dsp:nvSpPr>
        <dsp:cNvPr id="0" name=""/>
        <dsp:cNvSpPr/>
      </dsp:nvSpPr>
      <dsp:spPr>
        <a:xfrm>
          <a:off x="1257893" y="4014599"/>
          <a:ext cx="5031572" cy="1132322"/>
        </a:xfrm>
        <a:prstGeom prst="roundRect">
          <a:avLst>
            <a:gd name="adj" fmla="val 10000"/>
          </a:avLst>
        </a:prstGeom>
        <a:solidFill>
          <a:schemeClr val="accent2">
            <a:hueOff val="-18885518"/>
            <a:satOff val="36351"/>
            <a:lumOff val="-2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These improvements have been incorporated into the project and are reflected in the updated scenario definitions and system design, which can be seen in the following slides.</a:t>
          </a:r>
          <a:endParaRPr lang="en-US" sz="1100" kern="1200" dirty="0"/>
        </a:p>
      </dsp:txBody>
      <dsp:txXfrm>
        <a:off x="1291058" y="4047764"/>
        <a:ext cx="3807838" cy="1065992"/>
      </dsp:txXfrm>
    </dsp:sp>
    <dsp:sp modelId="{950886B4-FE99-4AEB-9230-3E2D311838F1}">
      <dsp:nvSpPr>
        <dsp:cNvPr id="0" name=""/>
        <dsp:cNvSpPr/>
      </dsp:nvSpPr>
      <dsp:spPr>
        <a:xfrm>
          <a:off x="4295562" y="867256"/>
          <a:ext cx="736009" cy="736009"/>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461164" y="867256"/>
        <a:ext cx="404805" cy="553847"/>
      </dsp:txXfrm>
    </dsp:sp>
    <dsp:sp modelId="{8A2A3852-A7A1-454F-AEF0-BDD10DAACFD8}">
      <dsp:nvSpPr>
        <dsp:cNvPr id="0" name=""/>
        <dsp:cNvSpPr/>
      </dsp:nvSpPr>
      <dsp:spPr>
        <a:xfrm>
          <a:off x="4716957" y="2205456"/>
          <a:ext cx="736009" cy="736009"/>
        </a:xfrm>
        <a:prstGeom prst="downArrow">
          <a:avLst>
            <a:gd name="adj1" fmla="val 55000"/>
            <a:gd name="adj2" fmla="val 45000"/>
          </a:avLst>
        </a:prstGeom>
        <a:solidFill>
          <a:schemeClr val="accent2">
            <a:tint val="40000"/>
            <a:alpha val="90000"/>
            <a:hueOff val="-9716092"/>
            <a:satOff val="4828"/>
            <a:lumOff val="-2260"/>
            <a:alphaOff val="0"/>
          </a:schemeClr>
        </a:solidFill>
        <a:ln w="12700" cap="flat" cmpd="sng" algn="ctr">
          <a:solidFill>
            <a:schemeClr val="accent2">
              <a:tint val="40000"/>
              <a:alpha val="90000"/>
              <a:hueOff val="-9716092"/>
              <a:satOff val="4828"/>
              <a:lumOff val="-22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882559" y="2205456"/>
        <a:ext cx="404805" cy="553847"/>
      </dsp:txXfrm>
    </dsp:sp>
    <dsp:sp modelId="{0307789C-E5CD-46B2-BD86-4A65D0DAA5A1}">
      <dsp:nvSpPr>
        <dsp:cNvPr id="0" name=""/>
        <dsp:cNvSpPr/>
      </dsp:nvSpPr>
      <dsp:spPr>
        <a:xfrm>
          <a:off x="5132061" y="3543655"/>
          <a:ext cx="736009" cy="736009"/>
        </a:xfrm>
        <a:prstGeom prst="downArrow">
          <a:avLst>
            <a:gd name="adj1" fmla="val 55000"/>
            <a:gd name="adj2" fmla="val 45000"/>
          </a:avLst>
        </a:prstGeom>
        <a:solidFill>
          <a:schemeClr val="accent2">
            <a:tint val="40000"/>
            <a:alpha val="90000"/>
            <a:hueOff val="-19432183"/>
            <a:satOff val="9656"/>
            <a:lumOff val="-4519"/>
            <a:alphaOff val="0"/>
          </a:schemeClr>
        </a:solidFill>
        <a:ln w="12700" cap="flat" cmpd="sng" algn="ctr">
          <a:solidFill>
            <a:schemeClr val="accent2">
              <a:tint val="40000"/>
              <a:alpha val="90000"/>
              <a:hueOff val="-19432183"/>
              <a:satOff val="9656"/>
              <a:lumOff val="-45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297663" y="3543655"/>
        <a:ext cx="404805" cy="55384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2/18/2026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744047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30</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5681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041968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987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5320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6205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29767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5560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4813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26714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27544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54359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546702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81917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3146060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1418350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dirty="0"/>
              <a:t>Click icon to add picture</a:t>
            </a:r>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1133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71171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dirty="0"/>
              <a:t>Click icon to add picture</a:t>
            </a:r>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1373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2/18/2026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294339129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91" r:id="rId18"/>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tejakusireddy/agent-eval-lab"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23C9-0DDA-C0A7-7FAF-49492CB760CC}"/>
              </a:ext>
            </a:extLst>
          </p:cNvPr>
          <p:cNvSpPr>
            <a:spLocks noGrp="1"/>
          </p:cNvSpPr>
          <p:nvPr>
            <p:ph type="ctrTitle"/>
          </p:nvPr>
        </p:nvSpPr>
        <p:spPr>
          <a:xfrm>
            <a:off x="1140543" y="1897625"/>
            <a:ext cx="9144000" cy="1651819"/>
          </a:xfrm>
        </p:spPr>
        <p:txBody>
          <a:bodyPr>
            <a:normAutofit fontScale="90000"/>
          </a:bodyPr>
          <a:lstStyle/>
          <a:p>
            <a:r>
              <a:rPr lang="en-US" b="1" i="0" dirty="0">
                <a:latin typeface="Times New Roman" panose="02020603050405020304" pitchFamily="18" charset="0"/>
                <a:cs typeface="Times New Roman" panose="02020603050405020304" pitchFamily="18" charset="0"/>
              </a:rPr>
              <a:t>Agent Evaluation Lab</a:t>
            </a:r>
          </a:p>
        </p:txBody>
      </p:sp>
      <p:sp>
        <p:nvSpPr>
          <p:cNvPr id="3" name="Subtitle 2">
            <a:extLst>
              <a:ext uri="{FF2B5EF4-FFF2-40B4-BE49-F238E27FC236}">
                <a16:creationId xmlns:a16="http://schemas.microsoft.com/office/drawing/2014/main" id="{A2935E58-26E3-83A3-0F39-1C99154A9DB5}"/>
              </a:ext>
            </a:extLst>
          </p:cNvPr>
          <p:cNvSpPr>
            <a:spLocks noGrp="1"/>
          </p:cNvSpPr>
          <p:nvPr>
            <p:ph type="subTitle" idx="1"/>
          </p:nvPr>
        </p:nvSpPr>
        <p:spPr>
          <a:xfrm>
            <a:off x="1524000" y="4208207"/>
            <a:ext cx="9144000" cy="1314052"/>
          </a:xfrm>
        </p:spPr>
        <p:txBody>
          <a:bodyPr/>
          <a:lstStyle/>
          <a:p>
            <a:r>
              <a:rPr lang="en-US">
                <a:latin typeface="Times New Roman" panose="02020603050405020304" pitchFamily="18" charset="0"/>
                <a:cs typeface="Times New Roman" panose="02020603050405020304" pitchFamily="18" charset="0"/>
              </a:rPr>
              <a:t>CAPSTONE PROJECT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602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r>
              <a:rPr lang="en-US" dirty="0">
                <a:latin typeface="Aptos Display"/>
                <a:ea typeface="Calibri"/>
                <a:cs typeface="Calibri"/>
              </a:rPr>
              <a:t> </a:t>
            </a:r>
            <a:r>
              <a:rPr lang="en-US" sz="4000" b="1" i="0" dirty="0">
                <a:solidFill>
                  <a:schemeClr val="tx1"/>
                </a:solidFill>
                <a:latin typeface="Aptos Display"/>
                <a:ea typeface="Calibri"/>
                <a:cs typeface="Calibri"/>
              </a:rPr>
              <a:t>  </a:t>
            </a:r>
            <a:r>
              <a:rPr lang="en-US" sz="4000" b="1" i="0" dirty="0">
                <a:solidFill>
                  <a:schemeClr val="tx1"/>
                </a:solidFill>
                <a:latin typeface="Times New Roman" panose="02020603050405020304" pitchFamily="18" charset="0"/>
                <a:ea typeface="Calibri"/>
                <a:cs typeface="Times New Roman" panose="02020603050405020304" pitchFamily="18" charset="0"/>
              </a:rPr>
              <a:t>AGENDA</a:t>
            </a:r>
            <a:br>
              <a:rPr lang="en-US" dirty="0">
                <a:latin typeface="Aptos Display"/>
                <a:ea typeface="Calibri"/>
                <a:cs typeface="Calibri"/>
              </a:rPr>
            </a:br>
            <a:br>
              <a:rPr lang="en-US" dirty="0"/>
            </a:br>
            <a:br>
              <a:rPr lang="en-US" dirty="0"/>
            </a:br>
            <a:br>
              <a:rPr lang="en-US" dirty="0"/>
            </a:br>
            <a:br>
              <a:rPr lang="en-US" dirty="0"/>
            </a:br>
            <a:endParaRPr lang="en-US" dirty="0"/>
          </a:p>
        </p:txBody>
      </p:sp>
      <p:graphicFrame>
        <p:nvGraphicFramePr>
          <p:cNvPr id="11" name="TextBox 3">
            <a:extLst>
              <a:ext uri="{FF2B5EF4-FFF2-40B4-BE49-F238E27FC236}">
                <a16:creationId xmlns:a16="http://schemas.microsoft.com/office/drawing/2014/main" id="{85C1D2F9-1964-F39C-0B6B-243FC184E53F}"/>
              </a:ext>
            </a:extLst>
          </p:cNvPr>
          <p:cNvGraphicFramePr/>
          <p:nvPr/>
        </p:nvGraphicFramePr>
        <p:xfrm>
          <a:off x="1016000" y="1115121"/>
          <a:ext cx="8877508" cy="47397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94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286865" y="1847431"/>
            <a:ext cx="7066935" cy="3688130"/>
          </a:xfrm>
          <a:noFill/>
        </p:spPr>
        <p:txBody>
          <a:bodyPr anchor="ctr">
            <a:normAutofit fontScale="92500"/>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Sreenitha Rayapuraju – System Architecture &amp; Evaluation Engine Design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Sai Teja </a:t>
            </a:r>
            <a:r>
              <a:rPr lang="en-US" dirty="0" err="1">
                <a:latin typeface="Times New Roman" panose="02020603050405020304" pitchFamily="18" charset="0"/>
                <a:cs typeface="Times New Roman" panose="02020603050405020304" pitchFamily="18" charset="0"/>
              </a:rPr>
              <a:t>Kusireddy</a:t>
            </a:r>
            <a:r>
              <a:rPr lang="en-US" dirty="0">
                <a:latin typeface="Times New Roman" panose="02020603050405020304" pitchFamily="18" charset="0"/>
                <a:cs typeface="Times New Roman" panose="02020603050405020304" pitchFamily="18" charset="0"/>
              </a:rPr>
              <a:t>– Backend Development &amp; OpenAI/RAG Adapter Integration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Koushika </a:t>
            </a:r>
            <a:r>
              <a:rPr lang="en-US" dirty="0" err="1">
                <a:latin typeface="Times New Roman" panose="02020603050405020304" pitchFamily="18" charset="0"/>
                <a:cs typeface="Times New Roman" panose="02020603050405020304" pitchFamily="18" charset="0"/>
              </a:rPr>
              <a:t>Chappidi</a:t>
            </a:r>
            <a:r>
              <a:rPr lang="en-US" dirty="0">
                <a:latin typeface="Times New Roman" panose="02020603050405020304" pitchFamily="18" charset="0"/>
                <a:cs typeface="Times New Roman" panose="02020603050405020304" pitchFamily="18" charset="0"/>
              </a:rPr>
              <a:t> – Scenario Creation &amp; Automated Testing (YAML + </a:t>
            </a:r>
            <a:r>
              <a:rPr lang="en-US" dirty="0" err="1">
                <a:latin typeface="Times New Roman" panose="02020603050405020304" pitchFamily="18" charset="0"/>
                <a:cs typeface="Times New Roman" panose="02020603050405020304" pitchFamily="18" charset="0"/>
              </a:rPr>
              <a:t>PyTest</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Veera Sai Akshitha </a:t>
            </a:r>
            <a:r>
              <a:rPr lang="en-US" dirty="0" err="1">
                <a:latin typeface="Times New Roman" panose="02020603050405020304" pitchFamily="18" charset="0"/>
                <a:cs typeface="Times New Roman" panose="02020603050405020304" pitchFamily="18" charset="0"/>
              </a:rPr>
              <a:t>Punyamanthula</a:t>
            </a:r>
            <a:r>
              <a:rPr lang="en-US" dirty="0">
                <a:latin typeface="Times New Roman" panose="02020603050405020304" pitchFamily="18" charset="0"/>
                <a:cs typeface="Times New Roman" panose="02020603050405020304" pitchFamily="18" charset="0"/>
              </a:rPr>
              <a:t>– Reporting System &amp; Dashboard Visualization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Harshitha Reddy </a:t>
            </a:r>
            <a:r>
              <a:rPr lang="en-US" dirty="0" err="1">
                <a:latin typeface="Times New Roman" panose="02020603050405020304" pitchFamily="18" charset="0"/>
                <a:cs typeface="Times New Roman" panose="02020603050405020304" pitchFamily="18" charset="0"/>
              </a:rPr>
              <a:t>Mannemala</a:t>
            </a:r>
            <a:r>
              <a:rPr lang="en-US" dirty="0">
                <a:latin typeface="Times New Roman" panose="02020603050405020304" pitchFamily="18" charset="0"/>
                <a:cs typeface="Times New Roman" panose="02020603050405020304" pitchFamily="18" charset="0"/>
              </a:rPr>
              <a:t>– DevOps, CI/CD Pipeline &amp; Documentation</a:t>
            </a:r>
          </a:p>
        </p:txBody>
      </p:sp>
      <p:sp>
        <p:nvSpPr>
          <p:cNvPr id="6" name="TextBox 5">
            <a:extLst>
              <a:ext uri="{FF2B5EF4-FFF2-40B4-BE49-F238E27FC236}">
                <a16:creationId xmlns:a16="http://schemas.microsoft.com/office/drawing/2014/main" id="{67602FC8-8F61-3EA8-A8BF-F8E45B0A141E}"/>
              </a:ext>
            </a:extLst>
          </p:cNvPr>
          <p:cNvSpPr txBox="1"/>
          <p:nvPr/>
        </p:nvSpPr>
        <p:spPr>
          <a:xfrm>
            <a:off x="5117170" y="346926"/>
            <a:ext cx="488175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Times New Roman" panose="02020603050405020304" pitchFamily="18" charset="0"/>
                <a:ea typeface="Calibri"/>
                <a:cs typeface="Times New Roman" panose="02020603050405020304" pitchFamily="18" charset="0"/>
              </a:rPr>
              <a:t>Team Member Roles &amp; Responsibilities</a:t>
            </a:r>
          </a:p>
        </p:txBody>
      </p:sp>
    </p:spTree>
    <p:extLst>
      <p:ext uri="{BB962C8B-B14F-4D97-AF65-F5344CB8AC3E}">
        <p14:creationId xmlns:p14="http://schemas.microsoft.com/office/powerpoint/2010/main" val="103835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CA7A60-8DF8-4B78-BFE3-B372B90AB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3">
            <a:extLst>
              <a:ext uri="{FF2B5EF4-FFF2-40B4-BE49-F238E27FC236}">
                <a16:creationId xmlns:a16="http://schemas.microsoft.com/office/drawing/2014/main" id="{FF4BD241-F172-410B-B0DE-9D7344B35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4850735" cy="685799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320626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320626 w 6125882"/>
              <a:gd name="connsiteY4" fmla="*/ 0 h 6857998"/>
              <a:gd name="connsiteX0" fmla="*/ 2034528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034528 w 5839784"/>
              <a:gd name="connsiteY4" fmla="*/ 0 h 6857998"/>
              <a:gd name="connsiteX0" fmla="*/ 2482758 w 5839784"/>
              <a:gd name="connsiteY0" fmla="*/ 10951 h 6857998"/>
              <a:gd name="connsiteX1" fmla="*/ 5839784 w 5839784"/>
              <a:gd name="connsiteY1" fmla="*/ 0 h 6857998"/>
              <a:gd name="connsiteX2" fmla="*/ 5839784 w 5839784"/>
              <a:gd name="connsiteY2" fmla="*/ 6857998 h 6857998"/>
              <a:gd name="connsiteX3" fmla="*/ 0 w 5839784"/>
              <a:gd name="connsiteY3" fmla="*/ 6856093 h 6857998"/>
              <a:gd name="connsiteX4" fmla="*/ 2482758 w 5839784"/>
              <a:gd name="connsiteY4" fmla="*/ 10951 h 6857998"/>
              <a:gd name="connsiteX0" fmla="*/ 2495565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495565 w 5839784"/>
              <a:gd name="connsiteY4" fmla="*/ 0 h 6857998"/>
              <a:gd name="connsiteX0" fmla="*/ 2328480 w 5672699"/>
              <a:gd name="connsiteY0" fmla="*/ 0 h 6857998"/>
              <a:gd name="connsiteX1" fmla="*/ 5672699 w 5672699"/>
              <a:gd name="connsiteY1" fmla="*/ 0 h 6857998"/>
              <a:gd name="connsiteX2" fmla="*/ 5672699 w 5672699"/>
              <a:gd name="connsiteY2" fmla="*/ 6857998 h 6857998"/>
              <a:gd name="connsiteX3" fmla="*/ 0 w 5672699"/>
              <a:gd name="connsiteY3" fmla="*/ 6856093 h 6857998"/>
              <a:gd name="connsiteX4" fmla="*/ 2328480 w 5672699"/>
              <a:gd name="connsiteY4" fmla="*/ 0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2699" h="6857998">
                <a:moveTo>
                  <a:pt x="2328480" y="0"/>
                </a:moveTo>
                <a:lnTo>
                  <a:pt x="5672699" y="0"/>
                </a:lnTo>
                <a:lnTo>
                  <a:pt x="5672699" y="6857998"/>
                </a:lnTo>
                <a:lnTo>
                  <a:pt x="0" y="6856093"/>
                </a:lnTo>
                <a:lnTo>
                  <a:pt x="232848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92A11C-2D2E-1F4A-87BD-A767E6ADA272}"/>
              </a:ext>
            </a:extLst>
          </p:cNvPr>
          <p:cNvSpPr>
            <a:spLocks noGrp="1"/>
          </p:cNvSpPr>
          <p:nvPr>
            <p:ph type="title"/>
          </p:nvPr>
        </p:nvSpPr>
        <p:spPr>
          <a:xfrm>
            <a:off x="668005" y="657225"/>
            <a:ext cx="3230515" cy="3569822"/>
          </a:xfrm>
        </p:spPr>
        <p:txBody>
          <a:bodyPr anchor="t">
            <a:normAutofit/>
          </a:bodyPr>
          <a:lstStyle/>
          <a:p>
            <a:r>
              <a:rPr lang="en-US" sz="2800" b="1" i="0">
                <a:latin typeface="Times New Roman" panose="02020603050405020304" pitchFamily="18" charset="0"/>
                <a:cs typeface="Times New Roman" panose="02020603050405020304" pitchFamily="18" charset="0"/>
              </a:rPr>
              <a:t>IMPROVEMENTS MADE FROM PROFESSOR'S FEEDBACK</a:t>
            </a:r>
          </a:p>
        </p:txBody>
      </p:sp>
      <p:cxnSp>
        <p:nvCxnSpPr>
          <p:cNvPr id="13" name="Straight Connector 12">
            <a:extLst>
              <a:ext uri="{FF2B5EF4-FFF2-40B4-BE49-F238E27FC236}">
                <a16:creationId xmlns:a16="http://schemas.microsoft.com/office/drawing/2014/main" id="{F1CEFB97-33B1-4F90-A6B8-EAA26EEA1E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93" y="4305300"/>
            <a:ext cx="4515220" cy="25527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236AE84-0C96-3D63-0A42-9AADC8E3B26C}"/>
              </a:ext>
            </a:extLst>
          </p:cNvPr>
          <p:cNvGraphicFramePr>
            <a:graphicFrameLocks noGrp="1"/>
          </p:cNvGraphicFramePr>
          <p:nvPr>
            <p:ph idx="1"/>
            <p:extLst>
              <p:ext uri="{D42A27DB-BD31-4B8C-83A1-F6EECF244321}">
                <p14:modId xmlns:p14="http://schemas.microsoft.com/office/powerpoint/2010/main" val="420091382"/>
              </p:ext>
            </p:extLst>
          </p:nvPr>
        </p:nvGraphicFramePr>
        <p:xfrm>
          <a:off x="5146923" y="832268"/>
          <a:ext cx="6289466" cy="51469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923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4000" y="743671"/>
            <a:ext cx="9137805" cy="325645"/>
          </a:xfrm>
          <a:noFill/>
        </p:spPr>
        <p:txBody>
          <a:bodyPr anchor="b"/>
          <a:lstStyle/>
          <a:p>
            <a:r>
              <a:rPr lang="en-US" sz="4000" b="1" i="0" dirty="0">
                <a:latin typeface="Times New Roman" panose="02020603050405020304" pitchFamily="18" charset="0"/>
                <a:ea typeface="Calibri"/>
                <a:cs typeface="Times New Roman" panose="02020603050405020304" pitchFamily="18" charset="0"/>
              </a:rPr>
              <a:t>Problem Statement</a:t>
            </a:r>
            <a:endParaRPr lang="en-US" sz="4000" b="1" dirty="0">
              <a:latin typeface="Times New Roman" panose="02020603050405020304" pitchFamily="18" charset="0"/>
              <a:ea typeface="Calibri"/>
              <a:cs typeface="Times New Roman" panose="02020603050405020304" pitchFamily="18" charset="0"/>
            </a:endParaRPr>
          </a:p>
        </p:txBody>
      </p:sp>
      <p:sp>
        <p:nvSpPr>
          <p:cNvPr id="5" name="TextBox 4">
            <a:extLst>
              <a:ext uri="{FF2B5EF4-FFF2-40B4-BE49-F238E27FC236}">
                <a16:creationId xmlns:a16="http://schemas.microsoft.com/office/drawing/2014/main" id="{3C08C97E-5EA3-17E3-DD41-D72EDD4ED195}"/>
              </a:ext>
            </a:extLst>
          </p:cNvPr>
          <p:cNvSpPr txBox="1"/>
          <p:nvPr/>
        </p:nvSpPr>
        <p:spPr>
          <a:xfrm>
            <a:off x="743618" y="1206353"/>
            <a:ext cx="6641155"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AI agents such as large language models (LLMs), Retrieval-Augmented Generation (RAG) systems, and conversational assistants are increasingly being deployed in real-world applications like customer support, healthcare, education, and enterprise decision-making.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However, these AI systems often face serious challenges, including:</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Unsafe or harmful responses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Vulnerability to jailbreak and prompt injection attacks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Hallucinated or incorrect outputs in RAG-based systems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consistent reliability and behavioral evaluation</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Currently, most AI evaluation processes are manual, inconsistent, and difficult to scale, making it hard for developers and organizations to ensure AI safety and robustness before deployment.</a:t>
            </a:r>
          </a:p>
          <a:p>
            <a:r>
              <a:rPr lang="en-US" dirty="0">
                <a:latin typeface="Times New Roman" panose="02020603050405020304" pitchFamily="18" charset="0"/>
                <a:cs typeface="Times New Roman" panose="02020603050405020304" pitchFamily="18" charset="0"/>
              </a:rPr>
              <a:t>Therefore, there is a need for an automated, systematic, and extensible framework that can evaluate and red-team AI agents across safety, reliability, and behavioral scenarios, while providing clear scoring and actionable reporting.</a:t>
            </a:r>
          </a:p>
          <a:p>
            <a:pPr algn="l"/>
            <a:endParaRPr lang="en-US" dirty="0"/>
          </a:p>
        </p:txBody>
      </p:sp>
      <p:pic>
        <p:nvPicPr>
          <p:cNvPr id="2" name="Picture 1">
            <a:extLst>
              <a:ext uri="{FF2B5EF4-FFF2-40B4-BE49-F238E27FC236}">
                <a16:creationId xmlns:a16="http://schemas.microsoft.com/office/drawing/2014/main" id="{92954DED-2380-E6EE-7F19-9BF98B469165}"/>
              </a:ext>
            </a:extLst>
          </p:cNvPr>
          <p:cNvPicPr>
            <a:picLocks noChangeAspect="1"/>
          </p:cNvPicPr>
          <p:nvPr/>
        </p:nvPicPr>
        <p:blipFill>
          <a:blip r:embed="rId3"/>
          <a:stretch>
            <a:fillRect/>
          </a:stretch>
        </p:blipFill>
        <p:spPr>
          <a:xfrm>
            <a:off x="7384773" y="1643316"/>
            <a:ext cx="4807227" cy="4270467"/>
          </a:xfrm>
          <a:prstGeom prst="rect">
            <a:avLst/>
          </a:prstGeom>
        </p:spPr>
      </p:pic>
    </p:spTree>
    <p:extLst>
      <p:ext uri="{BB962C8B-B14F-4D97-AF65-F5344CB8AC3E}">
        <p14:creationId xmlns:p14="http://schemas.microsoft.com/office/powerpoint/2010/main" val="821088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96493F34-B007-4F88-83C1-12063F3D5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3">
            <a:extLst>
              <a:ext uri="{FF2B5EF4-FFF2-40B4-BE49-F238E27FC236}">
                <a16:creationId xmlns:a16="http://schemas.microsoft.com/office/drawing/2014/main" id="{2A9F10D5-969B-46A5-8D52-AFF8DFF6C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5811"/>
            <a:ext cx="3448424" cy="693221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 name="connsiteX0" fmla="*/ 2023235 w 6699211"/>
              <a:gd name="connsiteY0" fmla="*/ 0 h 6869951"/>
              <a:gd name="connsiteX1" fmla="*/ 6699211 w 6699211"/>
              <a:gd name="connsiteY1" fmla="*/ 11953 h 6869951"/>
              <a:gd name="connsiteX2" fmla="*/ 6699211 w 6699211"/>
              <a:gd name="connsiteY2" fmla="*/ 6869951 h 6869951"/>
              <a:gd name="connsiteX3" fmla="*/ 0 w 6699211"/>
              <a:gd name="connsiteY3" fmla="*/ 6856303 h 6869951"/>
              <a:gd name="connsiteX4" fmla="*/ 2023235 w 6699211"/>
              <a:gd name="connsiteY4" fmla="*/ 0 h 6869951"/>
              <a:gd name="connsiteX0" fmla="*/ 2702995 w 6699211"/>
              <a:gd name="connsiteY0" fmla="*/ 42638 h 6857998"/>
              <a:gd name="connsiteX1" fmla="*/ 6699211 w 6699211"/>
              <a:gd name="connsiteY1" fmla="*/ 0 h 6857998"/>
              <a:gd name="connsiteX2" fmla="*/ 6699211 w 6699211"/>
              <a:gd name="connsiteY2" fmla="*/ 6857998 h 6857998"/>
              <a:gd name="connsiteX3" fmla="*/ 0 w 6699211"/>
              <a:gd name="connsiteY3" fmla="*/ 6844350 h 6857998"/>
              <a:gd name="connsiteX4" fmla="*/ 2702995 w 6699211"/>
              <a:gd name="connsiteY4" fmla="*/ 42638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9211" h="6857998">
                <a:moveTo>
                  <a:pt x="2702995" y="42638"/>
                </a:moveTo>
                <a:lnTo>
                  <a:pt x="6699211" y="0"/>
                </a:lnTo>
                <a:lnTo>
                  <a:pt x="6699211" y="6857998"/>
                </a:lnTo>
                <a:lnTo>
                  <a:pt x="0" y="6844350"/>
                </a:lnTo>
                <a:lnTo>
                  <a:pt x="2702995" y="42638"/>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314631" y="675167"/>
            <a:ext cx="3176655" cy="1695054"/>
          </a:xfrm>
        </p:spPr>
        <p:txBody>
          <a:bodyPr vert="horz" lIns="91440" tIns="45720" rIns="91440" bIns="45720" rtlCol="0" anchor="t">
            <a:normAutofit/>
          </a:bodyPr>
          <a:lstStyle/>
          <a:p>
            <a:r>
              <a:rPr lang="en-US" sz="3000" b="1" i="0" dirty="0">
                <a:latin typeface="Times New Roman" panose="02020603050405020304" pitchFamily="18" charset="0"/>
                <a:cs typeface="Times New Roman" panose="02020603050405020304" pitchFamily="18" charset="0"/>
              </a:rPr>
              <a:t>Project Description</a:t>
            </a:r>
            <a:endParaRPr lang="en-US" sz="3000" i="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3714344" y="533401"/>
            <a:ext cx="4307694" cy="5791199"/>
          </a:xfrm>
        </p:spPr>
        <p:txBody>
          <a:bodyPr vert="horz" lIns="91440" tIns="45720" rIns="91440" bIns="45720" rtlCol="0" anchor="ctr">
            <a:normAutofit/>
          </a:bodyPr>
          <a:lstStyle/>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Agent Evaluation Lab is a production-grade framework that:</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Automatically tests AI agents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Detects safety violations and jailbreak attacks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Evaluates reliability and hallucinations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Generates PASS/FAIL reports</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Supports: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OpenAI models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RAG systems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Custom AI services</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This is an enterprise-ready evaluation platform.</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dirty="0">
              <a:solidFill>
                <a:schemeClr val="tx2"/>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0978701E-0889-4A2E-A270-C42ADEB8CA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5329451"/>
            <a:ext cx="6096000" cy="15285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Floorplan on a table">
            <a:extLst>
              <a:ext uri="{FF2B5EF4-FFF2-40B4-BE49-F238E27FC236}">
                <a16:creationId xmlns:a16="http://schemas.microsoft.com/office/drawing/2014/main" id="{528790AF-CA32-C2A1-1191-93BF44EC9ECE}"/>
              </a:ext>
            </a:extLst>
          </p:cNvPr>
          <p:cNvPicPr>
            <a:picLocks noChangeAspect="1"/>
          </p:cNvPicPr>
          <p:nvPr/>
        </p:nvPicPr>
        <p:blipFill>
          <a:blip r:embed="rId3"/>
          <a:srcRect l="40225" r="23590"/>
          <a:stretch>
            <a:fillRect/>
          </a:stretch>
        </p:blipFill>
        <p:spPr>
          <a:xfrm>
            <a:off x="8679776" y="10"/>
            <a:ext cx="3519894" cy="6857990"/>
          </a:xfrm>
          <a:prstGeom prst="rect">
            <a:avLst/>
          </a:prstGeom>
        </p:spPr>
      </p:pic>
    </p:spTree>
    <p:extLst>
      <p:ext uri="{BB962C8B-B14F-4D97-AF65-F5344CB8AC3E}">
        <p14:creationId xmlns:p14="http://schemas.microsoft.com/office/powerpoint/2010/main" val="4242039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E4328C-8BBC-D840-59A9-7F0B39829EF4}"/>
              </a:ext>
            </a:extLst>
          </p:cNvPr>
          <p:cNvSpPr>
            <a:spLocks noGrp="1"/>
          </p:cNvSpPr>
          <p:nvPr>
            <p:ph type="title"/>
          </p:nvPr>
        </p:nvSpPr>
        <p:spPr>
          <a:xfrm>
            <a:off x="5146159" y="685800"/>
            <a:ext cx="6238688" cy="1382233"/>
          </a:xfrm>
        </p:spPr>
        <p:txBody>
          <a:bodyPr>
            <a:normAutofit/>
          </a:bodyPr>
          <a:lstStyle/>
          <a:p>
            <a:r>
              <a:rPr lang="en-US" b="1" i="0">
                <a:latin typeface="Times New Roman" panose="02020603050405020304" pitchFamily="18" charset="0"/>
                <a:cs typeface="Times New Roman" panose="02020603050405020304" pitchFamily="18" charset="0"/>
              </a:rPr>
              <a:t>Personas</a:t>
            </a:r>
          </a:p>
        </p:txBody>
      </p:sp>
      <p:pic>
        <p:nvPicPr>
          <p:cNvPr id="5" name="Content Placeholder 4" descr="A person in a black jacket&#10;&#10;AI-generated content may be incorrect.">
            <a:extLst>
              <a:ext uri="{FF2B5EF4-FFF2-40B4-BE49-F238E27FC236}">
                <a16:creationId xmlns:a16="http://schemas.microsoft.com/office/drawing/2014/main" id="{C651D114-D54F-6D2C-2E0B-F011A0E5E6DA}"/>
              </a:ext>
            </a:extLst>
          </p:cNvPr>
          <p:cNvPicPr>
            <a:picLocks noChangeAspect="1"/>
          </p:cNvPicPr>
          <p:nvPr/>
        </p:nvPicPr>
        <p:blipFill>
          <a:blip r:embed="rId2">
            <a:extLst>
              <a:ext uri="{28A0092B-C50C-407E-A947-70E740481C1C}">
                <a14:useLocalDpi xmlns:a14="http://schemas.microsoft.com/office/drawing/2010/main" val="0"/>
              </a:ext>
            </a:extLst>
          </a:blip>
          <a:srcRect l="57736" r="1988" b="1"/>
          <a:stretch>
            <a:fillRect/>
          </a:stretch>
        </p:blipFill>
        <p:spPr>
          <a:xfrm>
            <a:off x="20" y="-7444"/>
            <a:ext cx="4966427" cy="6874330"/>
          </a:xfrm>
          <a:custGeom>
            <a:avLst/>
            <a:gdLst/>
            <a:ahLst/>
            <a:cxnLst/>
            <a:rect l="l" t="t" r="r" b="b"/>
            <a:pathLst>
              <a:path w="4966447" h="6874330">
                <a:moveTo>
                  <a:pt x="0" y="0"/>
                </a:moveTo>
                <a:lnTo>
                  <a:pt x="4966447" y="0"/>
                </a:lnTo>
                <a:lnTo>
                  <a:pt x="3355712" y="6874330"/>
                </a:lnTo>
                <a:lnTo>
                  <a:pt x="0" y="6874330"/>
                </a:lnTo>
                <a:close/>
              </a:path>
            </a:pathLst>
          </a:custGeom>
        </p:spPr>
      </p:pic>
      <p:sp>
        <p:nvSpPr>
          <p:cNvPr id="9" name="Content Placeholder 8">
            <a:extLst>
              <a:ext uri="{FF2B5EF4-FFF2-40B4-BE49-F238E27FC236}">
                <a16:creationId xmlns:a16="http://schemas.microsoft.com/office/drawing/2014/main" id="{E541C86A-FA1A-0AB2-D7E6-7B20C38E1C2C}"/>
              </a:ext>
            </a:extLst>
          </p:cNvPr>
          <p:cNvSpPr>
            <a:spLocks noGrp="1"/>
          </p:cNvSpPr>
          <p:nvPr>
            <p:ph idx="1"/>
          </p:nvPr>
        </p:nvSpPr>
        <p:spPr>
          <a:xfrm>
            <a:off x="5146158" y="2301949"/>
            <a:ext cx="6238687" cy="4022650"/>
          </a:xfrm>
        </p:spPr>
        <p:txBody>
          <a:bodyP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Name: Alex Johnson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Machine Learning Engineer / AI Developer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Builds AI-powered chatbots and assistants using OpenAI APIs.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Ensure the AI agent behaves correctly before deployment</a:t>
            </a:r>
          </a:p>
          <a:p>
            <a:r>
              <a:rPr lang="en-US" dirty="0">
                <a:latin typeface="Times New Roman" panose="02020603050405020304" pitchFamily="18" charset="0"/>
                <a:cs typeface="Times New Roman" panose="02020603050405020304" pitchFamily="18" charset="0"/>
              </a:rPr>
              <a:t>Test safety and reliability automatically</a:t>
            </a:r>
          </a:p>
          <a:p>
            <a:r>
              <a:rPr lang="en-US" dirty="0">
                <a:latin typeface="Times New Roman" panose="02020603050405020304" pitchFamily="18" charset="0"/>
                <a:cs typeface="Times New Roman" panose="02020603050405020304" pitchFamily="18" charset="0"/>
              </a:rPr>
              <a:t>Detect jailbreak or prompt injection vulnerabilities early</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Manual testing is slow and inconsistent</a:t>
            </a:r>
          </a:p>
          <a:p>
            <a:r>
              <a:rPr lang="en-US" dirty="0">
                <a:latin typeface="Times New Roman" panose="02020603050405020304" pitchFamily="18" charset="0"/>
                <a:cs typeface="Times New Roman" panose="02020603050405020304" pitchFamily="18" charset="0"/>
              </a:rPr>
              <a:t>Difficult to track failures across multiple scenarios</a:t>
            </a:r>
          </a:p>
          <a:p>
            <a:r>
              <a:rPr lang="en-US" dirty="0">
                <a:latin typeface="Times New Roman" panose="02020603050405020304" pitchFamily="18" charset="0"/>
                <a:cs typeface="Times New Roman" panose="02020603050405020304" pitchFamily="18" charset="0"/>
              </a:rPr>
              <a:t>Needs structured evaluation results for debugging</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automated scenario-based testing with clear PASS/FAIL scoring and detailed reports.</a:t>
            </a:r>
          </a:p>
        </p:txBody>
      </p:sp>
      <p:cxnSp>
        <p:nvCxnSpPr>
          <p:cNvPr id="14" name="Straight Connector 13">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380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829807-7791-462F-8C59-969B0EC71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19AF8780-05F2-88A0-C4F2-4F5384CD7BD5}"/>
              </a:ext>
            </a:extLst>
          </p:cNvPr>
          <p:cNvSpPr>
            <a:spLocks noGrp="1"/>
          </p:cNvSpPr>
          <p:nvPr>
            <p:ph idx="1"/>
          </p:nvPr>
        </p:nvSpPr>
        <p:spPr>
          <a:xfrm>
            <a:off x="5049839" y="2105525"/>
            <a:ext cx="6481170" cy="4219073"/>
          </a:xfrm>
        </p:spPr>
        <p:txBody>
          <a:bodyPr anchor="ct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Name: Kate Sharma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AI Safety Specialist / Compliance Officer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Responsible for ensuring AI systems meet enterprise safety and ethical standards.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Prevent unsafe or harmful AI outputs</a:t>
            </a:r>
          </a:p>
          <a:p>
            <a:r>
              <a:rPr lang="en-US" dirty="0">
                <a:latin typeface="Times New Roman" panose="02020603050405020304" pitchFamily="18" charset="0"/>
                <a:cs typeface="Times New Roman" panose="02020603050405020304" pitchFamily="18" charset="0"/>
              </a:rPr>
              <a:t>Ensure compliance with organizational policies</a:t>
            </a:r>
          </a:p>
          <a:p>
            <a:r>
              <a:rPr lang="en-US" dirty="0">
                <a:latin typeface="Times New Roman" panose="02020603050405020304" pitchFamily="18" charset="0"/>
                <a:cs typeface="Times New Roman" panose="02020603050405020304" pitchFamily="18" charset="0"/>
              </a:rPr>
              <a:t>Generate audit-ready safety evaluation reports</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Hard to validate AI safety across many use cases</a:t>
            </a:r>
          </a:p>
          <a:p>
            <a:r>
              <a:rPr lang="en-US" dirty="0">
                <a:latin typeface="Times New Roman" panose="02020603050405020304" pitchFamily="18" charset="0"/>
                <a:cs typeface="Times New Roman" panose="02020603050405020304" pitchFamily="18" charset="0"/>
              </a:rPr>
              <a:t>Lack of standardized red-teaming tools</a:t>
            </a:r>
          </a:p>
          <a:p>
            <a:r>
              <a:rPr lang="en-US" dirty="0">
                <a:latin typeface="Times New Roman" panose="02020603050405020304" pitchFamily="18" charset="0"/>
                <a:cs typeface="Times New Roman" panose="02020603050405020304" pitchFamily="18" charset="0"/>
              </a:rPr>
              <a:t>Needs clear documentation of risks and failures</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Runs red-team safety scenarios and produces professional reports in Markdown/HTML/JSON.</a:t>
            </a:r>
          </a:p>
        </p:txBody>
      </p:sp>
      <p:pic>
        <p:nvPicPr>
          <p:cNvPr id="5" name="Content Placeholder 4">
            <a:extLst>
              <a:ext uri="{FF2B5EF4-FFF2-40B4-BE49-F238E27FC236}">
                <a16:creationId xmlns:a16="http://schemas.microsoft.com/office/drawing/2014/main" id="{54242429-0017-CEBF-4100-85C0C1E9ABDA}"/>
              </a:ext>
            </a:extLst>
          </p:cNvPr>
          <p:cNvPicPr>
            <a:picLocks noChangeAspect="1"/>
          </p:cNvPicPr>
          <p:nvPr/>
        </p:nvPicPr>
        <p:blipFill>
          <a:blip r:embed="rId2"/>
          <a:srcRect l="57790" r="790"/>
          <a:stretch>
            <a:fillRect/>
          </a:stretch>
        </p:blipFill>
        <p:spPr>
          <a:xfrm>
            <a:off x="20" y="2"/>
            <a:ext cx="5049819" cy="6857998"/>
          </a:xfrm>
          <a:custGeom>
            <a:avLst/>
            <a:gdLst/>
            <a:ahLst/>
            <a:cxnLst/>
            <a:rect l="l" t="t" r="r" b="b"/>
            <a:pathLst>
              <a:path w="5049839" h="6857998">
                <a:moveTo>
                  <a:pt x="0" y="0"/>
                </a:moveTo>
                <a:lnTo>
                  <a:pt x="5049839" y="1331"/>
                </a:lnTo>
                <a:lnTo>
                  <a:pt x="3110749" y="6857998"/>
                </a:lnTo>
                <a:lnTo>
                  <a:pt x="0" y="6857998"/>
                </a:lnTo>
                <a:close/>
              </a:path>
            </a:pathLst>
          </a:custGeom>
        </p:spPr>
      </p:pic>
      <p:cxnSp>
        <p:nvCxnSpPr>
          <p:cNvPr id="16" name="Straight Connector 15">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845859" y="0"/>
            <a:ext cx="699247" cy="685734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2312DA-BDBD-40EE-84AB-53293C1CD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10" y="5788959"/>
            <a:ext cx="7396312" cy="106904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923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8360D4EE-B327-244D-C051-04B74B506E1E}"/>
              </a:ext>
            </a:extLst>
          </p:cNvPr>
          <p:cNvPicPr>
            <a:picLocks noChangeAspect="1"/>
          </p:cNvPicPr>
          <p:nvPr/>
        </p:nvPicPr>
        <p:blipFill>
          <a:blip r:embed="rId2"/>
          <a:srcRect l="59361" r="1" b="1"/>
          <a:stretch>
            <a:fillRect/>
          </a:stretch>
        </p:blipFill>
        <p:spPr>
          <a:xfrm>
            <a:off x="20" y="-7444"/>
            <a:ext cx="4966427" cy="6874330"/>
          </a:xfrm>
          <a:custGeom>
            <a:avLst/>
            <a:gdLst/>
            <a:ahLst/>
            <a:cxnLst/>
            <a:rect l="l" t="t" r="r" b="b"/>
            <a:pathLst>
              <a:path w="4966447" h="6874330">
                <a:moveTo>
                  <a:pt x="0" y="0"/>
                </a:moveTo>
                <a:lnTo>
                  <a:pt x="4966447" y="0"/>
                </a:lnTo>
                <a:lnTo>
                  <a:pt x="3355712" y="6874330"/>
                </a:lnTo>
                <a:lnTo>
                  <a:pt x="0" y="6874330"/>
                </a:lnTo>
                <a:close/>
              </a:path>
            </a:pathLst>
          </a:custGeom>
        </p:spPr>
      </p:pic>
      <p:sp>
        <p:nvSpPr>
          <p:cNvPr id="11" name="Content Placeholder 10">
            <a:extLst>
              <a:ext uri="{FF2B5EF4-FFF2-40B4-BE49-F238E27FC236}">
                <a16:creationId xmlns:a16="http://schemas.microsoft.com/office/drawing/2014/main" id="{BCE2689D-ED22-95E8-E663-A2D9311453E0}"/>
              </a:ext>
            </a:extLst>
          </p:cNvPr>
          <p:cNvSpPr>
            <a:spLocks noGrp="1"/>
          </p:cNvSpPr>
          <p:nvPr>
            <p:ph idx="1"/>
          </p:nvPr>
        </p:nvSpPr>
        <p:spPr>
          <a:xfrm>
            <a:off x="5146158" y="1681316"/>
            <a:ext cx="6238687" cy="464328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Name: Anthony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Software Engineer (RAG &amp; Search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Develops Retrieval-Augmented Generation (RAG) applications for enterprise knowledge assistants.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Ensure responses stay grounded in retrieved documents</a:t>
            </a:r>
          </a:p>
          <a:p>
            <a:r>
              <a:rPr lang="en-US" dirty="0">
                <a:latin typeface="Times New Roman" panose="02020603050405020304" pitchFamily="18" charset="0"/>
                <a:cs typeface="Times New Roman" panose="02020603050405020304" pitchFamily="18" charset="0"/>
              </a:rPr>
              <a:t>Detect hallucinations and missing-context failures</a:t>
            </a:r>
          </a:p>
          <a:p>
            <a:r>
              <a:rPr lang="en-US" dirty="0">
                <a:latin typeface="Times New Roman" panose="02020603050405020304" pitchFamily="18" charset="0"/>
                <a:cs typeface="Times New Roman" panose="02020603050405020304" pitchFamily="18" charset="0"/>
              </a:rPr>
              <a:t>Improve reliability of enterprise AI assistants</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RAG systems often hallucinate when context is incomplete</a:t>
            </a:r>
          </a:p>
          <a:p>
            <a:r>
              <a:rPr lang="en-US" dirty="0">
                <a:latin typeface="Times New Roman" panose="02020603050405020304" pitchFamily="18" charset="0"/>
                <a:cs typeface="Times New Roman" panose="02020603050405020304" pitchFamily="18" charset="0"/>
              </a:rPr>
              <a:t>Difficult to evaluate retrieval + generation quality together</a:t>
            </a:r>
          </a:p>
          <a:p>
            <a:r>
              <a:rPr lang="en-US" dirty="0">
                <a:latin typeface="Times New Roman" panose="02020603050405020304" pitchFamily="18" charset="0"/>
                <a:cs typeface="Times New Roman" panose="02020603050405020304" pitchFamily="18" charset="0"/>
              </a:rPr>
              <a:t>Needs automated reliability checks</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Includes RAG-specific scenarios such as missing-context tests and hallucination detection.</a:t>
            </a:r>
          </a:p>
          <a:p>
            <a:endParaRPr lang="en-US" dirty="0"/>
          </a:p>
        </p:txBody>
      </p:sp>
      <p:cxnSp>
        <p:nvCxnSpPr>
          <p:cNvPr id="16" name="Straight Connector 15">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527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AE0423-BDD0-446E-8E7E-AD39C661C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954"/>
            <a:ext cx="12192000" cy="68510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F4B48C8-2A0F-488D-AD2B-8302238506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7150" y="0"/>
            <a:ext cx="755498"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C519FBD-B380-FD4A-DCE6-D73F2642A6A9}"/>
              </a:ext>
            </a:extLst>
          </p:cNvPr>
          <p:cNvSpPr>
            <a:spLocks noGrp="1"/>
          </p:cNvSpPr>
          <p:nvPr>
            <p:ph type="title"/>
          </p:nvPr>
        </p:nvSpPr>
        <p:spPr>
          <a:xfrm>
            <a:off x="664431" y="1102360"/>
            <a:ext cx="3812717" cy="4724400"/>
          </a:xfrm>
        </p:spPr>
        <p:txBody>
          <a:bodyPr anchor="ctr">
            <a:normAutofit/>
          </a:bodyPr>
          <a:lstStyle/>
          <a:p>
            <a:r>
              <a:rPr lang="en-US" b="1" i="0">
                <a:latin typeface="Times New Roman" panose="02020603050405020304" pitchFamily="18" charset="0"/>
                <a:cs typeface="Times New Roman" panose="02020603050405020304" pitchFamily="18" charset="0"/>
              </a:rPr>
              <a:t>MINIMAL VIABLE PRODUCT (MVP)</a:t>
            </a:r>
          </a:p>
        </p:txBody>
      </p:sp>
      <p:cxnSp>
        <p:nvCxnSpPr>
          <p:cNvPr id="14" name="Straight Connector 13">
            <a:extLst>
              <a:ext uri="{FF2B5EF4-FFF2-40B4-BE49-F238E27FC236}">
                <a16:creationId xmlns:a16="http://schemas.microsoft.com/office/drawing/2014/main" id="{C6BEB5BD-6C08-40C8-8912-A7FAB7C45A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94040" y="0"/>
            <a:ext cx="322728"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0D9B68-2F9B-0831-5B6A-2968D340F0B6}"/>
              </a:ext>
            </a:extLst>
          </p:cNvPr>
          <p:cNvSpPr>
            <a:spLocks noGrp="1"/>
          </p:cNvSpPr>
          <p:nvPr>
            <p:ph idx="1"/>
          </p:nvPr>
        </p:nvSpPr>
        <p:spPr>
          <a:xfrm>
            <a:off x="5797686" y="533399"/>
            <a:ext cx="5683114" cy="5771481"/>
          </a:xfrm>
        </p:spPr>
        <p:txBody>
          <a:bodyPr anchor="ctr">
            <a:normAutofit/>
          </a:bodyPr>
          <a:lstStyle/>
          <a:p>
            <a:pPr marL="0" indent="0">
              <a:lnSpc>
                <a:spcPct val="90000"/>
              </a:lnSpc>
              <a:buNone/>
            </a:pPr>
            <a:r>
              <a:rPr lang="en-US" sz="2000" dirty="0">
                <a:latin typeface="Times New Roman" panose="02020603050405020304" pitchFamily="18" charset="0"/>
                <a:cs typeface="Times New Roman" panose="02020603050405020304" pitchFamily="18" charset="0"/>
              </a:rPr>
              <a:t>The following are the core features included in the MVP of the Agent Evaluation Lab project:</a:t>
            </a:r>
          </a:p>
          <a:p>
            <a:pPr marL="0" indent="0">
              <a:lnSpc>
                <a:spcPct val="90000"/>
              </a:lnSpc>
              <a:buNone/>
            </a:pPr>
            <a:r>
              <a:rPr lang="en-US" sz="2000" dirty="0">
                <a:latin typeface="Times New Roman" panose="02020603050405020304" pitchFamily="18" charset="0"/>
                <a:cs typeface="Times New Roman" panose="02020603050405020304" pitchFamily="18" charset="0"/>
              </a:rPr>
              <a:t>• Command Line Interface (CLI) to run AI agent evaluation scenarios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YAML-based scenario definitions for structured testing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OpenAI and HTTP Agent adapter to evaluate LLM and RAG agents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Automated scenario execution with retry and concurrency support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Evaluation engine with PASS / FAIL scoring based on predefined predicates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Safety and reliability scenarios including jailbreak, prompt injection, and hallucination detection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Automated report generation in Markdown, HTML, and JSON formats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Basic evaluation platform interface to run tests and view results</a:t>
            </a:r>
          </a:p>
          <a:p>
            <a:pPr>
              <a:lnSpc>
                <a:spcPct val="90000"/>
              </a:lnSpc>
            </a:pPr>
            <a:endParaRPr lang="en-US" sz="2000" dirty="0"/>
          </a:p>
        </p:txBody>
      </p:sp>
    </p:spTree>
    <p:extLst>
      <p:ext uri="{BB962C8B-B14F-4D97-AF65-F5344CB8AC3E}">
        <p14:creationId xmlns:p14="http://schemas.microsoft.com/office/powerpoint/2010/main" val="3962387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6020DE-E0FE-1E4C-7CFE-747BB2216782}"/>
              </a:ext>
            </a:extLst>
          </p:cNvPr>
          <p:cNvPicPr>
            <a:picLocks noGrp="1" noChangeAspect="1"/>
          </p:cNvPicPr>
          <p:nvPr>
            <p:ph idx="1"/>
          </p:nvPr>
        </p:nvPicPr>
        <p:blipFill>
          <a:blip r:embed="rId2"/>
          <a:srcRect l="14243" r="12828"/>
          <a:stretch>
            <a:fillRect/>
          </a:stretch>
        </p:blipFill>
        <p:spPr>
          <a:xfrm>
            <a:off x="934064" y="1465005"/>
            <a:ext cx="5161935" cy="4748982"/>
          </a:xfrm>
          <a:prstGeom prst="rect">
            <a:avLst/>
          </a:prstGeom>
        </p:spPr>
      </p:pic>
      <p:pic>
        <p:nvPicPr>
          <p:cNvPr id="7" name="Picture 6">
            <a:extLst>
              <a:ext uri="{FF2B5EF4-FFF2-40B4-BE49-F238E27FC236}">
                <a16:creationId xmlns:a16="http://schemas.microsoft.com/office/drawing/2014/main" id="{0C4896FF-73A7-A5BC-CD59-382D253CA441}"/>
              </a:ext>
            </a:extLst>
          </p:cNvPr>
          <p:cNvPicPr>
            <a:picLocks noChangeAspect="1"/>
          </p:cNvPicPr>
          <p:nvPr/>
        </p:nvPicPr>
        <p:blipFill>
          <a:blip r:embed="rId3"/>
          <a:stretch>
            <a:fillRect/>
          </a:stretch>
        </p:blipFill>
        <p:spPr>
          <a:xfrm>
            <a:off x="6125494" y="1445341"/>
            <a:ext cx="5683045" cy="5279922"/>
          </a:xfrm>
          <a:prstGeom prst="rect">
            <a:avLst/>
          </a:prstGeom>
        </p:spPr>
      </p:pic>
      <p:sp>
        <p:nvSpPr>
          <p:cNvPr id="10" name="TextBox 9">
            <a:extLst>
              <a:ext uri="{FF2B5EF4-FFF2-40B4-BE49-F238E27FC236}">
                <a16:creationId xmlns:a16="http://schemas.microsoft.com/office/drawing/2014/main" id="{F1F1ACAF-287D-700B-F83D-F82D9BD9E636}"/>
              </a:ext>
            </a:extLst>
          </p:cNvPr>
          <p:cNvSpPr txBox="1"/>
          <p:nvPr/>
        </p:nvSpPr>
        <p:spPr>
          <a:xfrm>
            <a:off x="1104632" y="875071"/>
            <a:ext cx="6782819" cy="553998"/>
          </a:xfrm>
          <a:prstGeom prst="rect">
            <a:avLst/>
          </a:prstGeom>
          <a:noFill/>
        </p:spPr>
        <p:txBody>
          <a:bodyPr wrap="none" rtlCol="0">
            <a:spAutoFit/>
          </a:bodyPr>
          <a:lstStyle/>
          <a:p>
            <a:r>
              <a:rPr lang="en-US" sz="3000" b="1" dirty="0">
                <a:latin typeface="Times New Roman" panose="02020603050405020304" pitchFamily="18" charset="0"/>
                <a:cs typeface="Times New Roman" panose="02020603050405020304" pitchFamily="18" charset="0"/>
              </a:rPr>
              <a:t>MINIMAL VIABLE PRODUCT (MVP)</a:t>
            </a:r>
            <a:endParaRPr lang="en-US" sz="3000" dirty="0"/>
          </a:p>
        </p:txBody>
      </p:sp>
    </p:spTree>
    <p:extLst>
      <p:ext uri="{BB962C8B-B14F-4D97-AF65-F5344CB8AC3E}">
        <p14:creationId xmlns:p14="http://schemas.microsoft.com/office/powerpoint/2010/main" val="299720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3970117" y="185195"/>
            <a:ext cx="6938236" cy="780484"/>
          </a:xfrm>
          <a:noFill/>
        </p:spPr>
        <p:txBody>
          <a:bodyPr/>
          <a:lstStyle/>
          <a:p>
            <a:r>
              <a:rPr lang="en-US" sz="4000" b="1" i="0" dirty="0">
                <a:solidFill>
                  <a:schemeClr val="tx1"/>
                </a:solidFill>
                <a:latin typeface="Times New Roman" panose="02020603050405020304" pitchFamily="18" charset="0"/>
                <a:ea typeface="Calibri"/>
                <a:cs typeface="Times New Roman" panose="02020603050405020304" pitchFamily="18" charset="0"/>
              </a:rPr>
              <a:t>Technologies</a:t>
            </a:r>
            <a:endParaRPr lang="en-US" sz="4000" b="1" dirty="0">
              <a:solidFill>
                <a:schemeClr val="tx1"/>
              </a:solidFill>
              <a:latin typeface="Times New Roman" panose="02020603050405020304" pitchFamily="18" charset="0"/>
              <a:ea typeface="Calibri"/>
              <a:cs typeface="Times New Roman" panose="02020603050405020304" pitchFamily="18" charset="0"/>
            </a:endParaRPr>
          </a:p>
        </p:txBody>
      </p:sp>
      <p:pic>
        <p:nvPicPr>
          <p:cNvPr id="4" name="Content Placeholder 3">
            <a:extLst>
              <a:ext uri="{FF2B5EF4-FFF2-40B4-BE49-F238E27FC236}">
                <a16:creationId xmlns:a16="http://schemas.microsoft.com/office/drawing/2014/main" id="{5AE7BBB8-B67B-31DD-C213-913207CFC2DD}"/>
              </a:ext>
            </a:extLst>
          </p:cNvPr>
          <p:cNvPicPr>
            <a:picLocks noGrp="1" noChangeAspect="1"/>
          </p:cNvPicPr>
          <p:nvPr>
            <p:ph sz="half" idx="2"/>
          </p:nvPr>
        </p:nvPicPr>
        <p:blipFill>
          <a:blip r:embed="rId3"/>
          <a:stretch>
            <a:fillRect/>
          </a:stretch>
        </p:blipFill>
        <p:spPr>
          <a:xfrm>
            <a:off x="2074607" y="1131067"/>
            <a:ext cx="8475406" cy="4792509"/>
          </a:xfrm>
          <a:prstGeom prst="rect">
            <a:avLst/>
          </a:prstGeom>
        </p:spPr>
      </p:pic>
    </p:spTree>
    <p:extLst>
      <p:ext uri="{BB962C8B-B14F-4D97-AF65-F5344CB8AC3E}">
        <p14:creationId xmlns:p14="http://schemas.microsoft.com/office/powerpoint/2010/main" val="43519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8388F0-ECBB-EC14-F57B-4E55A095E63D}"/>
              </a:ext>
            </a:extLst>
          </p:cNvPr>
          <p:cNvSpPr>
            <a:spLocks noGrp="1"/>
          </p:cNvSpPr>
          <p:nvPr>
            <p:ph type="title"/>
          </p:nvPr>
        </p:nvSpPr>
        <p:spPr>
          <a:xfrm>
            <a:off x="283518" y="1797823"/>
            <a:ext cx="4857069" cy="2417194"/>
          </a:xfrm>
        </p:spPr>
        <p:txBody>
          <a:bodyPr vert="horz" lIns="91440" tIns="45720" rIns="91440" bIns="45720" rtlCol="0" anchor="b">
            <a:normAutofit/>
          </a:bodyPr>
          <a:lstStyle/>
          <a:p>
            <a:r>
              <a:rPr lang="en-US" sz="4200" b="1" i="0" dirty="0">
                <a:latin typeface="Times New Roman" panose="02020603050405020304" pitchFamily="18" charset="0"/>
                <a:cs typeface="Times New Roman" panose="02020603050405020304" pitchFamily="18" charset="0"/>
              </a:rPr>
              <a:t>SYSTEM ARCHITECTURE</a:t>
            </a:r>
          </a:p>
        </p:txBody>
      </p:sp>
      <p:cxnSp>
        <p:nvCxnSpPr>
          <p:cNvPr id="55" name="Straight Connector 54">
            <a:extLst>
              <a:ext uri="{FF2B5EF4-FFF2-40B4-BE49-F238E27FC236}">
                <a16:creationId xmlns:a16="http://schemas.microsoft.com/office/drawing/2014/main" id="{B42E889C-BF1F-40B2-86C2-92153DB7E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8034" y="0"/>
            <a:ext cx="6553966" cy="354261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851108" y="4783369"/>
            <a:ext cx="5340893" cy="207463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021640" y="0"/>
            <a:ext cx="126817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DB739BE-F71D-D3FC-DD3B-D7592E34798F}"/>
              </a:ext>
            </a:extLst>
          </p:cNvPr>
          <p:cNvPicPr>
            <a:picLocks noChangeAspect="1"/>
          </p:cNvPicPr>
          <p:nvPr/>
        </p:nvPicPr>
        <p:blipFill>
          <a:blip r:embed="rId2"/>
          <a:stretch>
            <a:fillRect/>
          </a:stretch>
        </p:blipFill>
        <p:spPr>
          <a:xfrm>
            <a:off x="5509373" y="393291"/>
            <a:ext cx="6221691" cy="5909186"/>
          </a:xfrm>
          <a:prstGeom prst="rect">
            <a:avLst/>
          </a:prstGeom>
        </p:spPr>
      </p:pic>
    </p:spTree>
    <p:extLst>
      <p:ext uri="{BB962C8B-B14F-4D97-AF65-F5344CB8AC3E}">
        <p14:creationId xmlns:p14="http://schemas.microsoft.com/office/powerpoint/2010/main" val="932017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8866-5D69-DC5B-0CFF-867CBEBF80B0}"/>
              </a:ext>
            </a:extLst>
          </p:cNvPr>
          <p:cNvSpPr>
            <a:spLocks noGrp="1"/>
          </p:cNvSpPr>
          <p:nvPr>
            <p:ph type="title"/>
          </p:nvPr>
        </p:nvSpPr>
        <p:spPr>
          <a:xfrm>
            <a:off x="1143000" y="533402"/>
            <a:ext cx="9906000" cy="577644"/>
          </a:xfrm>
        </p:spPr>
        <p:txBody>
          <a:bodyPr>
            <a:normAutofit/>
          </a:bodyPr>
          <a:lstStyle/>
          <a:p>
            <a:r>
              <a:rPr lang="en-US" sz="3000" b="1" i="0"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0AF75D50-25BD-3FF0-F177-FB37B016C970}"/>
              </a:ext>
            </a:extLst>
          </p:cNvPr>
          <p:cNvPicPr>
            <a:picLocks noChangeAspect="1"/>
          </p:cNvPicPr>
          <p:nvPr/>
        </p:nvPicPr>
        <p:blipFill>
          <a:blip r:embed="rId2"/>
          <a:stretch>
            <a:fillRect/>
          </a:stretch>
        </p:blipFill>
        <p:spPr>
          <a:xfrm>
            <a:off x="1143000" y="1111046"/>
            <a:ext cx="10291916" cy="5213552"/>
          </a:xfrm>
          <a:prstGeom prst="rect">
            <a:avLst/>
          </a:prstGeom>
        </p:spPr>
      </p:pic>
    </p:spTree>
    <p:extLst>
      <p:ext uri="{BB962C8B-B14F-4D97-AF65-F5344CB8AC3E}">
        <p14:creationId xmlns:p14="http://schemas.microsoft.com/office/powerpoint/2010/main" val="1791909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7010-F37B-9CB7-FB01-03BED9C5B025}"/>
              </a:ext>
            </a:extLst>
          </p:cNvPr>
          <p:cNvSpPr>
            <a:spLocks noGrp="1"/>
          </p:cNvSpPr>
          <p:nvPr>
            <p:ph type="title"/>
          </p:nvPr>
        </p:nvSpPr>
        <p:spPr/>
        <p:txBody>
          <a:bodyPr>
            <a:normAutofit/>
          </a:bodyPr>
          <a:lstStyle/>
          <a:p>
            <a:r>
              <a:rPr lang="en-US" sz="3000" b="1" i="0" dirty="0">
                <a:latin typeface="Times New Roman" panose="02020603050405020304" pitchFamily="18" charset="0"/>
                <a:cs typeface="Times New Roman" panose="02020603050405020304" pitchFamily="18" charset="0"/>
              </a:rPr>
              <a:t>PRODUCT BACKLOG</a:t>
            </a:r>
          </a:p>
        </p:txBody>
      </p:sp>
      <p:pic>
        <p:nvPicPr>
          <p:cNvPr id="6" name="Picture 5" descr="A computer screen shot of a computer screen&#10;&#10;AI-generated content may be incorrect.">
            <a:extLst>
              <a:ext uri="{FF2B5EF4-FFF2-40B4-BE49-F238E27FC236}">
                <a16:creationId xmlns:a16="http://schemas.microsoft.com/office/drawing/2014/main" id="{F4C4DA2F-56C8-8393-86DF-30ACE7C3B539}"/>
              </a:ext>
            </a:extLst>
          </p:cNvPr>
          <p:cNvPicPr>
            <a:picLocks noChangeAspect="1"/>
          </p:cNvPicPr>
          <p:nvPr/>
        </p:nvPicPr>
        <p:blipFill>
          <a:blip r:embed="rId2">
            <a:extLst>
              <a:ext uri="{28A0092B-C50C-407E-A947-70E740481C1C}">
                <a14:useLocalDpi xmlns:a14="http://schemas.microsoft.com/office/drawing/2010/main" val="0"/>
              </a:ext>
            </a:extLst>
          </a:blip>
          <a:srcRect t="25089" b="21577"/>
          <a:stretch>
            <a:fillRect/>
          </a:stretch>
        </p:blipFill>
        <p:spPr>
          <a:xfrm>
            <a:off x="786580" y="1494504"/>
            <a:ext cx="10953135" cy="4385188"/>
          </a:xfrm>
          <a:prstGeom prst="rect">
            <a:avLst/>
          </a:prstGeom>
        </p:spPr>
      </p:pic>
    </p:spTree>
    <p:extLst>
      <p:ext uri="{BB962C8B-B14F-4D97-AF65-F5344CB8AC3E}">
        <p14:creationId xmlns:p14="http://schemas.microsoft.com/office/powerpoint/2010/main" val="1132486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5EC1-BDD1-68D1-B23D-BAD88A862C0D}"/>
              </a:ext>
            </a:extLst>
          </p:cNvPr>
          <p:cNvSpPr>
            <a:spLocks noGrp="1"/>
          </p:cNvSpPr>
          <p:nvPr>
            <p:ph type="title"/>
          </p:nvPr>
        </p:nvSpPr>
        <p:spPr>
          <a:xfrm>
            <a:off x="1028495" y="488950"/>
            <a:ext cx="10515600" cy="558799"/>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p>
        </p:txBody>
      </p:sp>
      <p:pic>
        <p:nvPicPr>
          <p:cNvPr id="7" name="Picture 6" descr="A screenshot of a computer&#10;&#10;AI-generated content may be incorrect.">
            <a:extLst>
              <a:ext uri="{FF2B5EF4-FFF2-40B4-BE49-F238E27FC236}">
                <a16:creationId xmlns:a16="http://schemas.microsoft.com/office/drawing/2014/main" id="{68535F42-18B3-21F8-68B0-08B6D0A93C1A}"/>
              </a:ext>
            </a:extLst>
          </p:cNvPr>
          <p:cNvPicPr>
            <a:picLocks noChangeAspect="1"/>
          </p:cNvPicPr>
          <p:nvPr/>
        </p:nvPicPr>
        <p:blipFill>
          <a:blip r:embed="rId2">
            <a:extLst>
              <a:ext uri="{28A0092B-C50C-407E-A947-70E740481C1C}">
                <a14:useLocalDpi xmlns:a14="http://schemas.microsoft.com/office/drawing/2010/main" val="0"/>
              </a:ext>
            </a:extLst>
          </a:blip>
          <a:srcRect l="1452" t="24946" r="48307" b="10824"/>
          <a:stretch>
            <a:fillRect/>
          </a:stretch>
        </p:blipFill>
        <p:spPr>
          <a:xfrm>
            <a:off x="1607574" y="1297857"/>
            <a:ext cx="8976851" cy="4758814"/>
          </a:xfrm>
          <a:prstGeom prst="rect">
            <a:avLst/>
          </a:prstGeom>
        </p:spPr>
      </p:pic>
    </p:spTree>
    <p:extLst>
      <p:ext uri="{BB962C8B-B14F-4D97-AF65-F5344CB8AC3E}">
        <p14:creationId xmlns:p14="http://schemas.microsoft.com/office/powerpoint/2010/main" val="1471778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D0E3-A736-0747-93FE-23772E492FFA}"/>
              </a:ext>
            </a:extLst>
          </p:cNvPr>
          <p:cNvSpPr>
            <a:spLocks noGrp="1"/>
          </p:cNvSpPr>
          <p:nvPr>
            <p:ph type="title"/>
          </p:nvPr>
        </p:nvSpPr>
        <p:spPr>
          <a:xfrm>
            <a:off x="812186" y="522544"/>
            <a:ext cx="10131118" cy="689332"/>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endParaRPr lang="en-US" sz="3000" dirty="0"/>
          </a:p>
        </p:txBody>
      </p:sp>
      <p:pic>
        <p:nvPicPr>
          <p:cNvPr id="7" name="Picture 6" descr="A screenshot of a computer&#10;&#10;AI-generated content may be incorrect.">
            <a:extLst>
              <a:ext uri="{FF2B5EF4-FFF2-40B4-BE49-F238E27FC236}">
                <a16:creationId xmlns:a16="http://schemas.microsoft.com/office/drawing/2014/main" id="{FBFA758C-5C01-7F2A-CB12-5A90ACE31087}"/>
              </a:ext>
            </a:extLst>
          </p:cNvPr>
          <p:cNvPicPr>
            <a:picLocks noChangeAspect="1"/>
          </p:cNvPicPr>
          <p:nvPr/>
        </p:nvPicPr>
        <p:blipFill>
          <a:blip r:embed="rId2">
            <a:extLst>
              <a:ext uri="{28A0092B-C50C-407E-A947-70E740481C1C}">
                <a14:useLocalDpi xmlns:a14="http://schemas.microsoft.com/office/drawing/2010/main" val="0"/>
              </a:ext>
            </a:extLst>
          </a:blip>
          <a:srcRect t="24373" r="44274" b="11204"/>
          <a:stretch>
            <a:fillRect/>
          </a:stretch>
        </p:blipFill>
        <p:spPr>
          <a:xfrm>
            <a:off x="1376516" y="1415845"/>
            <a:ext cx="9202993" cy="4847303"/>
          </a:xfrm>
          <a:prstGeom prst="rect">
            <a:avLst/>
          </a:prstGeom>
        </p:spPr>
      </p:pic>
    </p:spTree>
    <p:extLst>
      <p:ext uri="{BB962C8B-B14F-4D97-AF65-F5344CB8AC3E}">
        <p14:creationId xmlns:p14="http://schemas.microsoft.com/office/powerpoint/2010/main" val="2711174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9EC7-C72C-429F-59C6-1CED408DA2CA}"/>
              </a:ext>
            </a:extLst>
          </p:cNvPr>
          <p:cNvSpPr>
            <a:spLocks noGrp="1"/>
          </p:cNvSpPr>
          <p:nvPr>
            <p:ph type="title"/>
          </p:nvPr>
        </p:nvSpPr>
        <p:spPr>
          <a:xfrm>
            <a:off x="1143000" y="361337"/>
            <a:ext cx="9906000" cy="695631"/>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endParaRPr lang="en-US" sz="3000" dirty="0"/>
          </a:p>
        </p:txBody>
      </p:sp>
      <p:pic>
        <p:nvPicPr>
          <p:cNvPr id="6" name="Picture 5" descr="A screenshot of a computer&#10;&#10;AI-generated content may be incorrect.">
            <a:extLst>
              <a:ext uri="{FF2B5EF4-FFF2-40B4-BE49-F238E27FC236}">
                <a16:creationId xmlns:a16="http://schemas.microsoft.com/office/drawing/2014/main" id="{67840789-F02A-76DB-1DE2-DC507E53E8F2}"/>
              </a:ext>
            </a:extLst>
          </p:cNvPr>
          <p:cNvPicPr>
            <a:picLocks noChangeAspect="1"/>
          </p:cNvPicPr>
          <p:nvPr/>
        </p:nvPicPr>
        <p:blipFill>
          <a:blip r:embed="rId2">
            <a:extLst>
              <a:ext uri="{28A0092B-C50C-407E-A947-70E740481C1C}">
                <a14:useLocalDpi xmlns:a14="http://schemas.microsoft.com/office/drawing/2010/main" val="0"/>
              </a:ext>
            </a:extLst>
          </a:blip>
          <a:srcRect t="24659" r="48145" b="10681"/>
          <a:stretch>
            <a:fillRect/>
          </a:stretch>
        </p:blipFill>
        <p:spPr>
          <a:xfrm>
            <a:off x="787036" y="1524001"/>
            <a:ext cx="10617928" cy="4208206"/>
          </a:xfrm>
          <a:prstGeom prst="rect">
            <a:avLst/>
          </a:prstGeom>
        </p:spPr>
      </p:pic>
    </p:spTree>
    <p:extLst>
      <p:ext uri="{BB962C8B-B14F-4D97-AF65-F5344CB8AC3E}">
        <p14:creationId xmlns:p14="http://schemas.microsoft.com/office/powerpoint/2010/main" val="804424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9E2D4-4DA7-6913-4DC0-6DD218A53897}"/>
              </a:ext>
            </a:extLst>
          </p:cNvPr>
          <p:cNvSpPr>
            <a:spLocks noGrp="1"/>
          </p:cNvSpPr>
          <p:nvPr>
            <p:ph type="title"/>
          </p:nvPr>
        </p:nvSpPr>
        <p:spPr>
          <a:xfrm>
            <a:off x="1143000" y="533401"/>
            <a:ext cx="9906000" cy="734960"/>
          </a:xfrm>
        </p:spPr>
        <p:txBody>
          <a:bodyPr>
            <a:normAutofit/>
          </a:bodyPr>
          <a:lstStyle/>
          <a:p>
            <a:r>
              <a:rPr lang="en-US" sz="3000" b="1" i="0" dirty="0">
                <a:latin typeface="Times New Roman" panose="02020603050405020304" pitchFamily="18" charset="0"/>
                <a:cs typeface="Times New Roman" panose="02020603050405020304" pitchFamily="18" charset="0"/>
              </a:rPr>
              <a:t>SPRINT BACKLOG-2</a:t>
            </a:r>
          </a:p>
        </p:txBody>
      </p:sp>
      <p:pic>
        <p:nvPicPr>
          <p:cNvPr id="4" name="Picture 3" descr="A computer screen shot of a computer&#10;&#10;AI-generated content may be incorrect.">
            <a:extLst>
              <a:ext uri="{FF2B5EF4-FFF2-40B4-BE49-F238E27FC236}">
                <a16:creationId xmlns:a16="http://schemas.microsoft.com/office/drawing/2014/main" id="{0F3E187D-B997-5C5E-82F9-DBDB1EF82AD6}"/>
              </a:ext>
            </a:extLst>
          </p:cNvPr>
          <p:cNvPicPr>
            <a:picLocks noChangeAspect="1"/>
          </p:cNvPicPr>
          <p:nvPr/>
        </p:nvPicPr>
        <p:blipFill>
          <a:blip r:embed="rId2">
            <a:extLst>
              <a:ext uri="{28A0092B-C50C-407E-A947-70E740481C1C}">
                <a14:useLocalDpi xmlns:a14="http://schemas.microsoft.com/office/drawing/2010/main" val="0"/>
              </a:ext>
            </a:extLst>
          </a:blip>
          <a:srcRect t="29104" b="42509"/>
          <a:stretch>
            <a:fillRect/>
          </a:stretch>
        </p:blipFill>
        <p:spPr>
          <a:xfrm>
            <a:off x="1302774" y="1759975"/>
            <a:ext cx="9906000" cy="3588773"/>
          </a:xfrm>
          <a:prstGeom prst="rect">
            <a:avLst/>
          </a:prstGeom>
        </p:spPr>
      </p:pic>
    </p:spTree>
    <p:extLst>
      <p:ext uri="{BB962C8B-B14F-4D97-AF65-F5344CB8AC3E}">
        <p14:creationId xmlns:p14="http://schemas.microsoft.com/office/powerpoint/2010/main" val="2809556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DA9A-46BD-DD41-4CD4-0867850E8976}"/>
              </a:ext>
            </a:extLst>
          </p:cNvPr>
          <p:cNvSpPr>
            <a:spLocks noGrp="1"/>
          </p:cNvSpPr>
          <p:nvPr>
            <p:ph type="title"/>
          </p:nvPr>
        </p:nvSpPr>
        <p:spPr>
          <a:xfrm>
            <a:off x="1143000" y="533401"/>
            <a:ext cx="9906000" cy="911941"/>
          </a:xfrm>
        </p:spPr>
        <p:txBody>
          <a:bodyPr>
            <a:normAutofit/>
          </a:bodyPr>
          <a:lstStyle/>
          <a:p>
            <a:r>
              <a:rPr lang="en-US" sz="3000" b="1" i="0" dirty="0">
                <a:latin typeface="Times New Roman" panose="02020603050405020304" pitchFamily="18" charset="0"/>
                <a:cs typeface="Times New Roman" panose="02020603050405020304" pitchFamily="18" charset="0"/>
              </a:rPr>
              <a:t>STORIES COMPLETED</a:t>
            </a:r>
          </a:p>
        </p:txBody>
      </p:sp>
      <p:pic>
        <p:nvPicPr>
          <p:cNvPr id="6" name="Picture 5" descr="A screenshot of a computer&#10;&#10;AI-generated content may be incorrect.">
            <a:extLst>
              <a:ext uri="{FF2B5EF4-FFF2-40B4-BE49-F238E27FC236}">
                <a16:creationId xmlns:a16="http://schemas.microsoft.com/office/drawing/2014/main" id="{01078FC6-4D46-C56B-D3D8-85C00BE4CE57}"/>
              </a:ext>
            </a:extLst>
          </p:cNvPr>
          <p:cNvPicPr>
            <a:picLocks noChangeAspect="1"/>
          </p:cNvPicPr>
          <p:nvPr/>
        </p:nvPicPr>
        <p:blipFill>
          <a:blip r:embed="rId2">
            <a:extLst>
              <a:ext uri="{28A0092B-C50C-407E-A947-70E740481C1C}">
                <a14:useLocalDpi xmlns:a14="http://schemas.microsoft.com/office/drawing/2010/main" val="0"/>
              </a:ext>
            </a:extLst>
          </a:blip>
          <a:srcRect t="29105" b="40645"/>
          <a:stretch>
            <a:fillRect/>
          </a:stretch>
        </p:blipFill>
        <p:spPr>
          <a:xfrm>
            <a:off x="786582" y="1769806"/>
            <a:ext cx="10736824" cy="4168877"/>
          </a:xfrm>
          <a:prstGeom prst="rect">
            <a:avLst/>
          </a:prstGeom>
        </p:spPr>
      </p:pic>
    </p:spTree>
    <p:extLst>
      <p:ext uri="{BB962C8B-B14F-4D97-AF65-F5344CB8AC3E}">
        <p14:creationId xmlns:p14="http://schemas.microsoft.com/office/powerpoint/2010/main" val="351918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052B717E-679E-41A4-B95A-8F7DFAD3F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3">
            <a:extLst>
              <a:ext uri="{FF2B5EF4-FFF2-40B4-BE49-F238E27FC236}">
                <a16:creationId xmlns:a16="http://schemas.microsoft.com/office/drawing/2014/main" id="{0B0EB278-F8C7-43AD-BCE2-A2F4D98C4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
            <a:ext cx="7960944" cy="6859759"/>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3837993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3837993 w 6125882"/>
              <a:gd name="connsiteY4" fmla="*/ 0 h 6857998"/>
              <a:gd name="connsiteX0" fmla="*/ 3244301 w 6125882"/>
              <a:gd name="connsiteY0" fmla="*/ 0 h 6868949"/>
              <a:gd name="connsiteX1" fmla="*/ 6125882 w 6125882"/>
              <a:gd name="connsiteY1" fmla="*/ 10951 h 6868949"/>
              <a:gd name="connsiteX2" fmla="*/ 6125882 w 6125882"/>
              <a:gd name="connsiteY2" fmla="*/ 6868949 h 6868949"/>
              <a:gd name="connsiteX3" fmla="*/ 0 w 6125882"/>
              <a:gd name="connsiteY3" fmla="*/ 6856996 h 6868949"/>
              <a:gd name="connsiteX4" fmla="*/ 3244301 w 6125882"/>
              <a:gd name="connsiteY4" fmla="*/ 0 h 6868949"/>
              <a:gd name="connsiteX0" fmla="*/ 3010169 w 6125882"/>
              <a:gd name="connsiteY0" fmla="*/ 0 h 6868949"/>
              <a:gd name="connsiteX1" fmla="*/ 6125882 w 6125882"/>
              <a:gd name="connsiteY1" fmla="*/ 10951 h 6868949"/>
              <a:gd name="connsiteX2" fmla="*/ 6125882 w 6125882"/>
              <a:gd name="connsiteY2" fmla="*/ 6868949 h 6868949"/>
              <a:gd name="connsiteX3" fmla="*/ 0 w 6125882"/>
              <a:gd name="connsiteY3" fmla="*/ 6856996 h 6868949"/>
              <a:gd name="connsiteX4" fmla="*/ 3010169 w 6125882"/>
              <a:gd name="connsiteY4" fmla="*/ 0 h 6868949"/>
              <a:gd name="connsiteX0" fmla="*/ 2951635 w 6067348"/>
              <a:gd name="connsiteY0" fmla="*/ 0 h 6868949"/>
              <a:gd name="connsiteX1" fmla="*/ 6067348 w 6067348"/>
              <a:gd name="connsiteY1" fmla="*/ 10951 h 6868949"/>
              <a:gd name="connsiteX2" fmla="*/ 6067348 w 6067348"/>
              <a:gd name="connsiteY2" fmla="*/ 6868949 h 6868949"/>
              <a:gd name="connsiteX3" fmla="*/ 0 w 6067348"/>
              <a:gd name="connsiteY3" fmla="*/ 6867946 h 6868949"/>
              <a:gd name="connsiteX4" fmla="*/ 2951635 w 6067348"/>
              <a:gd name="connsiteY4" fmla="*/ 0 h 6868949"/>
              <a:gd name="connsiteX0" fmla="*/ 2762929 w 6067348"/>
              <a:gd name="connsiteY0" fmla="*/ 0 h 6859759"/>
              <a:gd name="connsiteX1" fmla="*/ 6067348 w 6067348"/>
              <a:gd name="connsiteY1" fmla="*/ 1761 h 6859759"/>
              <a:gd name="connsiteX2" fmla="*/ 6067348 w 6067348"/>
              <a:gd name="connsiteY2" fmla="*/ 6859759 h 6859759"/>
              <a:gd name="connsiteX3" fmla="*/ 0 w 6067348"/>
              <a:gd name="connsiteY3" fmla="*/ 6858756 h 6859759"/>
              <a:gd name="connsiteX4" fmla="*/ 2762929 w 6067348"/>
              <a:gd name="connsiteY4" fmla="*/ 0 h 6859759"/>
              <a:gd name="connsiteX0" fmla="*/ 2675315 w 6067348"/>
              <a:gd name="connsiteY0" fmla="*/ 0 h 6859759"/>
              <a:gd name="connsiteX1" fmla="*/ 6067348 w 6067348"/>
              <a:gd name="connsiteY1" fmla="*/ 1761 h 6859759"/>
              <a:gd name="connsiteX2" fmla="*/ 6067348 w 6067348"/>
              <a:gd name="connsiteY2" fmla="*/ 6859759 h 6859759"/>
              <a:gd name="connsiteX3" fmla="*/ 0 w 6067348"/>
              <a:gd name="connsiteY3" fmla="*/ 6858756 h 6859759"/>
              <a:gd name="connsiteX4" fmla="*/ 2675315 w 6067348"/>
              <a:gd name="connsiteY4" fmla="*/ 0 h 6859759"/>
              <a:gd name="connsiteX0" fmla="*/ 2446171 w 5838204"/>
              <a:gd name="connsiteY0" fmla="*/ 0 h 6859759"/>
              <a:gd name="connsiteX1" fmla="*/ 5838204 w 5838204"/>
              <a:gd name="connsiteY1" fmla="*/ 1761 h 6859759"/>
              <a:gd name="connsiteX2" fmla="*/ 5838204 w 5838204"/>
              <a:gd name="connsiteY2" fmla="*/ 6859759 h 6859759"/>
              <a:gd name="connsiteX3" fmla="*/ 0 w 5838204"/>
              <a:gd name="connsiteY3" fmla="*/ 6858756 h 6859759"/>
              <a:gd name="connsiteX4" fmla="*/ 2446171 w 5838204"/>
              <a:gd name="connsiteY4" fmla="*/ 0 h 6859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8204" h="6859759">
                <a:moveTo>
                  <a:pt x="2446171" y="0"/>
                </a:moveTo>
                <a:lnTo>
                  <a:pt x="5838204" y="1761"/>
                </a:lnTo>
                <a:lnTo>
                  <a:pt x="5838204" y="6859759"/>
                </a:lnTo>
                <a:lnTo>
                  <a:pt x="0" y="6858756"/>
                </a:lnTo>
                <a:lnTo>
                  <a:pt x="2446171"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4FA094-F89B-C148-A1E4-E9A711EDB07D}"/>
              </a:ext>
            </a:extLst>
          </p:cNvPr>
          <p:cNvSpPr>
            <a:spLocks noGrp="1"/>
          </p:cNvSpPr>
          <p:nvPr>
            <p:ph type="title"/>
          </p:nvPr>
        </p:nvSpPr>
        <p:spPr>
          <a:xfrm>
            <a:off x="960350" y="541964"/>
            <a:ext cx="4768938" cy="3818667"/>
          </a:xfrm>
        </p:spPr>
        <p:txBody>
          <a:bodyPr vert="horz" lIns="91440" tIns="45720" rIns="91440" bIns="45720" rtlCol="0" anchor="b">
            <a:normAutofit/>
          </a:bodyPr>
          <a:lstStyle/>
          <a:p>
            <a:r>
              <a:rPr lang="en-US" sz="5000" b="1" i="0" dirty="0">
                <a:latin typeface="Times New Roman" panose="02020603050405020304" pitchFamily="18" charset="0"/>
                <a:cs typeface="Times New Roman" panose="02020603050405020304" pitchFamily="18" charset="0"/>
              </a:rPr>
              <a:t>METRICS- BURNTDOWN CHART</a:t>
            </a:r>
          </a:p>
        </p:txBody>
      </p:sp>
      <p:cxnSp>
        <p:nvCxnSpPr>
          <p:cNvPr id="27" name="Straight Connector 26">
            <a:extLst>
              <a:ext uri="{FF2B5EF4-FFF2-40B4-BE49-F238E27FC236}">
                <a16:creationId xmlns:a16="http://schemas.microsoft.com/office/drawing/2014/main" id="{50A7A0AD-25ED-4137-AA04-A0E36CAA8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1187" y="10631"/>
            <a:ext cx="876073" cy="68580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186F20B-6445-4368-B022-F9EABF15AE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307961" y="640726"/>
            <a:ext cx="2884039" cy="621727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9F97BBF-9EBF-4BEE-B39C-E6C666941D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4086" y="0"/>
            <a:ext cx="2757914" cy="14252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A graph of a graph showing a line&#10;&#10;AI-generated content may be incorrect.">
            <a:extLst>
              <a:ext uri="{FF2B5EF4-FFF2-40B4-BE49-F238E27FC236}">
                <a16:creationId xmlns:a16="http://schemas.microsoft.com/office/drawing/2014/main" id="{BD224F30-09C1-F009-E857-5B968DB55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65512"/>
            <a:ext cx="5562600" cy="3935539"/>
          </a:xfrm>
          <a:prstGeom prst="rect">
            <a:avLst/>
          </a:prstGeom>
        </p:spPr>
      </p:pic>
    </p:spTree>
    <p:extLst>
      <p:ext uri="{BB962C8B-B14F-4D97-AF65-F5344CB8AC3E}">
        <p14:creationId xmlns:p14="http://schemas.microsoft.com/office/powerpoint/2010/main" val="112986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6ED62-0E69-EC0A-14AA-329BD89E2994}"/>
              </a:ext>
            </a:extLst>
          </p:cNvPr>
          <p:cNvSpPr>
            <a:spLocks noGrp="1"/>
          </p:cNvSpPr>
          <p:nvPr>
            <p:ph type="title"/>
          </p:nvPr>
        </p:nvSpPr>
        <p:spPr>
          <a:xfrm>
            <a:off x="1143000" y="533401"/>
            <a:ext cx="9906000" cy="636638"/>
          </a:xfrm>
        </p:spPr>
        <p:txBody>
          <a:bodyPr>
            <a:normAutofit/>
          </a:bodyPr>
          <a:lstStyle/>
          <a:p>
            <a:r>
              <a:rPr lang="en-US" sz="3000" b="1" i="0" dirty="0">
                <a:latin typeface="Times New Roman" panose="02020603050405020304" pitchFamily="18" charset="0"/>
                <a:cs typeface="Times New Roman" panose="02020603050405020304" pitchFamily="18" charset="0"/>
              </a:rPr>
              <a:t>RETROSPECTIVE</a:t>
            </a:r>
          </a:p>
        </p:txBody>
      </p:sp>
      <p:sp>
        <p:nvSpPr>
          <p:cNvPr id="3" name="TextBox 2">
            <a:extLst>
              <a:ext uri="{FF2B5EF4-FFF2-40B4-BE49-F238E27FC236}">
                <a16:creationId xmlns:a16="http://schemas.microsoft.com/office/drawing/2014/main" id="{089FDFDC-3007-C1E7-9473-A187AC148BB2}"/>
              </a:ext>
            </a:extLst>
          </p:cNvPr>
          <p:cNvSpPr txBox="1"/>
          <p:nvPr/>
        </p:nvSpPr>
        <p:spPr>
          <a:xfrm>
            <a:off x="1143000" y="1170039"/>
            <a:ext cx="8809811" cy="50783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What Went Well</a:t>
            </a:r>
          </a:p>
          <a:p>
            <a:r>
              <a:rPr lang="en-US" dirty="0">
                <a:latin typeface="Times New Roman" panose="02020603050405020304" pitchFamily="18" charset="0"/>
                <a:cs typeface="Times New Roman" panose="02020603050405020304" pitchFamily="18" charset="0"/>
              </a:rPr>
              <a:t>During Sprint 0–1, our team successfully developed the core components of the Agent Evaluation Lab, including the scenario evaluation framework, OpenAI and HTTP agent adapters, and automated report generation. The team collaborated effectively and delivered a functional MVP capable of evaluating AI agents using predefined scenarios.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Needs Improvement</a:t>
            </a:r>
          </a:p>
          <a:p>
            <a:r>
              <a:rPr lang="en-US" dirty="0">
                <a:latin typeface="Times New Roman" panose="02020603050405020304" pitchFamily="18" charset="0"/>
                <a:cs typeface="Times New Roman" panose="02020603050405020304" pitchFamily="18" charset="0"/>
              </a:rPr>
              <a:t>The current system needs more evaluation scenarios to improve testing coverage. We plan to add additional jailbreak, prompt injection, hallucination detection, and RAG reliability scenarios to better evaluate AI safety and reliability.</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Next Steps</a:t>
            </a:r>
          </a:p>
          <a:p>
            <a:r>
              <a:rPr lang="en-US" dirty="0">
                <a:latin typeface="Times New Roman" panose="02020603050405020304" pitchFamily="18" charset="0"/>
                <a:cs typeface="Times New Roman" panose="02020603050405020304" pitchFamily="18" charset="0"/>
              </a:rPr>
              <a:t>In the next sprint, we will expand the scenario library and implement dynamic scenario support, allowing new scenarios to be added easily without modifying the core system. We also plan to further improve reporting and CI/CD automation.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627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569A6-26F4-46C4-BD43-5725228691E2}"/>
              </a:ext>
            </a:extLst>
          </p:cNvPr>
          <p:cNvSpPr>
            <a:spLocks noGrp="1"/>
          </p:cNvSpPr>
          <p:nvPr>
            <p:ph type="title"/>
          </p:nvPr>
        </p:nvSpPr>
        <p:spPr>
          <a:xfrm>
            <a:off x="1015488" y="533400"/>
            <a:ext cx="4493885" cy="3614271"/>
          </a:xfrm>
        </p:spPr>
        <p:txBody>
          <a:bodyPr vert="horz" lIns="91440" tIns="45720" rIns="91440" bIns="45720" rtlCol="0" anchor="b">
            <a:normAutofit/>
          </a:bodyPr>
          <a:lstStyle/>
          <a:p>
            <a:r>
              <a:rPr lang="en-US" sz="5400" b="1" i="0" dirty="0">
                <a:latin typeface="Times New Roman" panose="02020603050405020304" pitchFamily="18" charset="0"/>
                <a:cs typeface="Times New Roman" panose="02020603050405020304" pitchFamily="18" charset="0"/>
              </a:rPr>
              <a:t>Project Demo</a:t>
            </a:r>
          </a:p>
        </p:txBody>
      </p:sp>
      <p:cxnSp>
        <p:nvCxnSpPr>
          <p:cNvPr id="24" name="Straight Connector 23">
            <a:extLst>
              <a:ext uri="{FF2B5EF4-FFF2-40B4-BE49-F238E27FC236}">
                <a16:creationId xmlns:a16="http://schemas.microsoft.com/office/drawing/2014/main" id="{B42E889C-BF1F-40B2-86C2-92153DB7E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8034" y="0"/>
            <a:ext cx="6553966" cy="354261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851108" y="4783369"/>
            <a:ext cx="5340893" cy="207463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021640" y="0"/>
            <a:ext cx="126817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0FD00ED-3548-9149-B259-6685892CC0FA}"/>
              </a:ext>
            </a:extLst>
          </p:cNvPr>
          <p:cNvPicPr>
            <a:picLocks noChangeAspect="1"/>
          </p:cNvPicPr>
          <p:nvPr/>
        </p:nvPicPr>
        <p:blipFill>
          <a:blip r:embed="rId2"/>
          <a:srcRect l="17076" r="16094"/>
          <a:stretch>
            <a:fillRect/>
          </a:stretch>
        </p:blipFill>
        <p:spPr>
          <a:xfrm>
            <a:off x="5856516" y="1063194"/>
            <a:ext cx="5802084" cy="4731612"/>
          </a:xfrm>
          <a:prstGeom prst="rect">
            <a:avLst/>
          </a:prstGeom>
        </p:spPr>
      </p:pic>
    </p:spTree>
    <p:extLst>
      <p:ext uri="{BB962C8B-B14F-4D97-AF65-F5344CB8AC3E}">
        <p14:creationId xmlns:p14="http://schemas.microsoft.com/office/powerpoint/2010/main" val="322506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FCCC46-C5F7-AC16-A6CB-8D1001D65231}"/>
              </a:ext>
            </a:extLst>
          </p:cNvPr>
          <p:cNvPicPr>
            <a:picLocks noChangeAspect="1"/>
          </p:cNvPicPr>
          <p:nvPr/>
        </p:nvPicPr>
        <p:blipFill>
          <a:blip r:embed="rId2"/>
          <a:stretch>
            <a:fillRect/>
          </a:stretch>
        </p:blipFill>
        <p:spPr>
          <a:xfrm>
            <a:off x="656899" y="491613"/>
            <a:ext cx="10138920" cy="5519374"/>
          </a:xfrm>
          <a:prstGeom prst="rect">
            <a:avLst/>
          </a:prstGeom>
        </p:spPr>
      </p:pic>
    </p:spTree>
    <p:extLst>
      <p:ext uri="{BB962C8B-B14F-4D97-AF65-F5344CB8AC3E}">
        <p14:creationId xmlns:p14="http://schemas.microsoft.com/office/powerpoint/2010/main" val="2151845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241663-9008-85A0-AFD6-BF884883205C}"/>
              </a:ext>
            </a:extLst>
          </p:cNvPr>
          <p:cNvPicPr>
            <a:picLocks noChangeAspect="1"/>
          </p:cNvPicPr>
          <p:nvPr/>
        </p:nvPicPr>
        <p:blipFill>
          <a:blip r:embed="rId2"/>
          <a:srcRect l="17857" r="22768" b="30753"/>
          <a:stretch>
            <a:fillRect/>
          </a:stretch>
        </p:blipFill>
        <p:spPr>
          <a:xfrm>
            <a:off x="245806" y="88490"/>
            <a:ext cx="11710220" cy="6563507"/>
          </a:xfrm>
          <a:prstGeom prst="rect">
            <a:avLst/>
          </a:prstGeom>
        </p:spPr>
      </p:pic>
    </p:spTree>
    <p:extLst>
      <p:ext uri="{BB962C8B-B14F-4D97-AF65-F5344CB8AC3E}">
        <p14:creationId xmlns:p14="http://schemas.microsoft.com/office/powerpoint/2010/main" val="2574826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7DF4FD-852A-99FC-A7E7-41818B461272}"/>
              </a:ext>
            </a:extLst>
          </p:cNvPr>
          <p:cNvPicPr>
            <a:picLocks noChangeAspect="1"/>
          </p:cNvPicPr>
          <p:nvPr/>
        </p:nvPicPr>
        <p:blipFill>
          <a:blip r:embed="rId2"/>
          <a:stretch>
            <a:fillRect/>
          </a:stretch>
        </p:blipFill>
        <p:spPr>
          <a:xfrm>
            <a:off x="0" y="0"/>
            <a:ext cx="12192000" cy="6637020"/>
          </a:xfrm>
          <a:prstGeom prst="rect">
            <a:avLst/>
          </a:prstGeom>
        </p:spPr>
      </p:pic>
    </p:spTree>
    <p:extLst>
      <p:ext uri="{BB962C8B-B14F-4D97-AF65-F5344CB8AC3E}">
        <p14:creationId xmlns:p14="http://schemas.microsoft.com/office/powerpoint/2010/main" val="2525319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F9BC-9C47-57F1-4113-F73A1857CF71}"/>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13093107-01F7-7E80-2CD6-F433A1BA4283}"/>
              </a:ext>
            </a:extLst>
          </p:cNvPr>
          <p:cNvPicPr>
            <a:picLocks noChangeAspect="1"/>
          </p:cNvPicPr>
          <p:nvPr/>
        </p:nvPicPr>
        <p:blipFill>
          <a:blip r:embed="rId2"/>
          <a:stretch>
            <a:fillRect/>
          </a:stretch>
        </p:blipFill>
        <p:spPr>
          <a:xfrm>
            <a:off x="0" y="110490"/>
            <a:ext cx="12192000" cy="6637020"/>
          </a:xfrm>
          <a:prstGeom prst="rect">
            <a:avLst/>
          </a:prstGeom>
        </p:spPr>
      </p:pic>
    </p:spTree>
    <p:extLst>
      <p:ext uri="{BB962C8B-B14F-4D97-AF65-F5344CB8AC3E}">
        <p14:creationId xmlns:p14="http://schemas.microsoft.com/office/powerpoint/2010/main" val="1369052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42" name="Rectangle 41">
            <a:extLst>
              <a:ext uri="{FF2B5EF4-FFF2-40B4-BE49-F238E27FC236}">
                <a16:creationId xmlns:a16="http://schemas.microsoft.com/office/drawing/2014/main" id="{BE9D3906-2326-41A8-81ED-03D3A38FB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A98FDB75-8534-4735-AF49-9D2EAF7D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C4EF532-641A-4CC5-A071-83BEEC207A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8502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190A57-9930-CC5E-B94B-ADDE1012E38F}"/>
              </a:ext>
            </a:extLst>
          </p:cNvPr>
          <p:cNvSpPr>
            <a:spLocks noGrp="1"/>
          </p:cNvSpPr>
          <p:nvPr>
            <p:ph type="title"/>
          </p:nvPr>
        </p:nvSpPr>
        <p:spPr>
          <a:xfrm>
            <a:off x="2146005" y="1004776"/>
            <a:ext cx="7899991" cy="3372865"/>
          </a:xfrm>
        </p:spPr>
        <p:txBody>
          <a:bodyPr vert="horz" lIns="91440" tIns="45720" rIns="91440" bIns="45720" rtlCol="0" anchor="ctr">
            <a:normAutofit/>
          </a:bodyPr>
          <a:lstStyle/>
          <a:p>
            <a:pPr algn="ctr"/>
            <a:r>
              <a:rPr lang="en-US" sz="3000" b="1" i="0" dirty="0">
                <a:latin typeface="Times New Roman" panose="02020603050405020304" pitchFamily="18" charset="0"/>
                <a:cs typeface="Times New Roman" panose="02020603050405020304" pitchFamily="18" charset="0"/>
              </a:rPr>
              <a:t>GITHUB LINK</a:t>
            </a:r>
          </a:p>
        </p:txBody>
      </p:sp>
      <p:sp>
        <p:nvSpPr>
          <p:cNvPr id="3" name="Text Placeholder 2">
            <a:extLst>
              <a:ext uri="{FF2B5EF4-FFF2-40B4-BE49-F238E27FC236}">
                <a16:creationId xmlns:a16="http://schemas.microsoft.com/office/drawing/2014/main" id="{0EFCD995-8FB5-03A4-D2AB-970DFE605942}"/>
              </a:ext>
            </a:extLst>
          </p:cNvPr>
          <p:cNvSpPr>
            <a:spLocks noGrp="1"/>
          </p:cNvSpPr>
          <p:nvPr>
            <p:ph type="body" idx="1"/>
          </p:nvPr>
        </p:nvSpPr>
        <p:spPr>
          <a:xfrm>
            <a:off x="2716619" y="5286860"/>
            <a:ext cx="6767742" cy="1018021"/>
          </a:xfrm>
        </p:spPr>
        <p:txBody>
          <a:bodyPr vert="horz" lIns="91440" tIns="45720" rIns="91440" bIns="45720" rtlCol="0" anchor="ctr">
            <a:normAutofit/>
          </a:bodyPr>
          <a:lstStyle/>
          <a:p>
            <a:pPr algn="ctr">
              <a:lnSpc>
                <a:spcPct val="120000"/>
              </a:lnSpc>
            </a:pPr>
            <a:r>
              <a:rPr lang="en-US" sz="1800" b="1" cap="all" spc="300">
                <a:solidFill>
                  <a:schemeClr val="tx2"/>
                </a:solidFill>
                <a:hlinkClick r:id="rId2"/>
              </a:rPr>
              <a:t>https://github.com/tejakusireddy/agent-eval-lab</a:t>
            </a:r>
            <a:endParaRPr lang="en-US" sz="1800" b="1" cap="all" spc="300">
              <a:solidFill>
                <a:schemeClr val="tx2"/>
              </a:solidFill>
            </a:endParaRPr>
          </a:p>
          <a:p>
            <a:pPr algn="ctr">
              <a:lnSpc>
                <a:spcPct val="120000"/>
              </a:lnSpc>
            </a:pPr>
            <a:endParaRPr lang="en-US" sz="1800" b="1" cap="all" spc="300">
              <a:solidFill>
                <a:schemeClr val="tx2"/>
              </a:solidFill>
            </a:endParaRPr>
          </a:p>
        </p:txBody>
      </p:sp>
      <p:cxnSp>
        <p:nvCxnSpPr>
          <p:cNvPr id="45" name="Straight Connector 44">
            <a:extLst>
              <a:ext uri="{FF2B5EF4-FFF2-40B4-BE49-F238E27FC236}">
                <a16:creationId xmlns:a16="http://schemas.microsoft.com/office/drawing/2014/main" id="{13280B82-CD55-43FD-92C4-F05E2A8D1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38725"/>
            <a:ext cx="7548282" cy="17962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0A4F542-D561-4AFB-8321-EB900BAF0A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1050158"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D9248B-0006-4BFE-8110-40C16E45C0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1715" y="2788404"/>
            <a:ext cx="2788334" cy="203944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C10EA2-1BD8-4267-AA7D-AB8CCA53C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3429000"/>
            <a:ext cx="4854899" cy="1421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B04B14B-9533-46E5-A48D-58ECB1B40B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213112" y="0"/>
            <a:ext cx="2978888"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521483B-CE28-412B-9C71-9BE081E9DC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640572" y="0"/>
            <a:ext cx="6551428" cy="10047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027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ED61EC8C-9F54-4671-8E82-4AE6101D6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177768" y="0"/>
            <a:ext cx="5014232" cy="6868738"/>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2713264 w 4584879"/>
              <a:gd name="connsiteY2" fmla="*/ 6863976 h 6863976"/>
              <a:gd name="connsiteX3" fmla="*/ 0 w 4584879"/>
              <a:gd name="connsiteY3" fmla="*/ 6863976 h 6863976"/>
              <a:gd name="connsiteX4" fmla="*/ 0 w 4584879"/>
              <a:gd name="connsiteY4" fmla="*/ 0 h 6863976"/>
              <a:gd name="connsiteX0" fmla="*/ 0 w 4408998"/>
              <a:gd name="connsiteY0" fmla="*/ 4762 h 6868738"/>
              <a:gd name="connsiteX1" fmla="*/ 4408998 w 4408998"/>
              <a:gd name="connsiteY1" fmla="*/ 0 h 6868738"/>
              <a:gd name="connsiteX2" fmla="*/ 2713264 w 4408998"/>
              <a:gd name="connsiteY2" fmla="*/ 6868738 h 6868738"/>
              <a:gd name="connsiteX3" fmla="*/ 0 w 4408998"/>
              <a:gd name="connsiteY3" fmla="*/ 6868738 h 6868738"/>
              <a:gd name="connsiteX4" fmla="*/ 0 w 4408998"/>
              <a:gd name="connsiteY4" fmla="*/ 4762 h 6868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998" h="6868738">
                <a:moveTo>
                  <a:pt x="0" y="4762"/>
                </a:moveTo>
                <a:lnTo>
                  <a:pt x="4408998" y="0"/>
                </a:lnTo>
                <a:lnTo>
                  <a:pt x="2713264" y="6868738"/>
                </a:lnTo>
                <a:lnTo>
                  <a:pt x="0" y="6868738"/>
                </a:lnTo>
                <a:lnTo>
                  <a:pt x="0" y="476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3EDA8C-C967-AAD9-B603-C8F5EECE2771}"/>
              </a:ext>
            </a:extLst>
          </p:cNvPr>
          <p:cNvSpPr>
            <a:spLocks noGrp="1"/>
          </p:cNvSpPr>
          <p:nvPr>
            <p:ph type="title"/>
          </p:nvPr>
        </p:nvSpPr>
        <p:spPr>
          <a:xfrm>
            <a:off x="7462684" y="3109913"/>
            <a:ext cx="4034994" cy="3076576"/>
          </a:xfrm>
        </p:spPr>
        <p:txBody>
          <a:bodyPr vert="horz" lIns="91440" tIns="45720" rIns="91440" bIns="45720" rtlCol="0" anchor="b">
            <a:normAutofit/>
          </a:bodyPr>
          <a:lstStyle/>
          <a:p>
            <a:pPr algn="r"/>
            <a:r>
              <a:rPr lang="en-US" sz="4100" b="1" i="0" dirty="0">
                <a:latin typeface="Times New Roman" panose="02020603050405020304" pitchFamily="18" charset="0"/>
                <a:cs typeface="Times New Roman" panose="02020603050405020304" pitchFamily="18" charset="0"/>
              </a:rPr>
              <a:t>LIVE APPLICATION DEMO</a:t>
            </a:r>
          </a:p>
        </p:txBody>
      </p:sp>
      <p:pic>
        <p:nvPicPr>
          <p:cNvPr id="5" name="Picture 4">
            <a:extLst>
              <a:ext uri="{FF2B5EF4-FFF2-40B4-BE49-F238E27FC236}">
                <a16:creationId xmlns:a16="http://schemas.microsoft.com/office/drawing/2014/main" id="{702774B7-DC03-6BB4-5F28-13B4CF61F228}"/>
              </a:ext>
            </a:extLst>
          </p:cNvPr>
          <p:cNvPicPr>
            <a:picLocks noChangeAspect="1"/>
          </p:cNvPicPr>
          <p:nvPr/>
        </p:nvPicPr>
        <p:blipFill>
          <a:blip r:embed="rId2"/>
          <a:srcRect l="14727" r="13134"/>
          <a:stretch>
            <a:fillRect/>
          </a:stretch>
        </p:blipFill>
        <p:spPr>
          <a:xfrm>
            <a:off x="533400" y="938388"/>
            <a:ext cx="6593401" cy="4981223"/>
          </a:xfrm>
          <a:prstGeom prst="rect">
            <a:avLst/>
          </a:prstGeom>
        </p:spPr>
      </p:pic>
      <p:cxnSp>
        <p:nvCxnSpPr>
          <p:cNvPr id="28" name="Straight Connector 27">
            <a:extLst>
              <a:ext uri="{FF2B5EF4-FFF2-40B4-BE49-F238E27FC236}">
                <a16:creationId xmlns:a16="http://schemas.microsoft.com/office/drawing/2014/main" id="{3A5D40F5-A8C4-4952-BCA6-4D0D14F8BF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58751" y="0"/>
            <a:ext cx="532263"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443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8" name="Straight Connector 6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82" name="Rectangle 81">
            <a:extLst>
              <a:ext uri="{FF2B5EF4-FFF2-40B4-BE49-F238E27FC236}">
                <a16:creationId xmlns:a16="http://schemas.microsoft.com/office/drawing/2014/main" id="{3FA49195-69EB-4E39-A68A-C232E2D03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BAC361-0D7A-DC05-86B5-6DD77D322F5B}"/>
              </a:ext>
            </a:extLst>
          </p:cNvPr>
          <p:cNvSpPr>
            <a:spLocks noGrp="1"/>
          </p:cNvSpPr>
          <p:nvPr>
            <p:ph type="title" idx="4294967295"/>
          </p:nvPr>
        </p:nvSpPr>
        <p:spPr>
          <a:xfrm>
            <a:off x="1954306" y="2732795"/>
            <a:ext cx="7889838" cy="2580139"/>
          </a:xfrm>
        </p:spPr>
        <p:txBody>
          <a:bodyPr vert="horz" lIns="91440" tIns="45720" rIns="91440" bIns="45720" rtlCol="0" anchor="t">
            <a:normAutofit/>
          </a:bodyPr>
          <a:lstStyle/>
          <a:p>
            <a:pPr algn="ctr"/>
            <a:r>
              <a:rPr lang="en-US" sz="6600" b="1" i="0" dirty="0">
                <a:latin typeface="Times New Roman" panose="02020603050405020304" pitchFamily="18" charset="0"/>
                <a:cs typeface="Times New Roman" panose="02020603050405020304" pitchFamily="18" charset="0"/>
              </a:rPr>
              <a:t>THANK YOU</a:t>
            </a:r>
          </a:p>
        </p:txBody>
      </p:sp>
      <p:cxnSp>
        <p:nvCxnSpPr>
          <p:cNvPr id="84" name="Straight Connector 83">
            <a:extLst>
              <a:ext uri="{FF2B5EF4-FFF2-40B4-BE49-F238E27FC236}">
                <a16:creationId xmlns:a16="http://schemas.microsoft.com/office/drawing/2014/main" id="{13280B82-CD55-43FD-92C4-F05E2A8D1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9882" y="0"/>
            <a:ext cx="4318598" cy="13371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4D9248B-0006-4BFE-8110-40C16E45C0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87595" y="0"/>
            <a:ext cx="1466711" cy="685800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4C10EA2-1BD8-4267-AA7D-AB8CCA53C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482080" y="4171575"/>
            <a:ext cx="5739800" cy="268642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E593BB5-7AFA-4C8F-AECA-CE733B1FD0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296432" y="1116305"/>
            <a:ext cx="1895568" cy="57416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521483B-CE28-412B-9C71-9BE081E9DC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78150" y="4219"/>
            <a:ext cx="3227294" cy="30814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BD75F78-4912-4FB5-834D-1817BF0A26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4056" y="4619"/>
            <a:ext cx="2771388" cy="77388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C9F4738-DD27-44BE-98C6-AB0B2296B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29880" y="5342966"/>
            <a:ext cx="8964704" cy="151503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283731-47E9-4F14-86D1-57C1EA2672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4D4B218-C04B-41F5-949D-06E9DAE96B0A}">
  <ds:schemaRefs>
    <ds:schemaRef ds:uri="http://schemas.microsoft.com/sharepoint/v3/contenttype/forms"/>
  </ds:schemaRefs>
</ds:datastoreItem>
</file>

<file path=customXml/itemProps3.xml><?xml version="1.0" encoding="utf-8"?>
<ds:datastoreItem xmlns:ds="http://schemas.openxmlformats.org/officeDocument/2006/customXml" ds:itemID="{81846AD4-435D-4592-8088-FE2831A30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AngleLinesVTI</Template>
  <TotalTime>20709</TotalTime>
  <Words>1161</Words>
  <Application>Microsoft Office PowerPoint</Application>
  <PresentationFormat>Widescreen</PresentationFormat>
  <Paragraphs>108</Paragraphs>
  <Slides>30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Aptos Display</vt:lpstr>
      <vt:lpstr>Arial</vt:lpstr>
      <vt:lpstr>Calibri</vt:lpstr>
      <vt:lpstr>Times New Roman</vt:lpstr>
      <vt:lpstr>Univers Condensed Light</vt:lpstr>
      <vt:lpstr>Walbaum Display Light</vt:lpstr>
      <vt:lpstr>AngleLinesVTI</vt:lpstr>
      <vt:lpstr>Agent Evaluation Lab</vt:lpstr>
      <vt:lpstr>   AGENDA     </vt:lpstr>
      <vt:lpstr>AGENDA</vt:lpstr>
      <vt:lpstr>IMPROVEMENTS MADE FROM PROFESSOR'S FEEDBACK</vt:lpstr>
      <vt:lpstr>Problem Statement</vt:lpstr>
      <vt:lpstr>Project Description</vt:lpstr>
      <vt:lpstr>Personas</vt:lpstr>
      <vt:lpstr>PowerPoint Presentation</vt:lpstr>
      <vt:lpstr>PowerPoint Presentation</vt:lpstr>
      <vt:lpstr>MINIMAL VIABLE PRODUCT (MVP)</vt:lpstr>
      <vt:lpstr>PowerPoint Presentation</vt:lpstr>
      <vt:lpstr>Technologies</vt:lpstr>
      <vt:lpstr>SYSTEM ARCHITECTURE</vt:lpstr>
      <vt:lpstr>SEQUENCE DIAGRAM</vt:lpstr>
      <vt:lpstr>PRODUCT BACKLOG</vt:lpstr>
      <vt:lpstr>ACCEPTANCE CRITERIA &amp; USER STORIES </vt:lpstr>
      <vt:lpstr>ACCEPTANCE CRITERIA &amp; USER STORIES </vt:lpstr>
      <vt:lpstr>ACCEPTANCE CRITERIA &amp; USER STORIES </vt:lpstr>
      <vt:lpstr>SPRINT BACKLOG-2</vt:lpstr>
      <vt:lpstr>STORIES COMPLETED</vt:lpstr>
      <vt:lpstr>METRICS- BURNTDOWN CHART</vt:lpstr>
      <vt:lpstr>RETROSPECTIVE</vt:lpstr>
      <vt:lpstr>Project Demo</vt:lpstr>
      <vt:lpstr>PowerPoint Presentation</vt:lpstr>
      <vt:lpstr>PowerPoint Presentation</vt:lpstr>
      <vt:lpstr>PowerPoint Presentation</vt:lpstr>
      <vt:lpstr>PowerPoint Presentation</vt:lpstr>
      <vt:lpstr>GITHUB LINK</vt:lpstr>
      <vt:lpstr>LIVE APPLICATION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Rayapuraju, Sreenitha</cp:lastModifiedBy>
  <cp:revision>262</cp:revision>
  <dcterms:created xsi:type="dcterms:W3CDTF">2026-02-18T03:33:30Z</dcterms:created>
  <dcterms:modified xsi:type="dcterms:W3CDTF">2026-03-05T01:02:22Z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